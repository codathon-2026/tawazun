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020" autoAdjust="0"/>
  </p:normalViewPr>
  <p:slideViewPr>
    <p:cSldViewPr snapToGrid="0">
      <p:cViewPr varScale="1">
        <p:scale>
          <a:sx n="54" d="100"/>
          <a:sy n="54" d="100"/>
        </p:scale>
        <p:origin x="112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Tawazun (توازن) means balance. The concept pairs media literacy with emotional self-awareness.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UN in Libya, “UN in Libya expresses concern over the spread of misinformation and inflammatory rhetoric,” 1 June 2026. https://libya.un.org/en/316507-un-libya-expresses-concern-over-spread-misinformation-and-inflammatory-rhetoric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DataReportal, Digital 2026: Libya. Data points are from October 2025 / late 2025 and were published in November 2025. It estimates 6.62 million internet users and 88.5% internet penetration. The report separately estimates 6.70 million social media user identities, but warns these may not represent unique individuals. https://datareportal.com/reports/digital-2026-libya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EMRO reports that no official national data exist on prevalence of mental-health conditions in Libya. WHO cites an approximately 22.1% estimate for conflict-affected populations such as Libya at a given time. This is contextual, not a Libya-specific prevalence study. Source: WHO EMRO, Mental health and psychosocial support, https://applications.emro.who.int/docs/9789292741716-eng.pdf. WHO also notes that public mental-health research is limited in Libya: https://www.who.int/about/accountability/results/who-results-report-2024-2025/region-EMRO/2024/libya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 promise is reflective and educational. AI should explain signals and possible techniques, not issue a definitive truth verdict or diagnose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user journey for the complete platform. Example claim is fictional. The analyzer flags language and source cues, it does not make a definitive truth judgment. Mood tracking is opt-in. The story companion and practice simulator are product modules that users can choose when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platform has exactly seven product features, numbered 01 to 07. Local review is a cross-cutting design principle, not an eighth feature. The story companion should use locally reviewed stories and Libyan Arabic prompts. Source checking should present evidence and uncertainty rather than claim perfect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safety principles: explain observable textual signals; avoid a false precision score; clearly label uncertainty; do not diagnose or offer treatment; minimize retention of sensitive user content; review Arabic and Libyan dialect outputs with local users and experts.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describes the integrated product concept, not a claim of measured effectiveness. The user controls what they share, whether they use mood history, and which support option they choose.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Recommended starting architecture for the complete platform. </a:t>
            </a:r>
            <a:r>
              <a:rPr dirty="0"/>
              <a:t>A single modular API contains all seven product features. Select one Arabic-capable model and one cloud provider at the outset. Additional infrastructure such as Redis, vector search, WhatsApp, multi-model routing, or fine-tuning is optional and should follow a demonstrated need. Privacy and security controls apply across every layer.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pitch asks for support to develop Tawazun as a complete integrated platform, with Libyan users and relevant local reviewers involved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dates and caveats shown with each source. DataReportal cautions that social media user identities do not necessarily equal unique people. WHO’s 22.1% estimate is for conflict-affected populations and should not be presented as a national Libya prevalence measurement.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2E"/>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A8C1D1-A7A8-409E-AAF7-30B23CA9E217}"/>
              </a:ext>
            </a:extLst>
          </p:cNvPr>
          <p:cNvSpPr>
            <a:spLocks noGrp="1"/>
          </p:cNvSpPr>
          <p:nvPr/>
        </p:nvSpPr>
        <p:spPr>
          <a:xfrm>
            <a:off x="0" y="0"/>
            <a:ext cx="171450" cy="6858000"/>
          </a:xfrm>
          <a:prstGeom prst="rect">
            <a:avLst/>
          </a:prstGeom>
          <a:solidFill>
            <a:srgbClr val="C75A4A"/>
          </a:solidFill>
          <a:ln w="0">
            <a:noFill/>
          </a:ln>
        </p:spPr>
        <p:txBody>
          <a:bodyPr/>
          <a:lstStyle/>
          <a:p>
            <a:endParaRPr lang="ar-LY"/>
          </a:p>
        </p:txBody>
      </p:sp>
      <p:sp>
        <p:nvSpPr>
          <p:cNvPr id="2" name="Rectangle 1">
            <a:extLst>
              <a:ext uri="{FF2B5EF4-FFF2-40B4-BE49-F238E27FC236}">
                <a16:creationId xmlns:a16="http://schemas.microsoft.com/office/drawing/2014/main" id="{5E152229-B43F-447C-A530-05EA0A2A5F7F}"/>
              </a:ext>
            </a:extLst>
          </p:cNvPr>
          <p:cNvSpPr>
            <a:spLocks noGrp="1"/>
          </p:cNvSpPr>
          <p:nvPr/>
        </p:nvSpPr>
        <p:spPr>
          <a:xfrm>
            <a:off x="742950" y="1047750"/>
            <a:ext cx="9525000" cy="952500"/>
          </a:xfrm>
          <a:prstGeom prst="rect">
            <a:avLst/>
          </a:prstGeom>
          <a:noFill/>
          <a:ln w="0">
            <a:noFill/>
          </a:ln>
        </p:spPr>
        <p:txBody>
          <a:bodyPr anchor="ctr">
            <a:normAutofit fontScale="99123"/>
          </a:bodyPr>
          <a:lstStyle/>
          <a:p>
            <a:pPr algn="l">
              <a:defRPr sz="5700" b="1" i="0">
                <a:solidFill>
                  <a:srgbClr val="FFFFFF"/>
                </a:solidFill>
                <a:latin typeface="Arial"/>
                <a:ea typeface="Arial"/>
                <a:cs typeface="Arial"/>
              </a:defRPr>
            </a:pPr>
            <a:r>
              <a:rPr sz="5700" b="1" i="0">
                <a:solidFill>
                  <a:srgbClr val="FFFFFF"/>
                </a:solidFill>
                <a:latin typeface="Arial"/>
                <a:ea typeface="Arial"/>
                <a:cs typeface="Arial"/>
              </a:rPr>
              <a:t>Tawazun</a:t>
            </a:r>
          </a:p>
        </p:txBody>
      </p:sp>
      <p:sp>
        <p:nvSpPr>
          <p:cNvPr id="3" name="Rectangle 2">
            <a:extLst>
              <a:ext uri="{FF2B5EF4-FFF2-40B4-BE49-F238E27FC236}">
                <a16:creationId xmlns:a16="http://schemas.microsoft.com/office/drawing/2014/main" id="{6E61753F-27A8-42B2-A025-CC7BA54D66D3}"/>
              </a:ext>
            </a:extLst>
          </p:cNvPr>
          <p:cNvSpPr>
            <a:spLocks noGrp="1"/>
          </p:cNvSpPr>
          <p:nvPr/>
        </p:nvSpPr>
        <p:spPr>
          <a:xfrm>
            <a:off x="781050" y="1952625"/>
            <a:ext cx="5715000" cy="457200"/>
          </a:xfrm>
          <a:prstGeom prst="rect">
            <a:avLst/>
          </a:prstGeom>
          <a:noFill/>
          <a:ln w="0">
            <a:noFill/>
          </a:ln>
        </p:spPr>
        <p:txBody>
          <a:bodyPr anchor="ctr">
            <a:normAutofit/>
          </a:bodyPr>
          <a:lstStyle/>
          <a:p>
            <a:pPr algn="l">
              <a:defRPr sz="2400" b="1" i="0">
                <a:solidFill>
                  <a:srgbClr val="B7C78A"/>
                </a:solidFill>
                <a:latin typeface="Arial"/>
                <a:ea typeface="Arial"/>
                <a:cs typeface="Arial"/>
              </a:defRPr>
            </a:pPr>
            <a:r>
              <a:rPr sz="2400" b="1" i="0">
                <a:solidFill>
                  <a:srgbClr val="B7C78A"/>
                </a:solidFill>
                <a:latin typeface="Arial"/>
                <a:ea typeface="Arial"/>
                <a:cs typeface="Arial"/>
              </a:rPr>
              <a:t>توازن</a:t>
            </a:r>
          </a:p>
        </p:txBody>
      </p:sp>
      <p:sp>
        <p:nvSpPr>
          <p:cNvPr id="4" name="Rectangle 3">
            <a:extLst>
              <a:ext uri="{FF2B5EF4-FFF2-40B4-BE49-F238E27FC236}">
                <a16:creationId xmlns:a16="http://schemas.microsoft.com/office/drawing/2014/main" id="{E412B915-CCCA-423D-8D4A-D70AF6FCE472}"/>
              </a:ext>
            </a:extLst>
          </p:cNvPr>
          <p:cNvSpPr>
            <a:spLocks noGrp="1"/>
          </p:cNvSpPr>
          <p:nvPr/>
        </p:nvSpPr>
        <p:spPr>
          <a:xfrm>
            <a:off x="781050" y="3000375"/>
            <a:ext cx="9048750" cy="590550"/>
          </a:xfrm>
          <a:prstGeom prst="rect">
            <a:avLst/>
          </a:prstGeom>
          <a:noFill/>
          <a:ln w="0">
            <a:noFill/>
          </a:ln>
        </p:spPr>
        <p:txBody>
          <a:bodyPr anchor="ctr">
            <a:normAutofit/>
          </a:bodyPr>
          <a:lstStyle/>
          <a:p>
            <a:pPr algn="l">
              <a:defRPr sz="2700" b="1" i="0">
                <a:solidFill>
                  <a:srgbClr val="FFFFFF"/>
                </a:solidFill>
                <a:latin typeface="Arial"/>
                <a:ea typeface="Arial"/>
                <a:cs typeface="Arial"/>
              </a:defRPr>
            </a:pPr>
            <a:r>
              <a:rPr sz="2700" b="1" i="0">
                <a:solidFill>
                  <a:srgbClr val="FFFFFF"/>
                </a:solidFill>
                <a:latin typeface="Arial"/>
                <a:ea typeface="Arial"/>
                <a:cs typeface="Arial"/>
              </a:rPr>
              <a:t>AI media wellbeing for Libya</a:t>
            </a:r>
          </a:p>
        </p:txBody>
      </p:sp>
      <p:sp>
        <p:nvSpPr>
          <p:cNvPr id="5" name="Rectangle 4">
            <a:extLst>
              <a:ext uri="{FF2B5EF4-FFF2-40B4-BE49-F238E27FC236}">
                <a16:creationId xmlns:a16="http://schemas.microsoft.com/office/drawing/2014/main" id="{F5B1CA5B-916F-4305-A3E2-8775AC650F2E}"/>
              </a:ext>
            </a:extLst>
          </p:cNvPr>
          <p:cNvSpPr>
            <a:spLocks noGrp="1"/>
          </p:cNvSpPr>
          <p:nvPr/>
        </p:nvSpPr>
        <p:spPr>
          <a:xfrm>
            <a:off x="781050" y="3857625"/>
            <a:ext cx="8096250" cy="1066800"/>
          </a:xfrm>
          <a:prstGeom prst="rect">
            <a:avLst/>
          </a:prstGeom>
          <a:noFill/>
          <a:ln w="0">
            <a:noFill/>
          </a:ln>
        </p:spPr>
        <p:txBody>
          <a:bodyPr anchor="ctr">
            <a:normAutofit/>
          </a:bodyPr>
          <a:lstStyle/>
          <a:p>
            <a:pPr algn="l">
              <a:defRPr sz="1875" b="0" i="0">
                <a:solidFill>
                  <a:srgbClr val="D5DED7"/>
                </a:solidFill>
                <a:latin typeface="Arial"/>
                <a:ea typeface="Arial"/>
                <a:cs typeface="Arial"/>
              </a:defRPr>
            </a:pPr>
            <a:r>
              <a:rPr sz="1875" b="0" i="0">
                <a:solidFill>
                  <a:srgbClr val="D5DED7"/>
                </a:solidFill>
                <a:latin typeface="Arial"/>
                <a:ea typeface="Arial"/>
                <a:cs typeface="Arial"/>
              </a:rPr>
              <a:t>Tawazun helps people assess online content, understand its emotional impact, and choose how to respond.</a:t>
            </a:r>
          </a:p>
        </p:txBody>
      </p:sp>
      <p:sp>
        <p:nvSpPr>
          <p:cNvPr id="6" name="Rectangle 5">
            <a:extLst>
              <a:ext uri="{FF2B5EF4-FFF2-40B4-BE49-F238E27FC236}">
                <a16:creationId xmlns:a16="http://schemas.microsoft.com/office/drawing/2014/main" id="{40CC275B-5950-4315-B731-A35E163DD056}"/>
              </a:ext>
            </a:extLst>
          </p:cNvPr>
          <p:cNvSpPr>
            <a:spLocks noGrp="1"/>
          </p:cNvSpPr>
          <p:nvPr/>
        </p:nvSpPr>
        <p:spPr>
          <a:xfrm>
            <a:off x="781050" y="5305425"/>
            <a:ext cx="9525000" cy="304800"/>
          </a:xfrm>
          <a:prstGeom prst="rect">
            <a:avLst/>
          </a:prstGeom>
          <a:noFill/>
          <a:ln w="0">
            <a:noFill/>
          </a:ln>
        </p:spPr>
        <p:txBody>
          <a:bodyPr anchor="ctr">
            <a:normAutofit/>
          </a:bodyPr>
          <a:lstStyle/>
          <a:p>
            <a:pPr algn="l">
              <a:defRPr sz="1350" b="0" i="0">
                <a:solidFill>
                  <a:srgbClr val="FFFFFF"/>
                </a:solidFill>
                <a:latin typeface="Arial"/>
                <a:ea typeface="Arial"/>
                <a:cs typeface="Arial"/>
              </a:defRPr>
            </a:pPr>
            <a:r>
              <a:rPr sz="1350" b="0" i="0">
                <a:solidFill>
                  <a:srgbClr val="FFFFFF"/>
                </a:solidFill>
                <a:latin typeface="Arial"/>
                <a:ea typeface="Arial"/>
                <a:cs typeface="Arial"/>
              </a:rPr>
              <a:t>By: Suliman Hashem, Buthina urayet, Abdulhafiz Al-Sallai</a:t>
            </a:r>
          </a:p>
        </p:txBody>
      </p:sp>
      <p:sp>
        <p:nvSpPr>
          <p:cNvPr id="7" name="Rectangle 6">
            <a:extLst>
              <a:ext uri="{FF2B5EF4-FFF2-40B4-BE49-F238E27FC236}">
                <a16:creationId xmlns:a16="http://schemas.microsoft.com/office/drawing/2014/main" id="{C536898E-65DE-4402-8588-735242A87A1C}"/>
              </a:ext>
            </a:extLst>
          </p:cNvPr>
          <p:cNvSpPr>
            <a:spLocks noGrp="1"/>
          </p:cNvSpPr>
          <p:nvPr/>
        </p:nvSpPr>
        <p:spPr>
          <a:xfrm>
            <a:off x="781050" y="5924550"/>
            <a:ext cx="5905500" cy="247650"/>
          </a:xfrm>
          <a:prstGeom prst="rect">
            <a:avLst/>
          </a:prstGeom>
          <a:noFill/>
          <a:ln w="0">
            <a:noFill/>
          </a:ln>
        </p:spPr>
        <p:txBody>
          <a:bodyPr anchor="ctr">
            <a:normAutofit fontScale="97619"/>
          </a:bodyPr>
          <a:lstStyle/>
          <a:p>
            <a:pPr algn="l">
              <a:defRPr sz="1050" b="1" i="0">
                <a:solidFill>
                  <a:srgbClr val="B7C78A"/>
                </a:solidFill>
                <a:latin typeface="Arial"/>
                <a:ea typeface="Arial"/>
                <a:cs typeface="Arial"/>
              </a:defRPr>
            </a:pPr>
            <a:r>
              <a:rPr sz="1050" b="1" i="0">
                <a:solidFill>
                  <a:srgbClr val="B7C78A"/>
                </a:solidFill>
                <a:latin typeface="Arial"/>
                <a:ea typeface="Arial"/>
                <a:cs typeface="Arial"/>
              </a:rPr>
              <a:t>PROJECT PITCH</a:t>
            </a:r>
          </a:p>
        </p:txBody>
      </p:sp>
    </p:spTree>
    <p:extLst>
      <p:ext uri="{BB962C8B-B14F-4D97-AF65-F5344CB8AC3E}">
        <p14:creationId xmlns:p14="http://schemas.microsoft.com/office/powerpoint/2010/main" val="176030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644E130-4110-4A2A-8C2F-1C63641DC029}"/>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8A91FF52-AFCB-4F09-887C-0ABB35135B91}"/>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Online content creates two challenges at once</a:t>
            </a:r>
          </a:p>
        </p:txBody>
      </p:sp>
      <p:sp>
        <p:nvSpPr>
          <p:cNvPr id="3" name="Rectangle 2">
            <a:extLst>
              <a:ext uri="{FF2B5EF4-FFF2-40B4-BE49-F238E27FC236}">
                <a16:creationId xmlns:a16="http://schemas.microsoft.com/office/drawing/2014/main" id="{CCE8CBCC-06EB-4E2C-8F4F-2F6A9998E7AC}"/>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888BD711-4A6A-4EF0-A514-FBED1ACC7CB0}"/>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663AF1EF-9CED-422B-854F-27B20998808D}"/>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02</a:t>
            </a:r>
          </a:p>
        </p:txBody>
      </p:sp>
      <p:sp>
        <p:nvSpPr>
          <p:cNvPr id="6" name="Rectangle 5">
            <a:extLst>
              <a:ext uri="{FF2B5EF4-FFF2-40B4-BE49-F238E27FC236}">
                <a16:creationId xmlns:a16="http://schemas.microsoft.com/office/drawing/2014/main" id="{BABBEA1D-1AC8-4606-A688-CF8FDD1CCF32}"/>
              </a:ext>
            </a:extLst>
          </p:cNvPr>
          <p:cNvSpPr>
            <a:spLocks noGrp="1"/>
          </p:cNvSpPr>
          <p:nvPr/>
        </p:nvSpPr>
        <p:spPr>
          <a:xfrm>
            <a:off x="609600" y="1571625"/>
            <a:ext cx="6191250" cy="1295400"/>
          </a:xfrm>
          <a:prstGeom prst="rect">
            <a:avLst/>
          </a:prstGeom>
          <a:noFill/>
          <a:ln w="0">
            <a:noFill/>
          </a:ln>
        </p:spPr>
        <p:txBody>
          <a:bodyPr anchor="ctr">
            <a:normAutofit/>
          </a:bodyPr>
          <a:lstStyle/>
          <a:p>
            <a:pPr algn="l">
              <a:defRPr sz="2550" b="1" i="0">
                <a:solidFill>
                  <a:srgbClr val="142B2E"/>
                </a:solidFill>
                <a:latin typeface="Arial"/>
                <a:ea typeface="Arial"/>
                <a:cs typeface="Arial"/>
              </a:defRPr>
            </a:pPr>
            <a:r>
              <a:rPr sz="2550" b="1" i="0">
                <a:solidFill>
                  <a:srgbClr val="142B2E"/>
                </a:solidFill>
                <a:latin typeface="Arial"/>
                <a:ea typeface="Arial"/>
                <a:cs typeface="Arial"/>
              </a:rPr>
              <a:t>People must judge whether a post is credible while managing how its language makes them feel.</a:t>
            </a:r>
          </a:p>
        </p:txBody>
      </p:sp>
      <p:sp>
        <p:nvSpPr>
          <p:cNvPr id="7" name="Rectangle 6">
            <a:extLst>
              <a:ext uri="{FF2B5EF4-FFF2-40B4-BE49-F238E27FC236}">
                <a16:creationId xmlns:a16="http://schemas.microsoft.com/office/drawing/2014/main" id="{99F16326-14D9-44A3-9A7B-F266BFAFEF1B}"/>
              </a:ext>
            </a:extLst>
          </p:cNvPr>
          <p:cNvSpPr>
            <a:spLocks noGrp="1"/>
          </p:cNvSpPr>
          <p:nvPr/>
        </p:nvSpPr>
        <p:spPr>
          <a:xfrm>
            <a:off x="609600" y="3067050"/>
            <a:ext cx="6191250" cy="47625"/>
          </a:xfrm>
          <a:prstGeom prst="rect">
            <a:avLst/>
          </a:prstGeom>
          <a:solidFill>
            <a:srgbClr val="C75A4A"/>
          </a:solidFill>
          <a:ln w="0">
            <a:noFill/>
          </a:ln>
        </p:spPr>
        <p:txBody>
          <a:bodyPr/>
          <a:lstStyle/>
          <a:p>
            <a:endParaRPr lang="ar-LY"/>
          </a:p>
        </p:txBody>
      </p:sp>
      <p:sp>
        <p:nvSpPr>
          <p:cNvPr id="8" name="Rectangle 7">
            <a:extLst>
              <a:ext uri="{FF2B5EF4-FFF2-40B4-BE49-F238E27FC236}">
                <a16:creationId xmlns:a16="http://schemas.microsoft.com/office/drawing/2014/main" id="{66992528-0A0F-4CD6-BC44-B1C3E2C5A94B}"/>
              </a:ext>
            </a:extLst>
          </p:cNvPr>
          <p:cNvSpPr>
            <a:spLocks noGrp="1"/>
          </p:cNvSpPr>
          <p:nvPr/>
        </p:nvSpPr>
        <p:spPr>
          <a:xfrm>
            <a:off x="609600" y="3352800"/>
            <a:ext cx="6048375" cy="876300"/>
          </a:xfrm>
          <a:prstGeom prst="rect">
            <a:avLst/>
          </a:prstGeom>
          <a:noFill/>
          <a:ln w="0">
            <a:noFill/>
          </a:ln>
        </p:spPr>
        <p:txBody>
          <a:bodyPr anchor="ctr">
            <a:normAutofit/>
          </a:bodyPr>
          <a:lstStyle/>
          <a:p>
            <a:pPr algn="l">
              <a:defRPr sz="1875" b="0" i="0">
                <a:solidFill>
                  <a:srgbClr val="677572"/>
                </a:solidFill>
                <a:latin typeface="Arial"/>
                <a:ea typeface="Arial"/>
                <a:cs typeface="Arial"/>
              </a:defRPr>
            </a:pPr>
            <a:r>
              <a:rPr sz="1875" b="0" i="0">
                <a:solidFill>
                  <a:srgbClr val="677572"/>
                </a:solidFill>
                <a:latin typeface="Arial"/>
                <a:ea typeface="Arial"/>
                <a:cs typeface="Arial"/>
              </a:rPr>
              <a:t>Misinformation, inflammatory rhetoric, and hate speech can mix with urgency and emotional pressure.</a:t>
            </a:r>
          </a:p>
        </p:txBody>
      </p:sp>
      <p:sp>
        <p:nvSpPr>
          <p:cNvPr id="9" name="Rectangle 8">
            <a:extLst>
              <a:ext uri="{FF2B5EF4-FFF2-40B4-BE49-F238E27FC236}">
                <a16:creationId xmlns:a16="http://schemas.microsoft.com/office/drawing/2014/main" id="{8B1C94BC-49C6-454B-853F-057933ED3C62}"/>
              </a:ext>
            </a:extLst>
          </p:cNvPr>
          <p:cNvSpPr>
            <a:spLocks noGrp="1"/>
          </p:cNvSpPr>
          <p:nvPr/>
        </p:nvSpPr>
        <p:spPr>
          <a:xfrm>
            <a:off x="7524750" y="1657350"/>
            <a:ext cx="3762375" cy="2076450"/>
          </a:xfrm>
          <a:prstGeom prst="rect">
            <a:avLst/>
          </a:prstGeom>
          <a:noFill/>
          <a:ln w="0">
            <a:noFill/>
          </a:ln>
        </p:spPr>
        <p:txBody>
          <a:bodyPr anchor="ctr">
            <a:normAutofit/>
          </a:bodyPr>
          <a:lstStyle/>
          <a:p>
            <a:pPr algn="l">
              <a:defRPr sz="1725" b="0" i="0">
                <a:solidFill>
                  <a:srgbClr val="142B2E"/>
                </a:solidFill>
                <a:latin typeface="Arial"/>
                <a:ea typeface="Arial"/>
                <a:cs typeface="Arial"/>
              </a:defRPr>
            </a:pPr>
            <a:r>
              <a:rPr sz="1725" b="0" i="0">
                <a:solidFill>
                  <a:srgbClr val="142B2E"/>
                </a:solidFill>
                <a:latin typeface="Arial"/>
                <a:ea typeface="Arial"/>
                <a:cs typeface="Arial"/>
              </a:rPr>
              <a:t>In June 2026, the UN in Libya raised concern about misinformation, disinformation, and inflammatory rhetoric on social media, including content targeting individuals and groups.</a:t>
            </a:r>
          </a:p>
        </p:txBody>
      </p:sp>
      <p:sp>
        <p:nvSpPr>
          <p:cNvPr id="10" name="Rectangle 9">
            <a:extLst>
              <a:ext uri="{FF2B5EF4-FFF2-40B4-BE49-F238E27FC236}">
                <a16:creationId xmlns:a16="http://schemas.microsoft.com/office/drawing/2014/main" id="{56E8B907-EFC9-495B-8363-D89E036ADDA8}"/>
              </a:ext>
            </a:extLst>
          </p:cNvPr>
          <p:cNvSpPr>
            <a:spLocks noGrp="1"/>
          </p:cNvSpPr>
          <p:nvPr/>
        </p:nvSpPr>
        <p:spPr>
          <a:xfrm>
            <a:off x="7524750" y="4095750"/>
            <a:ext cx="3619500" cy="247650"/>
          </a:xfrm>
          <a:prstGeom prst="rect">
            <a:avLst/>
          </a:prstGeom>
          <a:noFill/>
          <a:ln w="0">
            <a:noFill/>
          </a:ln>
        </p:spPr>
        <p:txBody>
          <a:bodyPr anchor="ctr">
            <a:normAutofit fontScale="97619"/>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DESIGN OPPORTUNITY</a:t>
            </a:r>
          </a:p>
        </p:txBody>
      </p:sp>
      <p:sp>
        <p:nvSpPr>
          <p:cNvPr id="11" name="Rectangle 10">
            <a:extLst>
              <a:ext uri="{FF2B5EF4-FFF2-40B4-BE49-F238E27FC236}">
                <a16:creationId xmlns:a16="http://schemas.microsoft.com/office/drawing/2014/main" id="{D9CDDF68-E8C7-412D-B2C8-F0F7287281E7}"/>
              </a:ext>
            </a:extLst>
          </p:cNvPr>
          <p:cNvSpPr>
            <a:spLocks noGrp="1"/>
          </p:cNvSpPr>
          <p:nvPr/>
        </p:nvSpPr>
        <p:spPr>
          <a:xfrm>
            <a:off x="7524750" y="4448175"/>
            <a:ext cx="3810000" cy="990600"/>
          </a:xfrm>
          <a:prstGeom prst="rect">
            <a:avLst/>
          </a:prstGeom>
          <a:noFill/>
          <a:ln w="0">
            <a:noFill/>
          </a:ln>
        </p:spPr>
        <p:txBody>
          <a:bodyPr anchor="ctr">
            <a:normAutofit fontScale="80348"/>
          </a:bodyPr>
          <a:lstStyle/>
          <a:p>
            <a:pPr algn="l">
              <a:defRPr sz="2100" b="1" i="0">
                <a:solidFill>
                  <a:srgbClr val="315B4C"/>
                </a:solidFill>
                <a:latin typeface="Arial"/>
                <a:ea typeface="Arial"/>
                <a:cs typeface="Arial"/>
              </a:defRPr>
            </a:pPr>
            <a:r>
              <a:rPr sz="2100" b="1" i="0">
                <a:solidFill>
                  <a:srgbClr val="315B4C"/>
                </a:solidFill>
                <a:latin typeface="Arial"/>
                <a:ea typeface="Arial"/>
                <a:cs typeface="Arial"/>
              </a:rPr>
              <a:t>Tawazun connects content analysis with emotional self-awareness and practical response guidance.</a:t>
            </a:r>
          </a:p>
        </p:txBody>
      </p:sp>
      <p:sp>
        <p:nvSpPr>
          <p:cNvPr id="12" name="Rectangle 11">
            <a:extLst>
              <a:ext uri="{FF2B5EF4-FFF2-40B4-BE49-F238E27FC236}">
                <a16:creationId xmlns:a16="http://schemas.microsoft.com/office/drawing/2014/main" id="{455D91F4-CC6A-47C6-B4B2-8D242CCD3EA8}"/>
              </a:ext>
            </a:extLst>
          </p:cNvPr>
          <p:cNvSpPr>
            <a:spLocks noGrp="1"/>
          </p:cNvSpPr>
          <p:nvPr/>
        </p:nvSpPr>
        <p:spPr>
          <a:xfrm>
            <a:off x="7524750" y="5667375"/>
            <a:ext cx="4000500" cy="228600"/>
          </a:xfrm>
          <a:prstGeom prst="rect">
            <a:avLst/>
          </a:prstGeom>
          <a:noFill/>
          <a:ln w="0">
            <a:noFill/>
          </a:ln>
        </p:spPr>
        <p:txBody>
          <a:bodyPr anchor="ctr">
            <a:normAutofit fontScale="92308"/>
          </a:bodyPr>
          <a:lstStyle/>
          <a:p>
            <a:pPr algn="l">
              <a:defRPr sz="975" b="0" i="0">
                <a:solidFill>
                  <a:srgbClr val="677572"/>
                </a:solidFill>
                <a:latin typeface="Arial"/>
                <a:ea typeface="Arial"/>
                <a:cs typeface="Arial"/>
              </a:defRPr>
            </a:pPr>
            <a:r>
              <a:rPr sz="975" b="0" i="0">
                <a:solidFill>
                  <a:srgbClr val="677572"/>
                </a:solidFill>
                <a:latin typeface="Arial"/>
                <a:ea typeface="Arial"/>
                <a:cs typeface="Arial"/>
              </a:rPr>
              <a:t>Source: United Nations in Libya, 1 June 2026</a:t>
            </a:r>
          </a:p>
        </p:txBody>
      </p:sp>
    </p:spTree>
    <p:extLst>
      <p:ext uri="{BB962C8B-B14F-4D97-AF65-F5344CB8AC3E}">
        <p14:creationId xmlns:p14="http://schemas.microsoft.com/office/powerpoint/2010/main" val="1091315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6D52A48-8A8B-4741-87B5-47EAE2D899F6}"/>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91BFAF5E-07F1-46B8-AB96-0CBFA46D282B}"/>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Libya’s digital reach makes this a relevant setting</a:t>
            </a:r>
          </a:p>
        </p:txBody>
      </p:sp>
      <p:sp>
        <p:nvSpPr>
          <p:cNvPr id="3" name="Rectangle 2">
            <a:extLst>
              <a:ext uri="{FF2B5EF4-FFF2-40B4-BE49-F238E27FC236}">
                <a16:creationId xmlns:a16="http://schemas.microsoft.com/office/drawing/2014/main" id="{2060B953-655D-4A5D-A4E3-78581276BB90}"/>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31E7299D-930D-4A7D-86BE-1D3B4D302343}"/>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43B2949A-396B-426E-AD6D-EF42178E1E0C}"/>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03</a:t>
            </a:r>
          </a:p>
        </p:txBody>
      </p:sp>
      <p:sp>
        <p:nvSpPr>
          <p:cNvPr id="6" name="Rectangle 5">
            <a:extLst>
              <a:ext uri="{FF2B5EF4-FFF2-40B4-BE49-F238E27FC236}">
                <a16:creationId xmlns:a16="http://schemas.microsoft.com/office/drawing/2014/main" id="{AB3AB7EC-BF48-4F87-9F91-DD4D01D4D13D}"/>
              </a:ext>
            </a:extLst>
          </p:cNvPr>
          <p:cNvSpPr>
            <a:spLocks noGrp="1"/>
          </p:cNvSpPr>
          <p:nvPr/>
        </p:nvSpPr>
        <p:spPr>
          <a:xfrm>
            <a:off x="666750" y="1657350"/>
            <a:ext cx="4381500" cy="1352550"/>
          </a:xfrm>
          <a:prstGeom prst="rect">
            <a:avLst/>
          </a:prstGeom>
          <a:noFill/>
          <a:ln w="0">
            <a:noFill/>
          </a:ln>
        </p:spPr>
        <p:txBody>
          <a:bodyPr anchor="ctr">
            <a:normAutofit/>
          </a:bodyPr>
          <a:lstStyle/>
          <a:p>
            <a:pPr algn="l">
              <a:defRPr sz="6450" b="1" i="0">
                <a:solidFill>
                  <a:srgbClr val="315B4C"/>
                </a:solidFill>
                <a:latin typeface="Arial"/>
                <a:ea typeface="Arial"/>
                <a:cs typeface="Arial"/>
              </a:defRPr>
            </a:pPr>
            <a:r>
              <a:rPr sz="6450" b="1" i="0">
                <a:solidFill>
                  <a:srgbClr val="315B4C"/>
                </a:solidFill>
                <a:latin typeface="Arial"/>
                <a:ea typeface="Arial"/>
                <a:cs typeface="Arial"/>
              </a:rPr>
              <a:t>88.5%</a:t>
            </a:r>
          </a:p>
        </p:txBody>
      </p:sp>
      <p:sp>
        <p:nvSpPr>
          <p:cNvPr id="7" name="Rectangle 6">
            <a:extLst>
              <a:ext uri="{FF2B5EF4-FFF2-40B4-BE49-F238E27FC236}">
                <a16:creationId xmlns:a16="http://schemas.microsoft.com/office/drawing/2014/main" id="{3B412591-B8F8-4051-B643-0094225418DD}"/>
              </a:ext>
            </a:extLst>
          </p:cNvPr>
          <p:cNvSpPr>
            <a:spLocks noGrp="1"/>
          </p:cNvSpPr>
          <p:nvPr/>
        </p:nvSpPr>
        <p:spPr>
          <a:xfrm>
            <a:off x="723900" y="3095625"/>
            <a:ext cx="4429125" cy="85725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of Libya’s population used the internet at the end of 2025</a:t>
            </a:r>
          </a:p>
        </p:txBody>
      </p:sp>
      <p:sp>
        <p:nvSpPr>
          <p:cNvPr id="8" name="Rectangle 7">
            <a:extLst>
              <a:ext uri="{FF2B5EF4-FFF2-40B4-BE49-F238E27FC236}">
                <a16:creationId xmlns:a16="http://schemas.microsoft.com/office/drawing/2014/main" id="{D15F7532-87A6-43E4-B0FB-AD988DF0CEFA}"/>
              </a:ext>
            </a:extLst>
          </p:cNvPr>
          <p:cNvSpPr>
            <a:spLocks noGrp="1"/>
          </p:cNvSpPr>
          <p:nvPr/>
        </p:nvSpPr>
        <p:spPr>
          <a:xfrm>
            <a:off x="5810250" y="1619250"/>
            <a:ext cx="19050" cy="3714750"/>
          </a:xfrm>
          <a:prstGeom prst="rect">
            <a:avLst/>
          </a:prstGeom>
          <a:solidFill>
            <a:srgbClr val="D8DED3"/>
          </a:solidFill>
          <a:ln w="0">
            <a:noFill/>
          </a:ln>
        </p:spPr>
        <p:txBody>
          <a:bodyPr/>
          <a:lstStyle/>
          <a:p>
            <a:endParaRPr lang="ar-LY"/>
          </a:p>
        </p:txBody>
      </p:sp>
      <p:sp>
        <p:nvSpPr>
          <p:cNvPr id="9" name="Rectangle 8">
            <a:extLst>
              <a:ext uri="{FF2B5EF4-FFF2-40B4-BE49-F238E27FC236}">
                <a16:creationId xmlns:a16="http://schemas.microsoft.com/office/drawing/2014/main" id="{E809CD31-B34D-425C-874F-E287A7F49A85}"/>
              </a:ext>
            </a:extLst>
          </p:cNvPr>
          <p:cNvSpPr>
            <a:spLocks noGrp="1"/>
          </p:cNvSpPr>
          <p:nvPr/>
        </p:nvSpPr>
        <p:spPr>
          <a:xfrm>
            <a:off x="6419850" y="1657350"/>
            <a:ext cx="4572000" cy="1352550"/>
          </a:xfrm>
          <a:prstGeom prst="rect">
            <a:avLst/>
          </a:prstGeom>
          <a:noFill/>
          <a:ln w="0">
            <a:noFill/>
          </a:ln>
        </p:spPr>
        <p:txBody>
          <a:bodyPr anchor="ctr">
            <a:normAutofit/>
          </a:bodyPr>
          <a:lstStyle/>
          <a:p>
            <a:pPr algn="l">
              <a:defRPr sz="5850" b="1" i="0">
                <a:solidFill>
                  <a:srgbClr val="C75A4A"/>
                </a:solidFill>
                <a:latin typeface="Arial"/>
                <a:ea typeface="Arial"/>
                <a:cs typeface="Arial"/>
              </a:defRPr>
            </a:pPr>
            <a:r>
              <a:rPr sz="5850" b="1" i="0">
                <a:solidFill>
                  <a:srgbClr val="C75A4A"/>
                </a:solidFill>
                <a:latin typeface="Arial"/>
                <a:ea typeface="Arial"/>
                <a:cs typeface="Arial"/>
              </a:rPr>
              <a:t>6.62M</a:t>
            </a:r>
          </a:p>
        </p:txBody>
      </p:sp>
      <p:sp>
        <p:nvSpPr>
          <p:cNvPr id="10" name="Rectangle 9">
            <a:extLst>
              <a:ext uri="{FF2B5EF4-FFF2-40B4-BE49-F238E27FC236}">
                <a16:creationId xmlns:a16="http://schemas.microsoft.com/office/drawing/2014/main" id="{82D6AD2D-6EE2-47EF-8621-1C4B5A6AD834}"/>
              </a:ext>
            </a:extLst>
          </p:cNvPr>
          <p:cNvSpPr>
            <a:spLocks noGrp="1"/>
          </p:cNvSpPr>
          <p:nvPr/>
        </p:nvSpPr>
        <p:spPr>
          <a:xfrm>
            <a:off x="6477000" y="3095625"/>
            <a:ext cx="4381500" cy="85725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estimated internet users in Libya at the end of 2025</a:t>
            </a:r>
          </a:p>
        </p:txBody>
      </p:sp>
      <p:sp>
        <p:nvSpPr>
          <p:cNvPr id="11" name="Rectangle 10">
            <a:extLst>
              <a:ext uri="{FF2B5EF4-FFF2-40B4-BE49-F238E27FC236}">
                <a16:creationId xmlns:a16="http://schemas.microsoft.com/office/drawing/2014/main" id="{4F7916EB-0388-46A8-9A05-A0C27489C051}"/>
              </a:ext>
            </a:extLst>
          </p:cNvPr>
          <p:cNvSpPr>
            <a:spLocks noGrp="1"/>
          </p:cNvSpPr>
          <p:nvPr/>
        </p:nvSpPr>
        <p:spPr>
          <a:xfrm>
            <a:off x="6419850" y="4400550"/>
            <a:ext cx="4714875" cy="1066800"/>
          </a:xfrm>
          <a:prstGeom prst="rect">
            <a:avLst/>
          </a:prstGeom>
          <a:noFill/>
          <a:ln w="0">
            <a:noFill/>
          </a:ln>
        </p:spPr>
        <p:txBody>
          <a:bodyPr anchor="ctr">
            <a:normAutofit/>
          </a:bodyPr>
          <a:lstStyle/>
          <a:p>
            <a:pPr algn="l">
              <a:defRPr sz="1650" b="0" i="0">
                <a:solidFill>
                  <a:srgbClr val="677572"/>
                </a:solidFill>
                <a:latin typeface="Arial"/>
                <a:ea typeface="Arial"/>
                <a:cs typeface="Arial"/>
              </a:defRPr>
            </a:pPr>
            <a:r>
              <a:rPr sz="1650" b="0" i="0">
                <a:solidFill>
                  <a:srgbClr val="677572"/>
                </a:solidFill>
                <a:latin typeface="Arial"/>
                <a:ea typeface="Arial"/>
                <a:cs typeface="Arial"/>
              </a:rPr>
              <a:t>Tawazun is designed for the spaces where people already encounter information, with a lightweight mobile-first experience.</a:t>
            </a:r>
          </a:p>
        </p:txBody>
      </p:sp>
      <p:sp>
        <p:nvSpPr>
          <p:cNvPr id="12" name="Rectangle 11">
            <a:extLst>
              <a:ext uri="{FF2B5EF4-FFF2-40B4-BE49-F238E27FC236}">
                <a16:creationId xmlns:a16="http://schemas.microsoft.com/office/drawing/2014/main" id="{6CB9F26F-2061-433D-8280-74D6EE219817}"/>
              </a:ext>
            </a:extLst>
          </p:cNvPr>
          <p:cNvSpPr>
            <a:spLocks noGrp="1"/>
          </p:cNvSpPr>
          <p:nvPr/>
        </p:nvSpPr>
        <p:spPr>
          <a:xfrm>
            <a:off x="723900" y="5753100"/>
            <a:ext cx="10477500" cy="285750"/>
          </a:xfrm>
          <a:prstGeom prst="rect">
            <a:avLst/>
          </a:prstGeom>
          <a:noFill/>
          <a:ln w="0">
            <a:noFill/>
          </a:ln>
        </p:spPr>
        <p:txBody>
          <a:bodyPr anchor="ctr">
            <a:normAutofit/>
          </a:bodyPr>
          <a:lstStyle/>
          <a:p>
            <a:pPr algn="l">
              <a:defRPr sz="975" b="0" i="0">
                <a:solidFill>
                  <a:srgbClr val="677572"/>
                </a:solidFill>
                <a:latin typeface="Arial"/>
                <a:ea typeface="Arial"/>
                <a:cs typeface="Arial"/>
              </a:defRPr>
            </a:pPr>
            <a:r>
              <a:rPr sz="975" b="0" i="0">
                <a:solidFill>
                  <a:srgbClr val="677572"/>
                </a:solidFill>
                <a:latin typeface="Arial"/>
                <a:ea typeface="Arial"/>
                <a:cs typeface="Arial"/>
              </a:rPr>
              <a:t>DataReportal / Kepios, Digital 2026: Libya. Social media “user identities” are not necessarily unique people.</a:t>
            </a:r>
          </a:p>
        </p:txBody>
      </p:sp>
    </p:spTree>
    <p:extLst>
      <p:ext uri="{BB962C8B-B14F-4D97-AF65-F5344CB8AC3E}">
        <p14:creationId xmlns:p14="http://schemas.microsoft.com/office/powerpoint/2010/main" val="1538305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181AF88-3590-4724-BF71-FDB8B409C317}"/>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99908234-7E24-4ACC-B8F8-80B3B6026C94}"/>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Mental wellbeing matters, and local data is limited</a:t>
            </a:r>
          </a:p>
        </p:txBody>
      </p:sp>
      <p:sp>
        <p:nvSpPr>
          <p:cNvPr id="3" name="Rectangle 2">
            <a:extLst>
              <a:ext uri="{FF2B5EF4-FFF2-40B4-BE49-F238E27FC236}">
                <a16:creationId xmlns:a16="http://schemas.microsoft.com/office/drawing/2014/main" id="{B0DC5ABB-7943-40CA-A8A3-CDC946FEE3E1}"/>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2E971A82-5160-42B3-9F18-FBBA4B23EA7F}"/>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A435A639-9412-470B-9AD7-A90C907A40AD}"/>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04</a:t>
            </a:r>
          </a:p>
        </p:txBody>
      </p:sp>
      <p:sp>
        <p:nvSpPr>
          <p:cNvPr id="6" name="Rectangle 5">
            <a:extLst>
              <a:ext uri="{FF2B5EF4-FFF2-40B4-BE49-F238E27FC236}">
                <a16:creationId xmlns:a16="http://schemas.microsoft.com/office/drawing/2014/main" id="{EEDA7A0B-E01D-4D78-B6BB-BBCC7FDF3899}"/>
              </a:ext>
            </a:extLst>
          </p:cNvPr>
          <p:cNvSpPr>
            <a:spLocks noGrp="1"/>
          </p:cNvSpPr>
          <p:nvPr/>
        </p:nvSpPr>
        <p:spPr>
          <a:xfrm>
            <a:off x="685800" y="1619250"/>
            <a:ext cx="4762500" cy="1285875"/>
          </a:xfrm>
          <a:prstGeom prst="rect">
            <a:avLst/>
          </a:prstGeom>
          <a:noFill/>
          <a:ln w="0">
            <a:noFill/>
          </a:ln>
        </p:spPr>
        <p:txBody>
          <a:bodyPr anchor="ctr">
            <a:normAutofit/>
          </a:bodyPr>
          <a:lstStyle/>
          <a:p>
            <a:pPr algn="l">
              <a:defRPr sz="6000" b="1" i="0">
                <a:solidFill>
                  <a:srgbClr val="C75A4A"/>
                </a:solidFill>
                <a:latin typeface="Arial"/>
                <a:ea typeface="Arial"/>
                <a:cs typeface="Arial"/>
              </a:defRPr>
            </a:pPr>
            <a:r>
              <a:rPr sz="6000" b="1" i="0">
                <a:solidFill>
                  <a:srgbClr val="C75A4A"/>
                </a:solidFill>
                <a:latin typeface="Arial"/>
                <a:ea typeface="Arial"/>
                <a:cs typeface="Arial"/>
              </a:rPr>
              <a:t>22.1%</a:t>
            </a:r>
          </a:p>
        </p:txBody>
      </p:sp>
      <p:sp>
        <p:nvSpPr>
          <p:cNvPr id="7" name="Rectangle 6">
            <a:extLst>
              <a:ext uri="{FF2B5EF4-FFF2-40B4-BE49-F238E27FC236}">
                <a16:creationId xmlns:a16="http://schemas.microsoft.com/office/drawing/2014/main" id="{387BD915-89E1-447F-9958-3E0F1C66E71E}"/>
              </a:ext>
            </a:extLst>
          </p:cNvPr>
          <p:cNvSpPr>
            <a:spLocks noGrp="1"/>
          </p:cNvSpPr>
          <p:nvPr/>
        </p:nvSpPr>
        <p:spPr>
          <a:xfrm>
            <a:off x="723900" y="3000375"/>
            <a:ext cx="4762500" cy="1095375"/>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WHO estimate for mental disorders at a point in time in conflict-affected populations</a:t>
            </a:r>
          </a:p>
        </p:txBody>
      </p:sp>
      <p:sp>
        <p:nvSpPr>
          <p:cNvPr id="8" name="Rectangle 7">
            <a:extLst>
              <a:ext uri="{FF2B5EF4-FFF2-40B4-BE49-F238E27FC236}">
                <a16:creationId xmlns:a16="http://schemas.microsoft.com/office/drawing/2014/main" id="{D6DE7248-156F-4EBA-91E0-26248CEAA718}"/>
              </a:ext>
            </a:extLst>
          </p:cNvPr>
          <p:cNvSpPr>
            <a:spLocks noGrp="1"/>
          </p:cNvSpPr>
          <p:nvPr/>
        </p:nvSpPr>
        <p:spPr>
          <a:xfrm>
            <a:off x="6191250" y="1657350"/>
            <a:ext cx="38100" cy="3571875"/>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9E8ECF46-27F9-4248-BCB1-0A550B5C8DBF}"/>
              </a:ext>
            </a:extLst>
          </p:cNvPr>
          <p:cNvSpPr>
            <a:spLocks noGrp="1"/>
          </p:cNvSpPr>
          <p:nvPr/>
        </p:nvSpPr>
        <p:spPr>
          <a:xfrm>
            <a:off x="6572250" y="1657350"/>
            <a:ext cx="4572000" cy="419100"/>
          </a:xfrm>
          <a:prstGeom prst="rect">
            <a:avLst/>
          </a:prstGeom>
          <a:noFill/>
          <a:ln w="0">
            <a:noFill/>
          </a:ln>
        </p:spPr>
        <p:txBody>
          <a:bodyPr anchor="ctr">
            <a:normAutofit/>
          </a:bodyPr>
          <a:lstStyle/>
          <a:p>
            <a:pPr algn="l">
              <a:defRPr sz="1650" b="1" i="0">
                <a:solidFill>
                  <a:srgbClr val="315B4C"/>
                </a:solidFill>
                <a:latin typeface="Arial"/>
                <a:ea typeface="Arial"/>
                <a:cs typeface="Arial"/>
              </a:defRPr>
            </a:pPr>
            <a:r>
              <a:rPr sz="1650" b="1" i="0">
                <a:solidFill>
                  <a:srgbClr val="315B4C"/>
                </a:solidFill>
                <a:latin typeface="Arial"/>
                <a:ea typeface="Arial"/>
                <a:cs typeface="Arial"/>
              </a:rPr>
              <a:t>A careful reading</a:t>
            </a:r>
          </a:p>
        </p:txBody>
      </p:sp>
      <p:sp>
        <p:nvSpPr>
          <p:cNvPr id="10" name="Rectangle 9">
            <a:extLst>
              <a:ext uri="{FF2B5EF4-FFF2-40B4-BE49-F238E27FC236}">
                <a16:creationId xmlns:a16="http://schemas.microsoft.com/office/drawing/2014/main" id="{AC4A13DA-EDDA-41B0-BF0B-0AC0FB8853A4}"/>
              </a:ext>
            </a:extLst>
          </p:cNvPr>
          <p:cNvSpPr>
            <a:spLocks noGrp="1"/>
          </p:cNvSpPr>
          <p:nvPr/>
        </p:nvSpPr>
        <p:spPr>
          <a:xfrm>
            <a:off x="6572250" y="2171700"/>
            <a:ext cx="4667250" cy="1381125"/>
          </a:xfrm>
          <a:prstGeom prst="rect">
            <a:avLst/>
          </a:prstGeom>
          <a:noFill/>
          <a:ln w="0">
            <a:noFill/>
          </a:ln>
        </p:spPr>
        <p:txBody>
          <a:bodyPr anchor="ctr">
            <a:normAutofit/>
          </a:bodyPr>
          <a:lstStyle/>
          <a:p>
            <a:pPr algn="l">
              <a:defRPr sz="1725" b="0" i="0">
                <a:solidFill>
                  <a:srgbClr val="142B2E"/>
                </a:solidFill>
                <a:latin typeface="Arial"/>
                <a:ea typeface="Arial"/>
                <a:cs typeface="Arial"/>
              </a:defRPr>
            </a:pPr>
            <a:r>
              <a:rPr sz="1725" b="0" i="0">
                <a:solidFill>
                  <a:srgbClr val="142B2E"/>
                </a:solidFill>
                <a:latin typeface="Arial"/>
                <a:ea typeface="Arial"/>
                <a:cs typeface="Arial"/>
              </a:rPr>
              <a:t>This is not a Libya-specific prevalence survey. WHO says no official national prevalence data exist, and public mental-health research remains limited.</a:t>
            </a:r>
          </a:p>
        </p:txBody>
      </p:sp>
      <p:sp>
        <p:nvSpPr>
          <p:cNvPr id="11" name="Rectangle 10">
            <a:extLst>
              <a:ext uri="{FF2B5EF4-FFF2-40B4-BE49-F238E27FC236}">
                <a16:creationId xmlns:a16="http://schemas.microsoft.com/office/drawing/2014/main" id="{66F68FC1-40FA-49C1-B38A-D9D9EFAA5FA5}"/>
              </a:ext>
            </a:extLst>
          </p:cNvPr>
          <p:cNvSpPr>
            <a:spLocks noGrp="1"/>
          </p:cNvSpPr>
          <p:nvPr/>
        </p:nvSpPr>
        <p:spPr>
          <a:xfrm>
            <a:off x="6572250" y="3790950"/>
            <a:ext cx="4667250" cy="1352550"/>
          </a:xfrm>
          <a:prstGeom prst="rect">
            <a:avLst/>
          </a:prstGeom>
          <a:noFill/>
          <a:ln w="0">
            <a:noFill/>
          </a:ln>
        </p:spPr>
        <p:txBody>
          <a:bodyPr anchor="ctr">
            <a:normAutofit/>
          </a:bodyPr>
          <a:lstStyle/>
          <a:p>
            <a:pPr algn="l">
              <a:defRPr sz="1650" b="0" i="0">
                <a:solidFill>
                  <a:srgbClr val="677572"/>
                </a:solidFill>
                <a:latin typeface="Arial"/>
                <a:ea typeface="Arial"/>
                <a:cs typeface="Arial"/>
              </a:defRPr>
            </a:pPr>
            <a:r>
              <a:rPr sz="1650" b="0" i="0">
                <a:solidFill>
                  <a:srgbClr val="677572"/>
                </a:solidFill>
                <a:latin typeface="Arial"/>
                <a:ea typeface="Arial"/>
                <a:cs typeface="Arial"/>
              </a:rPr>
              <a:t>That gap makes local listening and testing essential. Tawazun starts as a media-wellbeing tool, not a mental-health diagnosis or treatment service.</a:t>
            </a:r>
          </a:p>
        </p:txBody>
      </p:sp>
      <p:sp>
        <p:nvSpPr>
          <p:cNvPr id="12" name="Rectangle 11">
            <a:extLst>
              <a:ext uri="{FF2B5EF4-FFF2-40B4-BE49-F238E27FC236}">
                <a16:creationId xmlns:a16="http://schemas.microsoft.com/office/drawing/2014/main" id="{134262F3-2AAB-4178-A63C-B28D0F30E519}"/>
              </a:ext>
            </a:extLst>
          </p:cNvPr>
          <p:cNvSpPr>
            <a:spLocks noGrp="1"/>
          </p:cNvSpPr>
          <p:nvPr/>
        </p:nvSpPr>
        <p:spPr>
          <a:xfrm>
            <a:off x="723900" y="5753100"/>
            <a:ext cx="10477500" cy="228600"/>
          </a:xfrm>
          <a:prstGeom prst="rect">
            <a:avLst/>
          </a:prstGeom>
          <a:noFill/>
          <a:ln w="0">
            <a:noFill/>
          </a:ln>
        </p:spPr>
        <p:txBody>
          <a:bodyPr anchor="ctr">
            <a:normAutofit fontScale="92308"/>
          </a:bodyPr>
          <a:lstStyle/>
          <a:p>
            <a:pPr algn="l">
              <a:defRPr sz="975" b="0" i="0">
                <a:solidFill>
                  <a:srgbClr val="677572"/>
                </a:solidFill>
                <a:latin typeface="Arial"/>
                <a:ea typeface="Arial"/>
                <a:cs typeface="Arial"/>
              </a:defRPr>
            </a:pPr>
            <a:r>
              <a:rPr sz="975" b="0" i="0">
                <a:solidFill>
                  <a:srgbClr val="677572"/>
                </a:solidFill>
                <a:latin typeface="Arial"/>
                <a:ea typeface="Arial"/>
                <a:cs typeface="Arial"/>
              </a:rPr>
              <a:t>WHO EMRO, Mental health and psychosocial support, 2024 report</a:t>
            </a:r>
          </a:p>
        </p:txBody>
      </p:sp>
    </p:spTree>
    <p:extLst>
      <p:ext uri="{BB962C8B-B14F-4D97-AF65-F5344CB8AC3E}">
        <p14:creationId xmlns:p14="http://schemas.microsoft.com/office/powerpoint/2010/main" val="488734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5E56765-1981-4547-9DE6-DCB974D5C572}"/>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D2B2B7C5-A6E8-4BD0-992E-C7DB870DD965}"/>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Tawazun is an AI media wellbeing platform for Libya</a:t>
            </a:r>
          </a:p>
        </p:txBody>
      </p:sp>
      <p:sp>
        <p:nvSpPr>
          <p:cNvPr id="3" name="Rectangle 2">
            <a:extLst>
              <a:ext uri="{FF2B5EF4-FFF2-40B4-BE49-F238E27FC236}">
                <a16:creationId xmlns:a16="http://schemas.microsoft.com/office/drawing/2014/main" id="{0B9A42F0-AE1C-4E9B-9419-4653B5A8E938}"/>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79F91389-456E-4BF2-AB1F-59F6B431CDFD}"/>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EF76C651-8A56-421A-BCC8-26146FD1EBFB}"/>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05</a:t>
            </a:r>
          </a:p>
        </p:txBody>
      </p:sp>
      <p:sp>
        <p:nvSpPr>
          <p:cNvPr id="6" name="Rectangle 5">
            <a:extLst>
              <a:ext uri="{FF2B5EF4-FFF2-40B4-BE49-F238E27FC236}">
                <a16:creationId xmlns:a16="http://schemas.microsoft.com/office/drawing/2014/main" id="{F9ADB4AE-8A24-4649-BFD0-0B4D1ADF96CC}"/>
              </a:ext>
            </a:extLst>
          </p:cNvPr>
          <p:cNvSpPr>
            <a:spLocks noGrp="1"/>
          </p:cNvSpPr>
          <p:nvPr/>
        </p:nvSpPr>
        <p:spPr>
          <a:xfrm>
            <a:off x="609600" y="1504950"/>
            <a:ext cx="10096500" cy="514350"/>
          </a:xfrm>
          <a:prstGeom prst="rect">
            <a:avLst/>
          </a:prstGeom>
          <a:noFill/>
          <a:ln w="0">
            <a:noFill/>
          </a:ln>
        </p:spPr>
        <p:txBody>
          <a:bodyPr anchor="ctr">
            <a:normAutofit fontScale="94670"/>
          </a:bodyPr>
          <a:lstStyle/>
          <a:p>
            <a:pPr algn="l">
              <a:defRPr sz="2100" b="0" i="0">
                <a:solidFill>
                  <a:srgbClr val="677572"/>
                </a:solidFill>
                <a:latin typeface="Arial"/>
                <a:ea typeface="Arial"/>
                <a:cs typeface="Arial"/>
              </a:defRPr>
            </a:pPr>
            <a:r>
              <a:rPr sz="2100" b="0" i="0">
                <a:solidFill>
                  <a:srgbClr val="677572"/>
                </a:solidFill>
                <a:latin typeface="Arial"/>
                <a:ea typeface="Arial"/>
                <a:cs typeface="Arial"/>
              </a:rPr>
              <a:t>It helps users assess a post, understand how it affects them, and decide how to respond.</a:t>
            </a:r>
          </a:p>
        </p:txBody>
      </p:sp>
      <p:sp>
        <p:nvSpPr>
          <p:cNvPr id="7" name="Rectangle 6">
            <a:extLst>
              <a:ext uri="{FF2B5EF4-FFF2-40B4-BE49-F238E27FC236}">
                <a16:creationId xmlns:a16="http://schemas.microsoft.com/office/drawing/2014/main" id="{B424CED3-5365-4D06-861A-86C93858748B}"/>
              </a:ext>
            </a:extLst>
          </p:cNvPr>
          <p:cNvSpPr>
            <a:spLocks noGrp="1"/>
          </p:cNvSpPr>
          <p:nvPr/>
        </p:nvSpPr>
        <p:spPr>
          <a:xfrm>
            <a:off x="742950" y="2400300"/>
            <a:ext cx="1238250" cy="685800"/>
          </a:xfrm>
          <a:prstGeom prst="rect">
            <a:avLst/>
          </a:prstGeom>
          <a:noFill/>
          <a:ln w="0">
            <a:noFill/>
          </a:ln>
        </p:spPr>
        <p:txBody>
          <a:bodyPr anchor="ctr">
            <a:normAutofit/>
          </a:bodyPr>
          <a:lstStyle/>
          <a:p>
            <a:pPr algn="l">
              <a:defRPr sz="3150" b="1" i="0">
                <a:solidFill>
                  <a:srgbClr val="315B4C"/>
                </a:solidFill>
                <a:latin typeface="Arial"/>
                <a:ea typeface="Arial"/>
                <a:cs typeface="Arial"/>
              </a:defRPr>
            </a:pPr>
            <a:r>
              <a:rPr sz="3150" b="1" i="0">
                <a:solidFill>
                  <a:srgbClr val="315B4C"/>
                </a:solidFill>
                <a:latin typeface="Arial"/>
                <a:ea typeface="Arial"/>
                <a:cs typeface="Arial"/>
              </a:rPr>
              <a:t>01</a:t>
            </a:r>
          </a:p>
        </p:txBody>
      </p:sp>
      <p:sp>
        <p:nvSpPr>
          <p:cNvPr id="8" name="Rectangle 7">
            <a:extLst>
              <a:ext uri="{FF2B5EF4-FFF2-40B4-BE49-F238E27FC236}">
                <a16:creationId xmlns:a16="http://schemas.microsoft.com/office/drawing/2014/main" id="{C6D6EB00-0E71-4805-BA4C-988F4ED848AE}"/>
              </a:ext>
            </a:extLst>
          </p:cNvPr>
          <p:cNvSpPr>
            <a:spLocks noGrp="1"/>
          </p:cNvSpPr>
          <p:nvPr/>
        </p:nvSpPr>
        <p:spPr>
          <a:xfrm>
            <a:off x="742950" y="3219450"/>
            <a:ext cx="295275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99E963CB-BC6B-466C-A475-3E0E226F197A}"/>
              </a:ext>
            </a:extLst>
          </p:cNvPr>
          <p:cNvSpPr>
            <a:spLocks noGrp="1"/>
          </p:cNvSpPr>
          <p:nvPr/>
        </p:nvSpPr>
        <p:spPr>
          <a:xfrm>
            <a:off x="742950" y="3476625"/>
            <a:ext cx="3048000" cy="495300"/>
          </a:xfrm>
          <a:prstGeom prst="rect">
            <a:avLst/>
          </a:prstGeom>
          <a:noFill/>
          <a:ln w="0">
            <a:noFill/>
          </a:ln>
        </p:spPr>
        <p:txBody>
          <a:bodyPr anchor="ctr">
            <a:normAutofit/>
          </a:bodyPr>
          <a:lstStyle/>
          <a:p>
            <a:pPr algn="l">
              <a:defRPr sz="2025" b="1" i="0">
                <a:solidFill>
                  <a:srgbClr val="142B2E"/>
                </a:solidFill>
                <a:latin typeface="Arial"/>
                <a:ea typeface="Arial"/>
                <a:cs typeface="Arial"/>
              </a:defRPr>
            </a:pPr>
            <a:r>
              <a:rPr sz="2025" b="1" i="0">
                <a:solidFill>
                  <a:srgbClr val="142B2E"/>
                </a:solidFill>
                <a:latin typeface="Arial"/>
                <a:ea typeface="Arial"/>
                <a:cs typeface="Arial"/>
              </a:rPr>
              <a:t>Read the post</a:t>
            </a:r>
          </a:p>
        </p:txBody>
      </p:sp>
      <p:sp>
        <p:nvSpPr>
          <p:cNvPr id="10" name="Rectangle 9">
            <a:extLst>
              <a:ext uri="{FF2B5EF4-FFF2-40B4-BE49-F238E27FC236}">
                <a16:creationId xmlns:a16="http://schemas.microsoft.com/office/drawing/2014/main" id="{DBDB68C2-F527-42F6-9D41-4DE7E3DD32EA}"/>
              </a:ext>
            </a:extLst>
          </p:cNvPr>
          <p:cNvSpPr>
            <a:spLocks noGrp="1"/>
          </p:cNvSpPr>
          <p:nvPr/>
        </p:nvSpPr>
        <p:spPr>
          <a:xfrm>
            <a:off x="742950" y="4076700"/>
            <a:ext cx="3048000" cy="10477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Spot loaded language, unsupported claims, urgency, or targeting.</a:t>
            </a:r>
          </a:p>
        </p:txBody>
      </p:sp>
      <p:sp>
        <p:nvSpPr>
          <p:cNvPr id="11" name="Rectangle 10">
            <a:extLst>
              <a:ext uri="{FF2B5EF4-FFF2-40B4-BE49-F238E27FC236}">
                <a16:creationId xmlns:a16="http://schemas.microsoft.com/office/drawing/2014/main" id="{3289C688-9E44-4DC5-AF30-A0C27C692A85}"/>
              </a:ext>
            </a:extLst>
          </p:cNvPr>
          <p:cNvSpPr>
            <a:spLocks noGrp="1"/>
          </p:cNvSpPr>
          <p:nvPr/>
        </p:nvSpPr>
        <p:spPr>
          <a:xfrm>
            <a:off x="4457700" y="2400300"/>
            <a:ext cx="1238250" cy="685800"/>
          </a:xfrm>
          <a:prstGeom prst="rect">
            <a:avLst/>
          </a:prstGeom>
          <a:noFill/>
          <a:ln w="0">
            <a:noFill/>
          </a:ln>
        </p:spPr>
        <p:txBody>
          <a:bodyPr anchor="ctr">
            <a:normAutofit/>
          </a:bodyPr>
          <a:lstStyle/>
          <a:p>
            <a:pPr algn="l">
              <a:defRPr sz="3150" b="1" i="0">
                <a:solidFill>
                  <a:srgbClr val="C75A4A"/>
                </a:solidFill>
                <a:latin typeface="Arial"/>
                <a:ea typeface="Arial"/>
                <a:cs typeface="Arial"/>
              </a:defRPr>
            </a:pPr>
            <a:r>
              <a:rPr sz="3150" b="1" i="0">
                <a:solidFill>
                  <a:srgbClr val="C75A4A"/>
                </a:solidFill>
                <a:latin typeface="Arial"/>
                <a:ea typeface="Arial"/>
                <a:cs typeface="Arial"/>
              </a:rPr>
              <a:t>02</a:t>
            </a:r>
          </a:p>
        </p:txBody>
      </p:sp>
      <p:sp>
        <p:nvSpPr>
          <p:cNvPr id="12" name="Rectangle 11">
            <a:extLst>
              <a:ext uri="{FF2B5EF4-FFF2-40B4-BE49-F238E27FC236}">
                <a16:creationId xmlns:a16="http://schemas.microsoft.com/office/drawing/2014/main" id="{7609B9EA-09E6-4A46-8336-ECC8FD21A4D0}"/>
              </a:ext>
            </a:extLst>
          </p:cNvPr>
          <p:cNvSpPr>
            <a:spLocks noGrp="1"/>
          </p:cNvSpPr>
          <p:nvPr/>
        </p:nvSpPr>
        <p:spPr>
          <a:xfrm>
            <a:off x="4457700" y="3219450"/>
            <a:ext cx="2952750" cy="38100"/>
          </a:xfrm>
          <a:prstGeom prst="rect">
            <a:avLst/>
          </a:prstGeom>
          <a:solidFill>
            <a:srgbClr val="C75A4A"/>
          </a:solidFill>
          <a:ln w="0">
            <a:noFill/>
          </a:ln>
        </p:spPr>
        <p:txBody>
          <a:bodyPr/>
          <a:lstStyle/>
          <a:p>
            <a:endParaRPr lang="ar-LY"/>
          </a:p>
        </p:txBody>
      </p:sp>
      <p:sp>
        <p:nvSpPr>
          <p:cNvPr id="13" name="Rectangle 12">
            <a:extLst>
              <a:ext uri="{FF2B5EF4-FFF2-40B4-BE49-F238E27FC236}">
                <a16:creationId xmlns:a16="http://schemas.microsoft.com/office/drawing/2014/main" id="{B82670B7-F2DE-433E-9ACC-DB430E22DB8A}"/>
              </a:ext>
            </a:extLst>
          </p:cNvPr>
          <p:cNvSpPr>
            <a:spLocks noGrp="1"/>
          </p:cNvSpPr>
          <p:nvPr/>
        </p:nvSpPr>
        <p:spPr>
          <a:xfrm>
            <a:off x="4457700" y="3476625"/>
            <a:ext cx="3048000" cy="495300"/>
          </a:xfrm>
          <a:prstGeom prst="rect">
            <a:avLst/>
          </a:prstGeom>
          <a:noFill/>
          <a:ln w="0">
            <a:noFill/>
          </a:ln>
        </p:spPr>
        <p:txBody>
          <a:bodyPr anchor="ctr">
            <a:normAutofit/>
          </a:bodyPr>
          <a:lstStyle/>
          <a:p>
            <a:pPr algn="l">
              <a:defRPr sz="2025" b="1" i="0">
                <a:solidFill>
                  <a:srgbClr val="142B2E"/>
                </a:solidFill>
                <a:latin typeface="Arial"/>
                <a:ea typeface="Arial"/>
                <a:cs typeface="Arial"/>
              </a:defRPr>
            </a:pPr>
            <a:r>
              <a:rPr sz="2025" b="1" i="0">
                <a:solidFill>
                  <a:srgbClr val="142B2E"/>
                </a:solidFill>
                <a:latin typeface="Arial"/>
                <a:ea typeface="Arial"/>
                <a:cs typeface="Arial"/>
              </a:rPr>
              <a:t>Notice the impact</a:t>
            </a:r>
          </a:p>
        </p:txBody>
      </p:sp>
      <p:sp>
        <p:nvSpPr>
          <p:cNvPr id="14" name="Rectangle 13">
            <a:extLst>
              <a:ext uri="{FF2B5EF4-FFF2-40B4-BE49-F238E27FC236}">
                <a16:creationId xmlns:a16="http://schemas.microsoft.com/office/drawing/2014/main" id="{6D46071D-670A-4EA4-8F5C-F0A42A40F887}"/>
              </a:ext>
            </a:extLst>
          </p:cNvPr>
          <p:cNvSpPr>
            <a:spLocks noGrp="1"/>
          </p:cNvSpPr>
          <p:nvPr/>
        </p:nvSpPr>
        <p:spPr>
          <a:xfrm>
            <a:off x="4457700" y="4076700"/>
            <a:ext cx="3048000" cy="10477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Name the feeling the content brought up, without judgment.</a:t>
            </a:r>
          </a:p>
        </p:txBody>
      </p:sp>
      <p:sp>
        <p:nvSpPr>
          <p:cNvPr id="15" name="Rectangle 14">
            <a:extLst>
              <a:ext uri="{FF2B5EF4-FFF2-40B4-BE49-F238E27FC236}">
                <a16:creationId xmlns:a16="http://schemas.microsoft.com/office/drawing/2014/main" id="{795C40AF-3DE4-46DA-8CFE-AA4C7E65B908}"/>
              </a:ext>
            </a:extLst>
          </p:cNvPr>
          <p:cNvSpPr>
            <a:spLocks noGrp="1"/>
          </p:cNvSpPr>
          <p:nvPr/>
        </p:nvSpPr>
        <p:spPr>
          <a:xfrm>
            <a:off x="8172450" y="2400300"/>
            <a:ext cx="1238250" cy="685800"/>
          </a:xfrm>
          <a:prstGeom prst="rect">
            <a:avLst/>
          </a:prstGeom>
          <a:noFill/>
          <a:ln w="0">
            <a:noFill/>
          </a:ln>
        </p:spPr>
        <p:txBody>
          <a:bodyPr anchor="ctr">
            <a:normAutofit/>
          </a:bodyPr>
          <a:lstStyle/>
          <a:p>
            <a:pPr algn="l">
              <a:defRPr sz="3150" b="1" i="0">
                <a:solidFill>
                  <a:srgbClr val="315B4C"/>
                </a:solidFill>
                <a:latin typeface="Arial"/>
                <a:ea typeface="Arial"/>
                <a:cs typeface="Arial"/>
              </a:defRPr>
            </a:pPr>
            <a:r>
              <a:rPr sz="3150" b="1" i="0">
                <a:solidFill>
                  <a:srgbClr val="315B4C"/>
                </a:solidFill>
                <a:latin typeface="Arial"/>
                <a:ea typeface="Arial"/>
                <a:cs typeface="Arial"/>
              </a:rPr>
              <a:t>03</a:t>
            </a:r>
          </a:p>
        </p:txBody>
      </p:sp>
      <p:sp>
        <p:nvSpPr>
          <p:cNvPr id="16" name="Rectangle 15">
            <a:extLst>
              <a:ext uri="{FF2B5EF4-FFF2-40B4-BE49-F238E27FC236}">
                <a16:creationId xmlns:a16="http://schemas.microsoft.com/office/drawing/2014/main" id="{74E2AFB0-914C-4211-A33A-7A065C7317B0}"/>
              </a:ext>
            </a:extLst>
          </p:cNvPr>
          <p:cNvSpPr>
            <a:spLocks noGrp="1"/>
          </p:cNvSpPr>
          <p:nvPr/>
        </p:nvSpPr>
        <p:spPr>
          <a:xfrm>
            <a:off x="8172450" y="3219450"/>
            <a:ext cx="2952750" cy="38100"/>
          </a:xfrm>
          <a:prstGeom prst="rect">
            <a:avLst/>
          </a:prstGeom>
          <a:solidFill>
            <a:srgbClr val="B7C78A"/>
          </a:solidFill>
          <a:ln w="0">
            <a:noFill/>
          </a:ln>
        </p:spPr>
        <p:txBody>
          <a:bodyPr/>
          <a:lstStyle/>
          <a:p>
            <a:endParaRPr lang="ar-LY"/>
          </a:p>
        </p:txBody>
      </p:sp>
      <p:sp>
        <p:nvSpPr>
          <p:cNvPr id="17" name="Rectangle 16">
            <a:extLst>
              <a:ext uri="{FF2B5EF4-FFF2-40B4-BE49-F238E27FC236}">
                <a16:creationId xmlns:a16="http://schemas.microsoft.com/office/drawing/2014/main" id="{A2313FD0-7371-4A59-8891-2E66DAB04570}"/>
              </a:ext>
            </a:extLst>
          </p:cNvPr>
          <p:cNvSpPr>
            <a:spLocks noGrp="1"/>
          </p:cNvSpPr>
          <p:nvPr/>
        </p:nvSpPr>
        <p:spPr>
          <a:xfrm>
            <a:off x="8172450" y="3476625"/>
            <a:ext cx="3048000" cy="495300"/>
          </a:xfrm>
          <a:prstGeom prst="rect">
            <a:avLst/>
          </a:prstGeom>
          <a:noFill/>
          <a:ln w="0">
            <a:noFill/>
          </a:ln>
        </p:spPr>
        <p:txBody>
          <a:bodyPr anchor="ctr">
            <a:normAutofit/>
          </a:bodyPr>
          <a:lstStyle/>
          <a:p>
            <a:pPr algn="l">
              <a:defRPr sz="2025" b="1" i="0">
                <a:solidFill>
                  <a:srgbClr val="142B2E"/>
                </a:solidFill>
                <a:latin typeface="Arial"/>
                <a:ea typeface="Arial"/>
                <a:cs typeface="Arial"/>
              </a:defRPr>
            </a:pPr>
            <a:r>
              <a:rPr sz="2025" b="1" i="0">
                <a:solidFill>
                  <a:srgbClr val="142B2E"/>
                </a:solidFill>
                <a:latin typeface="Arial"/>
                <a:ea typeface="Arial"/>
                <a:cs typeface="Arial"/>
              </a:rPr>
              <a:t>Choose a response</a:t>
            </a:r>
          </a:p>
        </p:txBody>
      </p:sp>
      <p:sp>
        <p:nvSpPr>
          <p:cNvPr id="18" name="Rectangle 17">
            <a:extLst>
              <a:ext uri="{FF2B5EF4-FFF2-40B4-BE49-F238E27FC236}">
                <a16:creationId xmlns:a16="http://schemas.microsoft.com/office/drawing/2014/main" id="{00E8F908-5582-4536-86D5-A16D33DE4805}"/>
              </a:ext>
            </a:extLst>
          </p:cNvPr>
          <p:cNvSpPr>
            <a:spLocks noGrp="1"/>
          </p:cNvSpPr>
          <p:nvPr/>
        </p:nvSpPr>
        <p:spPr>
          <a:xfrm>
            <a:off x="8172450" y="4076700"/>
            <a:ext cx="3048000" cy="10477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Pause, check a source, try a grounding prompt, or disengage.</a:t>
            </a:r>
          </a:p>
        </p:txBody>
      </p:sp>
    </p:spTree>
    <p:extLst>
      <p:ext uri="{BB962C8B-B14F-4D97-AF65-F5344CB8AC3E}">
        <p14:creationId xmlns:p14="http://schemas.microsoft.com/office/powerpoint/2010/main" val="1718341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3C48FD6-9A08-40E8-AD04-977AB97AA2CA}"/>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EBF298B9-8ADF-489B-B755-E4F6E386A5A2}"/>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How the complete Tawazun experience works</a:t>
            </a:r>
          </a:p>
        </p:txBody>
      </p:sp>
      <p:sp>
        <p:nvSpPr>
          <p:cNvPr id="3" name="Rectangle 2">
            <a:extLst>
              <a:ext uri="{FF2B5EF4-FFF2-40B4-BE49-F238E27FC236}">
                <a16:creationId xmlns:a16="http://schemas.microsoft.com/office/drawing/2014/main" id="{DFB81D22-FBB1-41B7-B2E0-45B673DBA265}"/>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4512EB1C-8CDF-4D22-BC8D-3ACE6474FC9A}"/>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156157D3-1652-4F4D-B325-ADA76A40C9F7}"/>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06</a:t>
            </a:r>
          </a:p>
        </p:txBody>
      </p:sp>
      <p:sp>
        <p:nvSpPr>
          <p:cNvPr id="6" name="Rectangle 5">
            <a:extLst>
              <a:ext uri="{FF2B5EF4-FFF2-40B4-BE49-F238E27FC236}">
                <a16:creationId xmlns:a16="http://schemas.microsoft.com/office/drawing/2014/main" id="{297E5583-3060-4785-AB8E-B83022DA88F9}"/>
              </a:ext>
            </a:extLst>
          </p:cNvPr>
          <p:cNvSpPr>
            <a:spLocks noGrp="1"/>
          </p:cNvSpPr>
          <p:nvPr/>
        </p:nvSpPr>
        <p:spPr>
          <a:xfrm>
            <a:off x="685800" y="1428750"/>
            <a:ext cx="10477500" cy="495300"/>
          </a:xfrm>
          <a:prstGeom prst="rect">
            <a:avLst/>
          </a:prstGeom>
          <a:noFill/>
          <a:ln w="0">
            <a:noFill/>
          </a:ln>
        </p:spPr>
        <p:txBody>
          <a:bodyPr anchor="ctr">
            <a:normAutofit/>
          </a:bodyPr>
          <a:lstStyle/>
          <a:p>
            <a:pPr algn="l">
              <a:defRPr sz="1800" b="0" i="0">
                <a:solidFill>
                  <a:srgbClr val="677572"/>
                </a:solidFill>
                <a:latin typeface="Arial"/>
                <a:ea typeface="Arial"/>
                <a:cs typeface="Arial"/>
              </a:defRPr>
            </a:pPr>
            <a:r>
              <a:rPr sz="1800" b="0" i="0">
                <a:solidFill>
                  <a:srgbClr val="677572"/>
                </a:solidFill>
                <a:latin typeface="Arial"/>
                <a:ea typeface="Arial"/>
                <a:cs typeface="Arial"/>
              </a:rPr>
              <a:t>Example: a user sees an alarming claim about a local service and feels worried.</a:t>
            </a:r>
          </a:p>
        </p:txBody>
      </p:sp>
      <p:sp>
        <p:nvSpPr>
          <p:cNvPr id="7" name="Rectangle 6">
            <a:extLst>
              <a:ext uri="{FF2B5EF4-FFF2-40B4-BE49-F238E27FC236}">
                <a16:creationId xmlns:a16="http://schemas.microsoft.com/office/drawing/2014/main" id="{1D59DE11-A27F-4DB8-96BB-5AD8DB0484A6}"/>
              </a:ext>
            </a:extLst>
          </p:cNvPr>
          <p:cNvSpPr>
            <a:spLocks noGrp="1"/>
          </p:cNvSpPr>
          <p:nvPr/>
        </p:nvSpPr>
        <p:spPr>
          <a:xfrm>
            <a:off x="685800" y="2381250"/>
            <a:ext cx="609600" cy="514350"/>
          </a:xfrm>
          <a:prstGeom prst="rect">
            <a:avLst/>
          </a:prstGeom>
          <a:noFill/>
          <a:ln w="0">
            <a:noFill/>
          </a:ln>
        </p:spPr>
        <p:txBody>
          <a:bodyPr anchor="ctr">
            <a:normAutofit/>
          </a:bodyPr>
          <a:lstStyle/>
          <a:p>
            <a:pPr algn="l">
              <a:defRPr sz="2400" b="1" i="0">
                <a:solidFill>
                  <a:srgbClr val="315B4C"/>
                </a:solidFill>
                <a:latin typeface="Arial"/>
                <a:ea typeface="Arial"/>
                <a:cs typeface="Arial"/>
              </a:defRPr>
            </a:pPr>
            <a:r>
              <a:rPr sz="2400" b="1" i="0">
                <a:solidFill>
                  <a:srgbClr val="315B4C"/>
                </a:solidFill>
                <a:latin typeface="Arial"/>
                <a:ea typeface="Arial"/>
                <a:cs typeface="Arial"/>
              </a:rPr>
              <a:t>01</a:t>
            </a:r>
          </a:p>
        </p:txBody>
      </p:sp>
      <p:sp>
        <p:nvSpPr>
          <p:cNvPr id="8" name="Rectangle 7">
            <a:extLst>
              <a:ext uri="{FF2B5EF4-FFF2-40B4-BE49-F238E27FC236}">
                <a16:creationId xmlns:a16="http://schemas.microsoft.com/office/drawing/2014/main" id="{EADFB462-CCA7-49A4-88FB-A4F8EFFBCDD0}"/>
              </a:ext>
            </a:extLst>
          </p:cNvPr>
          <p:cNvSpPr>
            <a:spLocks noGrp="1"/>
          </p:cNvSpPr>
          <p:nvPr/>
        </p:nvSpPr>
        <p:spPr>
          <a:xfrm>
            <a:off x="685800" y="3038475"/>
            <a:ext cx="226695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B3F30B6A-3E96-4285-B43F-F830E38FB734}"/>
              </a:ext>
            </a:extLst>
          </p:cNvPr>
          <p:cNvSpPr>
            <a:spLocks noGrp="1"/>
          </p:cNvSpPr>
          <p:nvPr/>
        </p:nvSpPr>
        <p:spPr>
          <a:xfrm>
            <a:off x="6858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Share</a:t>
            </a:r>
          </a:p>
        </p:txBody>
      </p:sp>
      <p:sp>
        <p:nvSpPr>
          <p:cNvPr id="10" name="Rectangle 9">
            <a:extLst>
              <a:ext uri="{FF2B5EF4-FFF2-40B4-BE49-F238E27FC236}">
                <a16:creationId xmlns:a16="http://schemas.microsoft.com/office/drawing/2014/main" id="{DE59F923-0A72-44AC-94C8-4D60307F24DB}"/>
              </a:ext>
            </a:extLst>
          </p:cNvPr>
          <p:cNvSpPr>
            <a:spLocks noGrp="1"/>
          </p:cNvSpPr>
          <p:nvPr/>
        </p:nvSpPr>
        <p:spPr>
          <a:xfrm>
            <a:off x="6858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The user shares a post and selects how it made them feel.</a:t>
            </a:r>
          </a:p>
        </p:txBody>
      </p:sp>
      <p:sp>
        <p:nvSpPr>
          <p:cNvPr id="11" name="Rectangle 10">
            <a:extLst>
              <a:ext uri="{FF2B5EF4-FFF2-40B4-BE49-F238E27FC236}">
                <a16:creationId xmlns:a16="http://schemas.microsoft.com/office/drawing/2014/main" id="{76FB4C6B-2E37-4830-9B23-6017BDCC7498}"/>
              </a:ext>
            </a:extLst>
          </p:cNvPr>
          <p:cNvSpPr>
            <a:spLocks noGrp="1"/>
          </p:cNvSpPr>
          <p:nvPr/>
        </p:nvSpPr>
        <p:spPr>
          <a:xfrm>
            <a:off x="3429000" y="2381250"/>
            <a:ext cx="609600" cy="514350"/>
          </a:xfrm>
          <a:prstGeom prst="rect">
            <a:avLst/>
          </a:prstGeom>
          <a:noFill/>
          <a:ln w="0">
            <a:noFill/>
          </a:ln>
        </p:spPr>
        <p:txBody>
          <a:bodyPr anchor="ctr">
            <a:normAutofit/>
          </a:bodyPr>
          <a:lstStyle/>
          <a:p>
            <a:pPr algn="l">
              <a:defRPr sz="2400" b="1" i="0">
                <a:solidFill>
                  <a:srgbClr val="C75A4A"/>
                </a:solidFill>
                <a:latin typeface="Arial"/>
                <a:ea typeface="Arial"/>
                <a:cs typeface="Arial"/>
              </a:defRPr>
            </a:pPr>
            <a:r>
              <a:rPr sz="2400" b="1" i="0">
                <a:solidFill>
                  <a:srgbClr val="C75A4A"/>
                </a:solidFill>
                <a:latin typeface="Arial"/>
                <a:ea typeface="Arial"/>
                <a:cs typeface="Arial"/>
              </a:rPr>
              <a:t>02</a:t>
            </a:r>
          </a:p>
        </p:txBody>
      </p:sp>
      <p:sp>
        <p:nvSpPr>
          <p:cNvPr id="12" name="Rectangle 11">
            <a:extLst>
              <a:ext uri="{FF2B5EF4-FFF2-40B4-BE49-F238E27FC236}">
                <a16:creationId xmlns:a16="http://schemas.microsoft.com/office/drawing/2014/main" id="{775A4D64-CC8E-49AD-B901-1808CBA56902}"/>
              </a:ext>
            </a:extLst>
          </p:cNvPr>
          <p:cNvSpPr>
            <a:spLocks noGrp="1"/>
          </p:cNvSpPr>
          <p:nvPr/>
        </p:nvSpPr>
        <p:spPr>
          <a:xfrm>
            <a:off x="3429000" y="3038475"/>
            <a:ext cx="2266950" cy="38100"/>
          </a:xfrm>
          <a:prstGeom prst="rect">
            <a:avLst/>
          </a:prstGeom>
          <a:solidFill>
            <a:srgbClr val="C75A4A"/>
          </a:solidFill>
          <a:ln w="0">
            <a:noFill/>
          </a:ln>
        </p:spPr>
        <p:txBody>
          <a:bodyPr/>
          <a:lstStyle/>
          <a:p>
            <a:endParaRPr lang="ar-LY"/>
          </a:p>
        </p:txBody>
      </p:sp>
      <p:sp>
        <p:nvSpPr>
          <p:cNvPr id="13" name="Rectangle 12">
            <a:extLst>
              <a:ext uri="{FF2B5EF4-FFF2-40B4-BE49-F238E27FC236}">
                <a16:creationId xmlns:a16="http://schemas.microsoft.com/office/drawing/2014/main" id="{45988B16-0A96-43A2-894B-F633FFE6BF3F}"/>
              </a:ext>
            </a:extLst>
          </p:cNvPr>
          <p:cNvSpPr>
            <a:spLocks noGrp="1"/>
          </p:cNvSpPr>
          <p:nvPr/>
        </p:nvSpPr>
        <p:spPr>
          <a:xfrm>
            <a:off x="34290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Understand</a:t>
            </a:r>
          </a:p>
        </p:txBody>
      </p:sp>
      <p:sp>
        <p:nvSpPr>
          <p:cNvPr id="14" name="Rectangle 13">
            <a:extLst>
              <a:ext uri="{FF2B5EF4-FFF2-40B4-BE49-F238E27FC236}">
                <a16:creationId xmlns:a16="http://schemas.microsoft.com/office/drawing/2014/main" id="{22613B6A-FD36-4F04-AC35-FAC5209B8EF5}"/>
              </a:ext>
            </a:extLst>
          </p:cNvPr>
          <p:cNvSpPr>
            <a:spLocks noGrp="1"/>
          </p:cNvSpPr>
          <p:nvPr/>
        </p:nvSpPr>
        <p:spPr>
          <a:xfrm>
            <a:off x="34290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AI explains urgency, emotional language, and source cues. It labels uncertainty.</a:t>
            </a:r>
          </a:p>
        </p:txBody>
      </p:sp>
      <p:sp>
        <p:nvSpPr>
          <p:cNvPr id="15" name="Rectangle 14">
            <a:extLst>
              <a:ext uri="{FF2B5EF4-FFF2-40B4-BE49-F238E27FC236}">
                <a16:creationId xmlns:a16="http://schemas.microsoft.com/office/drawing/2014/main" id="{95452EE6-0EB6-44E4-B032-E23EDA1B1978}"/>
              </a:ext>
            </a:extLst>
          </p:cNvPr>
          <p:cNvSpPr>
            <a:spLocks noGrp="1"/>
          </p:cNvSpPr>
          <p:nvPr/>
        </p:nvSpPr>
        <p:spPr>
          <a:xfrm>
            <a:off x="6172200" y="2381250"/>
            <a:ext cx="609600" cy="514350"/>
          </a:xfrm>
          <a:prstGeom prst="rect">
            <a:avLst/>
          </a:prstGeom>
          <a:noFill/>
          <a:ln w="0">
            <a:noFill/>
          </a:ln>
        </p:spPr>
        <p:txBody>
          <a:bodyPr anchor="ctr">
            <a:normAutofit/>
          </a:bodyPr>
          <a:lstStyle/>
          <a:p>
            <a:pPr algn="l">
              <a:defRPr sz="2400" b="1" i="0">
                <a:solidFill>
                  <a:srgbClr val="315B4C"/>
                </a:solidFill>
                <a:latin typeface="Arial"/>
                <a:ea typeface="Arial"/>
                <a:cs typeface="Arial"/>
              </a:defRPr>
            </a:pPr>
            <a:r>
              <a:rPr sz="2400" b="1" i="0">
                <a:solidFill>
                  <a:srgbClr val="315B4C"/>
                </a:solidFill>
                <a:latin typeface="Arial"/>
                <a:ea typeface="Arial"/>
                <a:cs typeface="Arial"/>
              </a:rPr>
              <a:t>03</a:t>
            </a:r>
          </a:p>
        </p:txBody>
      </p:sp>
      <p:sp>
        <p:nvSpPr>
          <p:cNvPr id="16" name="Rectangle 15">
            <a:extLst>
              <a:ext uri="{FF2B5EF4-FFF2-40B4-BE49-F238E27FC236}">
                <a16:creationId xmlns:a16="http://schemas.microsoft.com/office/drawing/2014/main" id="{F4BFFA83-FBB2-4BFB-BBAB-FA05C027378B}"/>
              </a:ext>
            </a:extLst>
          </p:cNvPr>
          <p:cNvSpPr>
            <a:spLocks noGrp="1"/>
          </p:cNvSpPr>
          <p:nvPr/>
        </p:nvSpPr>
        <p:spPr>
          <a:xfrm>
            <a:off x="6172200" y="3038475"/>
            <a:ext cx="2266950" cy="38100"/>
          </a:xfrm>
          <a:prstGeom prst="rect">
            <a:avLst/>
          </a:prstGeom>
          <a:solidFill>
            <a:srgbClr val="B7C78A"/>
          </a:solidFill>
          <a:ln w="0">
            <a:noFill/>
          </a:ln>
        </p:spPr>
        <p:txBody>
          <a:bodyPr/>
          <a:lstStyle/>
          <a:p>
            <a:endParaRPr lang="ar-LY"/>
          </a:p>
        </p:txBody>
      </p:sp>
      <p:sp>
        <p:nvSpPr>
          <p:cNvPr id="17" name="Rectangle 16">
            <a:extLst>
              <a:ext uri="{FF2B5EF4-FFF2-40B4-BE49-F238E27FC236}">
                <a16:creationId xmlns:a16="http://schemas.microsoft.com/office/drawing/2014/main" id="{8A56D23F-6F93-49C8-8658-CC8A6CA63FC1}"/>
              </a:ext>
            </a:extLst>
          </p:cNvPr>
          <p:cNvSpPr>
            <a:spLocks noGrp="1"/>
          </p:cNvSpPr>
          <p:nvPr/>
        </p:nvSpPr>
        <p:spPr>
          <a:xfrm>
            <a:off x="61722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Check in</a:t>
            </a:r>
          </a:p>
        </p:txBody>
      </p:sp>
      <p:sp>
        <p:nvSpPr>
          <p:cNvPr id="18" name="Rectangle 17">
            <a:extLst>
              <a:ext uri="{FF2B5EF4-FFF2-40B4-BE49-F238E27FC236}">
                <a16:creationId xmlns:a16="http://schemas.microsoft.com/office/drawing/2014/main" id="{2CEEEED3-ADA7-4139-AEC4-3DFA2C0A7A19}"/>
              </a:ext>
            </a:extLst>
          </p:cNvPr>
          <p:cNvSpPr>
            <a:spLocks noGrp="1"/>
          </p:cNvSpPr>
          <p:nvPr/>
        </p:nvSpPr>
        <p:spPr>
          <a:xfrm>
            <a:off x="61722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The user can track mood patterns and try a calming prompt or practice example.</a:t>
            </a:r>
          </a:p>
        </p:txBody>
      </p:sp>
      <p:sp>
        <p:nvSpPr>
          <p:cNvPr id="19" name="Rectangle 18">
            <a:extLst>
              <a:ext uri="{FF2B5EF4-FFF2-40B4-BE49-F238E27FC236}">
                <a16:creationId xmlns:a16="http://schemas.microsoft.com/office/drawing/2014/main" id="{37EFA8CC-8026-495F-B8DF-2A7697190B6C}"/>
              </a:ext>
            </a:extLst>
          </p:cNvPr>
          <p:cNvSpPr>
            <a:spLocks noGrp="1"/>
          </p:cNvSpPr>
          <p:nvPr/>
        </p:nvSpPr>
        <p:spPr>
          <a:xfrm>
            <a:off x="8915400" y="2381250"/>
            <a:ext cx="609600" cy="514350"/>
          </a:xfrm>
          <a:prstGeom prst="rect">
            <a:avLst/>
          </a:prstGeom>
          <a:noFill/>
          <a:ln w="0">
            <a:noFill/>
          </a:ln>
        </p:spPr>
        <p:txBody>
          <a:bodyPr anchor="ctr">
            <a:normAutofit/>
          </a:bodyPr>
          <a:lstStyle/>
          <a:p>
            <a:pPr algn="l">
              <a:defRPr sz="2400" b="1" i="0">
                <a:solidFill>
                  <a:srgbClr val="315B4C"/>
                </a:solidFill>
                <a:latin typeface="Arial"/>
                <a:ea typeface="Arial"/>
                <a:cs typeface="Arial"/>
              </a:defRPr>
            </a:pPr>
            <a:r>
              <a:rPr sz="2400" b="1" i="0">
                <a:solidFill>
                  <a:srgbClr val="315B4C"/>
                </a:solidFill>
                <a:latin typeface="Arial"/>
                <a:ea typeface="Arial"/>
                <a:cs typeface="Arial"/>
              </a:rPr>
              <a:t>04</a:t>
            </a:r>
          </a:p>
        </p:txBody>
      </p:sp>
      <p:sp>
        <p:nvSpPr>
          <p:cNvPr id="20" name="Rectangle 19">
            <a:extLst>
              <a:ext uri="{FF2B5EF4-FFF2-40B4-BE49-F238E27FC236}">
                <a16:creationId xmlns:a16="http://schemas.microsoft.com/office/drawing/2014/main" id="{F3E7B922-85D0-49A9-ACC2-0FE7AF985ADD}"/>
              </a:ext>
            </a:extLst>
          </p:cNvPr>
          <p:cNvSpPr>
            <a:spLocks noGrp="1"/>
          </p:cNvSpPr>
          <p:nvPr/>
        </p:nvSpPr>
        <p:spPr>
          <a:xfrm>
            <a:off x="8915400" y="3038475"/>
            <a:ext cx="2266950" cy="38100"/>
          </a:xfrm>
          <a:prstGeom prst="rect">
            <a:avLst/>
          </a:prstGeom>
          <a:solidFill>
            <a:srgbClr val="B7C78A"/>
          </a:solidFill>
          <a:ln w="0">
            <a:noFill/>
          </a:ln>
        </p:spPr>
        <p:txBody>
          <a:bodyPr/>
          <a:lstStyle/>
          <a:p>
            <a:endParaRPr lang="ar-LY"/>
          </a:p>
        </p:txBody>
      </p:sp>
      <p:sp>
        <p:nvSpPr>
          <p:cNvPr id="21" name="Rectangle 20">
            <a:extLst>
              <a:ext uri="{FF2B5EF4-FFF2-40B4-BE49-F238E27FC236}">
                <a16:creationId xmlns:a16="http://schemas.microsoft.com/office/drawing/2014/main" id="{D16E68F9-D1D3-4FB3-88D6-1F10CC256BAC}"/>
              </a:ext>
            </a:extLst>
          </p:cNvPr>
          <p:cNvSpPr>
            <a:spLocks noGrp="1"/>
          </p:cNvSpPr>
          <p:nvPr/>
        </p:nvSpPr>
        <p:spPr>
          <a:xfrm>
            <a:off x="89154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Choose</a:t>
            </a:r>
          </a:p>
        </p:txBody>
      </p:sp>
      <p:sp>
        <p:nvSpPr>
          <p:cNvPr id="22" name="Rectangle 21">
            <a:extLst>
              <a:ext uri="{FF2B5EF4-FFF2-40B4-BE49-F238E27FC236}">
                <a16:creationId xmlns:a16="http://schemas.microsoft.com/office/drawing/2014/main" id="{B74440FF-3E4E-4D09-BC9A-FED03A571BB2}"/>
              </a:ext>
            </a:extLst>
          </p:cNvPr>
          <p:cNvSpPr>
            <a:spLocks noGrp="1"/>
          </p:cNvSpPr>
          <p:nvPr/>
        </p:nvSpPr>
        <p:spPr>
          <a:xfrm>
            <a:off x="89154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The source guide and response coach offer options. The story companion adds Libyan Arabic support.</a:t>
            </a:r>
          </a:p>
        </p:txBody>
      </p:sp>
      <p:sp>
        <p:nvSpPr>
          <p:cNvPr id="23" name="Rectangle 22">
            <a:extLst>
              <a:ext uri="{FF2B5EF4-FFF2-40B4-BE49-F238E27FC236}">
                <a16:creationId xmlns:a16="http://schemas.microsoft.com/office/drawing/2014/main" id="{336C92A1-FB0F-4A3C-93E8-B675AFE73925}"/>
              </a:ext>
            </a:extLst>
          </p:cNvPr>
          <p:cNvSpPr>
            <a:spLocks noGrp="1"/>
          </p:cNvSpPr>
          <p:nvPr/>
        </p:nvSpPr>
        <p:spPr>
          <a:xfrm>
            <a:off x="685800" y="5619750"/>
            <a:ext cx="10477500" cy="342900"/>
          </a:xfrm>
          <a:prstGeom prst="rect">
            <a:avLst/>
          </a:prstGeom>
          <a:noFill/>
          <a:ln w="0">
            <a:noFill/>
          </a:ln>
        </p:spPr>
        <p:txBody>
          <a:bodyPr anchor="ctr">
            <a:normAutofit/>
          </a:bodyPr>
          <a:lstStyle/>
          <a:p>
            <a:pPr algn="l">
              <a:defRPr sz="1500" b="1" i="0">
                <a:solidFill>
                  <a:srgbClr val="315B4C"/>
                </a:solidFill>
                <a:latin typeface="Arial"/>
                <a:ea typeface="Arial"/>
                <a:cs typeface="Arial"/>
              </a:defRPr>
            </a:pPr>
            <a:r>
              <a:rPr sz="1500" b="1" i="0">
                <a:solidFill>
                  <a:srgbClr val="315B4C"/>
                </a:solidFill>
                <a:latin typeface="Arial"/>
                <a:ea typeface="Arial"/>
                <a:cs typeface="Arial"/>
              </a:rPr>
              <a:t>The user stays in control at every step.</a:t>
            </a:r>
          </a:p>
        </p:txBody>
      </p:sp>
    </p:spTree>
    <p:extLst>
      <p:ext uri="{BB962C8B-B14F-4D97-AF65-F5344CB8AC3E}">
        <p14:creationId xmlns:p14="http://schemas.microsoft.com/office/powerpoint/2010/main" val="1272521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82D4EE4-D384-4E89-939F-12B4285A9223}"/>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A44BC300-D870-4107-ADD2-84E250C10124}"/>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Seven features, one connected platform</a:t>
            </a:r>
          </a:p>
        </p:txBody>
      </p:sp>
      <p:sp>
        <p:nvSpPr>
          <p:cNvPr id="3" name="Rectangle 2">
            <a:extLst>
              <a:ext uri="{FF2B5EF4-FFF2-40B4-BE49-F238E27FC236}">
                <a16:creationId xmlns:a16="http://schemas.microsoft.com/office/drawing/2014/main" id="{BDF32517-2592-480E-9940-8B24DE8544F9}"/>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597D66B5-D37D-4A73-9591-6A9E384DCB50}"/>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978648C7-4752-46F4-A517-CBBFF6C80B5E}"/>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07</a:t>
            </a:r>
          </a:p>
        </p:txBody>
      </p:sp>
      <p:sp>
        <p:nvSpPr>
          <p:cNvPr id="6" name="Rectangle 5">
            <a:extLst>
              <a:ext uri="{FF2B5EF4-FFF2-40B4-BE49-F238E27FC236}">
                <a16:creationId xmlns:a16="http://schemas.microsoft.com/office/drawing/2014/main" id="{2227F3C3-247D-4721-8D60-42CECAF360CB}"/>
              </a:ext>
            </a:extLst>
          </p:cNvPr>
          <p:cNvSpPr>
            <a:spLocks noGrp="1"/>
          </p:cNvSpPr>
          <p:nvPr/>
        </p:nvSpPr>
        <p:spPr>
          <a:xfrm>
            <a:off x="609600" y="1447800"/>
            <a:ext cx="10287000" cy="476250"/>
          </a:xfrm>
          <a:prstGeom prst="rect">
            <a:avLst/>
          </a:prstGeom>
          <a:noFill/>
          <a:ln w="0">
            <a:noFill/>
          </a:ln>
        </p:spPr>
        <p:txBody>
          <a:bodyPr anchor="ctr">
            <a:normAutofit/>
          </a:bodyPr>
          <a:lstStyle/>
          <a:p>
            <a:pPr algn="l">
              <a:defRPr sz="1875" b="0" i="0">
                <a:solidFill>
                  <a:srgbClr val="677572"/>
                </a:solidFill>
                <a:latin typeface="Arial"/>
                <a:ea typeface="Arial"/>
                <a:cs typeface="Arial"/>
              </a:defRPr>
            </a:pPr>
            <a:r>
              <a:rPr sz="1875" b="0" i="0">
                <a:solidFill>
                  <a:srgbClr val="677572"/>
                </a:solidFill>
                <a:latin typeface="Arial"/>
                <a:ea typeface="Arial"/>
                <a:cs typeface="Arial"/>
              </a:rPr>
              <a:t>Each feature supports the same goal: informed responses with greater emotional awareness.</a:t>
            </a:r>
          </a:p>
        </p:txBody>
      </p:sp>
      <p:sp>
        <p:nvSpPr>
          <p:cNvPr id="7" name="Rectangle 6">
            <a:extLst>
              <a:ext uri="{FF2B5EF4-FFF2-40B4-BE49-F238E27FC236}">
                <a16:creationId xmlns:a16="http://schemas.microsoft.com/office/drawing/2014/main" id="{57DB402C-9427-443F-A679-29E989763F8A}"/>
              </a:ext>
            </a:extLst>
          </p:cNvPr>
          <p:cNvSpPr>
            <a:spLocks noGrp="1"/>
          </p:cNvSpPr>
          <p:nvPr/>
        </p:nvSpPr>
        <p:spPr>
          <a:xfrm>
            <a:off x="685800" y="2209800"/>
            <a:ext cx="3143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UNDERSTAND CONTENT</a:t>
            </a:r>
          </a:p>
        </p:txBody>
      </p:sp>
      <p:sp>
        <p:nvSpPr>
          <p:cNvPr id="8" name="Rectangle 7">
            <a:extLst>
              <a:ext uri="{FF2B5EF4-FFF2-40B4-BE49-F238E27FC236}">
                <a16:creationId xmlns:a16="http://schemas.microsoft.com/office/drawing/2014/main" id="{82D7E0F1-9121-4D98-A5BA-A7DA85C3C252}"/>
              </a:ext>
            </a:extLst>
          </p:cNvPr>
          <p:cNvSpPr>
            <a:spLocks noGrp="1"/>
          </p:cNvSpPr>
          <p:nvPr/>
        </p:nvSpPr>
        <p:spPr>
          <a:xfrm>
            <a:off x="685800" y="26860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01  Misinformation detector</a:t>
            </a:r>
          </a:p>
        </p:txBody>
      </p:sp>
      <p:sp>
        <p:nvSpPr>
          <p:cNvPr id="9" name="Rectangle 8">
            <a:extLst>
              <a:ext uri="{FF2B5EF4-FFF2-40B4-BE49-F238E27FC236}">
                <a16:creationId xmlns:a16="http://schemas.microsoft.com/office/drawing/2014/main" id="{605F957C-C04A-40D8-A584-4C68E8E898F9}"/>
              </a:ext>
            </a:extLst>
          </p:cNvPr>
          <p:cNvSpPr>
            <a:spLocks noGrp="1"/>
          </p:cNvSpPr>
          <p:nvPr/>
        </p:nvSpPr>
        <p:spPr>
          <a:xfrm>
            <a:off x="685800" y="31146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Explains claim and persuasion signals with uncertainty.</a:t>
            </a:r>
          </a:p>
        </p:txBody>
      </p:sp>
      <p:sp>
        <p:nvSpPr>
          <p:cNvPr id="10" name="Rectangle 9">
            <a:extLst>
              <a:ext uri="{FF2B5EF4-FFF2-40B4-BE49-F238E27FC236}">
                <a16:creationId xmlns:a16="http://schemas.microsoft.com/office/drawing/2014/main" id="{47871AEA-7105-4BB0-BCD0-20E9F061A1E1}"/>
              </a:ext>
            </a:extLst>
          </p:cNvPr>
          <p:cNvSpPr>
            <a:spLocks noGrp="1"/>
          </p:cNvSpPr>
          <p:nvPr/>
        </p:nvSpPr>
        <p:spPr>
          <a:xfrm>
            <a:off x="685800" y="3600450"/>
            <a:ext cx="3048000" cy="9525"/>
          </a:xfrm>
          <a:prstGeom prst="rect">
            <a:avLst/>
          </a:prstGeom>
          <a:solidFill>
            <a:srgbClr val="D8DED3"/>
          </a:solidFill>
          <a:ln w="0">
            <a:noFill/>
          </a:ln>
        </p:spPr>
        <p:txBody>
          <a:bodyPr/>
          <a:lstStyle/>
          <a:p>
            <a:endParaRPr lang="ar-LY"/>
          </a:p>
        </p:txBody>
      </p:sp>
      <p:sp>
        <p:nvSpPr>
          <p:cNvPr id="11" name="Rectangle 10">
            <a:extLst>
              <a:ext uri="{FF2B5EF4-FFF2-40B4-BE49-F238E27FC236}">
                <a16:creationId xmlns:a16="http://schemas.microsoft.com/office/drawing/2014/main" id="{3FBB88E1-D638-4AE3-A907-D682ECF00BF9}"/>
              </a:ext>
            </a:extLst>
          </p:cNvPr>
          <p:cNvSpPr>
            <a:spLocks noGrp="1"/>
          </p:cNvSpPr>
          <p:nvPr/>
        </p:nvSpPr>
        <p:spPr>
          <a:xfrm>
            <a:off x="685800" y="36766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02  Source checker</a:t>
            </a:r>
          </a:p>
        </p:txBody>
      </p:sp>
      <p:sp>
        <p:nvSpPr>
          <p:cNvPr id="12" name="Rectangle 11">
            <a:extLst>
              <a:ext uri="{FF2B5EF4-FFF2-40B4-BE49-F238E27FC236}">
                <a16:creationId xmlns:a16="http://schemas.microsoft.com/office/drawing/2014/main" id="{D8D224E7-851F-43D0-84B4-25F16062FABB}"/>
              </a:ext>
            </a:extLst>
          </p:cNvPr>
          <p:cNvSpPr>
            <a:spLocks noGrp="1"/>
          </p:cNvSpPr>
          <p:nvPr/>
        </p:nvSpPr>
        <p:spPr>
          <a:xfrm>
            <a:off x="685800" y="41052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Surfaces source cues and points to trusted references.</a:t>
            </a:r>
          </a:p>
        </p:txBody>
      </p:sp>
      <p:sp>
        <p:nvSpPr>
          <p:cNvPr id="13" name="Rectangle 12">
            <a:extLst>
              <a:ext uri="{FF2B5EF4-FFF2-40B4-BE49-F238E27FC236}">
                <a16:creationId xmlns:a16="http://schemas.microsoft.com/office/drawing/2014/main" id="{D0147CBC-49E3-4C45-9367-338BA6919D1F}"/>
              </a:ext>
            </a:extLst>
          </p:cNvPr>
          <p:cNvSpPr>
            <a:spLocks noGrp="1"/>
          </p:cNvSpPr>
          <p:nvPr/>
        </p:nvSpPr>
        <p:spPr>
          <a:xfrm>
            <a:off x="685800" y="4591050"/>
            <a:ext cx="3048000" cy="9525"/>
          </a:xfrm>
          <a:prstGeom prst="rect">
            <a:avLst/>
          </a:prstGeom>
          <a:solidFill>
            <a:srgbClr val="D8DED3"/>
          </a:solidFill>
          <a:ln w="0">
            <a:noFill/>
          </a:ln>
        </p:spPr>
        <p:txBody>
          <a:bodyPr/>
          <a:lstStyle/>
          <a:p>
            <a:endParaRPr lang="ar-LY"/>
          </a:p>
        </p:txBody>
      </p:sp>
      <p:sp>
        <p:nvSpPr>
          <p:cNvPr id="14" name="Rectangle 13">
            <a:extLst>
              <a:ext uri="{FF2B5EF4-FFF2-40B4-BE49-F238E27FC236}">
                <a16:creationId xmlns:a16="http://schemas.microsoft.com/office/drawing/2014/main" id="{12D5A809-9E27-4D06-8BBC-5C3A98567FCE}"/>
              </a:ext>
            </a:extLst>
          </p:cNvPr>
          <p:cNvSpPr>
            <a:spLocks noGrp="1"/>
          </p:cNvSpPr>
          <p:nvPr/>
        </p:nvSpPr>
        <p:spPr>
          <a:xfrm>
            <a:off x="685800" y="46672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03  Post simulator</a:t>
            </a:r>
          </a:p>
        </p:txBody>
      </p:sp>
      <p:sp>
        <p:nvSpPr>
          <p:cNvPr id="15" name="Rectangle 14">
            <a:extLst>
              <a:ext uri="{FF2B5EF4-FFF2-40B4-BE49-F238E27FC236}">
                <a16:creationId xmlns:a16="http://schemas.microsoft.com/office/drawing/2014/main" id="{CA570184-0342-4C19-9E36-AD8DB0607C80}"/>
              </a:ext>
            </a:extLst>
          </p:cNvPr>
          <p:cNvSpPr>
            <a:spLocks noGrp="1"/>
          </p:cNvSpPr>
          <p:nvPr/>
        </p:nvSpPr>
        <p:spPr>
          <a:xfrm>
            <a:off x="685800" y="50958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Lets users practice spotting misleading techniques.</a:t>
            </a:r>
          </a:p>
        </p:txBody>
      </p:sp>
      <p:sp>
        <p:nvSpPr>
          <p:cNvPr id="16" name="Rectangle 15">
            <a:extLst>
              <a:ext uri="{FF2B5EF4-FFF2-40B4-BE49-F238E27FC236}">
                <a16:creationId xmlns:a16="http://schemas.microsoft.com/office/drawing/2014/main" id="{B98F7C8B-BEFD-4324-9416-36932C62A56B}"/>
              </a:ext>
            </a:extLst>
          </p:cNvPr>
          <p:cNvSpPr>
            <a:spLocks noGrp="1"/>
          </p:cNvSpPr>
          <p:nvPr/>
        </p:nvSpPr>
        <p:spPr>
          <a:xfrm>
            <a:off x="685800" y="5581650"/>
            <a:ext cx="3048000" cy="9525"/>
          </a:xfrm>
          <a:prstGeom prst="rect">
            <a:avLst/>
          </a:prstGeom>
          <a:solidFill>
            <a:srgbClr val="D8DED3"/>
          </a:solidFill>
          <a:ln w="0">
            <a:noFill/>
          </a:ln>
        </p:spPr>
        <p:txBody>
          <a:bodyPr/>
          <a:lstStyle/>
          <a:p>
            <a:endParaRPr lang="ar-LY"/>
          </a:p>
        </p:txBody>
      </p:sp>
      <p:sp>
        <p:nvSpPr>
          <p:cNvPr id="17" name="Rectangle 16">
            <a:extLst>
              <a:ext uri="{FF2B5EF4-FFF2-40B4-BE49-F238E27FC236}">
                <a16:creationId xmlns:a16="http://schemas.microsoft.com/office/drawing/2014/main" id="{033ACE0B-225B-4E71-912B-899A63659CBC}"/>
              </a:ext>
            </a:extLst>
          </p:cNvPr>
          <p:cNvSpPr>
            <a:spLocks noGrp="1"/>
          </p:cNvSpPr>
          <p:nvPr/>
        </p:nvSpPr>
        <p:spPr>
          <a:xfrm>
            <a:off x="4495800" y="2209800"/>
            <a:ext cx="3143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NOTICE AND RESPOND</a:t>
            </a:r>
          </a:p>
        </p:txBody>
      </p:sp>
      <p:sp>
        <p:nvSpPr>
          <p:cNvPr id="18" name="Rectangle 17">
            <a:extLst>
              <a:ext uri="{FF2B5EF4-FFF2-40B4-BE49-F238E27FC236}">
                <a16:creationId xmlns:a16="http://schemas.microsoft.com/office/drawing/2014/main" id="{0AFEBDB5-DCCE-438E-969E-12DA29F66963}"/>
              </a:ext>
            </a:extLst>
          </p:cNvPr>
          <p:cNvSpPr>
            <a:spLocks noGrp="1"/>
          </p:cNvSpPr>
          <p:nvPr/>
        </p:nvSpPr>
        <p:spPr>
          <a:xfrm>
            <a:off x="4495800" y="2686050"/>
            <a:ext cx="3143250" cy="419100"/>
          </a:xfrm>
          <a:prstGeom prst="rect">
            <a:avLst/>
          </a:prstGeom>
          <a:noFill/>
          <a:ln w="0">
            <a:noFill/>
          </a:ln>
        </p:spPr>
        <p:txBody>
          <a:bodyPr anchor="ctr">
            <a:normAutofit fontScale="96122"/>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04  Psychological impact analyzer</a:t>
            </a:r>
          </a:p>
        </p:txBody>
      </p:sp>
      <p:sp>
        <p:nvSpPr>
          <p:cNvPr id="19" name="Rectangle 18">
            <a:extLst>
              <a:ext uri="{FF2B5EF4-FFF2-40B4-BE49-F238E27FC236}">
                <a16:creationId xmlns:a16="http://schemas.microsoft.com/office/drawing/2014/main" id="{A372C58F-4177-41C2-8047-063F0C7DC94D}"/>
              </a:ext>
            </a:extLst>
          </p:cNvPr>
          <p:cNvSpPr>
            <a:spLocks noGrp="1"/>
          </p:cNvSpPr>
          <p:nvPr/>
        </p:nvSpPr>
        <p:spPr>
          <a:xfrm>
            <a:off x="4495800" y="31146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Connects content with user-reported feelings.</a:t>
            </a:r>
          </a:p>
        </p:txBody>
      </p:sp>
      <p:sp>
        <p:nvSpPr>
          <p:cNvPr id="20" name="Rectangle 19">
            <a:extLst>
              <a:ext uri="{FF2B5EF4-FFF2-40B4-BE49-F238E27FC236}">
                <a16:creationId xmlns:a16="http://schemas.microsoft.com/office/drawing/2014/main" id="{50213D6B-DB92-4A39-9299-2772EAEB786E}"/>
              </a:ext>
            </a:extLst>
          </p:cNvPr>
          <p:cNvSpPr>
            <a:spLocks noGrp="1"/>
          </p:cNvSpPr>
          <p:nvPr/>
        </p:nvSpPr>
        <p:spPr>
          <a:xfrm>
            <a:off x="4495800" y="3600450"/>
            <a:ext cx="3048000" cy="9525"/>
          </a:xfrm>
          <a:prstGeom prst="rect">
            <a:avLst/>
          </a:prstGeom>
          <a:solidFill>
            <a:srgbClr val="D8DED3"/>
          </a:solidFill>
          <a:ln w="0">
            <a:noFill/>
          </a:ln>
        </p:spPr>
        <p:txBody>
          <a:bodyPr/>
          <a:lstStyle/>
          <a:p>
            <a:endParaRPr lang="ar-LY"/>
          </a:p>
        </p:txBody>
      </p:sp>
      <p:sp>
        <p:nvSpPr>
          <p:cNvPr id="21" name="Rectangle 20">
            <a:extLst>
              <a:ext uri="{FF2B5EF4-FFF2-40B4-BE49-F238E27FC236}">
                <a16:creationId xmlns:a16="http://schemas.microsoft.com/office/drawing/2014/main" id="{4C19BA7F-0BB9-4D37-AC11-96267E89836E}"/>
              </a:ext>
            </a:extLst>
          </p:cNvPr>
          <p:cNvSpPr>
            <a:spLocks noGrp="1"/>
          </p:cNvSpPr>
          <p:nvPr/>
        </p:nvSpPr>
        <p:spPr>
          <a:xfrm>
            <a:off x="4495800" y="36766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05  Mood and media tracker</a:t>
            </a:r>
          </a:p>
        </p:txBody>
      </p:sp>
      <p:sp>
        <p:nvSpPr>
          <p:cNvPr id="22" name="Rectangle 21">
            <a:extLst>
              <a:ext uri="{FF2B5EF4-FFF2-40B4-BE49-F238E27FC236}">
                <a16:creationId xmlns:a16="http://schemas.microsoft.com/office/drawing/2014/main" id="{A7E2FCB5-07E0-4EB5-8861-2B3894A06F46}"/>
              </a:ext>
            </a:extLst>
          </p:cNvPr>
          <p:cNvSpPr>
            <a:spLocks noGrp="1"/>
          </p:cNvSpPr>
          <p:nvPr/>
        </p:nvSpPr>
        <p:spPr>
          <a:xfrm>
            <a:off x="4495800" y="41052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Shows opt-in patterns and suggests a media break.</a:t>
            </a:r>
          </a:p>
        </p:txBody>
      </p:sp>
      <p:sp>
        <p:nvSpPr>
          <p:cNvPr id="23" name="Rectangle 22">
            <a:extLst>
              <a:ext uri="{FF2B5EF4-FFF2-40B4-BE49-F238E27FC236}">
                <a16:creationId xmlns:a16="http://schemas.microsoft.com/office/drawing/2014/main" id="{1D0C0DCB-4AB3-43BF-A9A4-415D25066971}"/>
              </a:ext>
            </a:extLst>
          </p:cNvPr>
          <p:cNvSpPr>
            <a:spLocks noGrp="1"/>
          </p:cNvSpPr>
          <p:nvPr/>
        </p:nvSpPr>
        <p:spPr>
          <a:xfrm>
            <a:off x="4495800" y="4591050"/>
            <a:ext cx="3048000" cy="9525"/>
          </a:xfrm>
          <a:prstGeom prst="rect">
            <a:avLst/>
          </a:prstGeom>
          <a:solidFill>
            <a:srgbClr val="D8DED3"/>
          </a:solidFill>
          <a:ln w="0">
            <a:noFill/>
          </a:ln>
        </p:spPr>
        <p:txBody>
          <a:bodyPr/>
          <a:lstStyle/>
          <a:p>
            <a:endParaRPr lang="ar-LY"/>
          </a:p>
        </p:txBody>
      </p:sp>
      <p:sp>
        <p:nvSpPr>
          <p:cNvPr id="24" name="Rectangle 23">
            <a:extLst>
              <a:ext uri="{FF2B5EF4-FFF2-40B4-BE49-F238E27FC236}">
                <a16:creationId xmlns:a16="http://schemas.microsoft.com/office/drawing/2014/main" id="{406AFC1E-D203-4509-A8D8-3EB7A02F51F8}"/>
              </a:ext>
            </a:extLst>
          </p:cNvPr>
          <p:cNvSpPr>
            <a:spLocks noGrp="1"/>
          </p:cNvSpPr>
          <p:nvPr/>
        </p:nvSpPr>
        <p:spPr>
          <a:xfrm>
            <a:off x="4495800" y="46672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06  Hate-speech response coach</a:t>
            </a:r>
          </a:p>
        </p:txBody>
      </p:sp>
      <p:sp>
        <p:nvSpPr>
          <p:cNvPr id="25" name="Rectangle 24">
            <a:extLst>
              <a:ext uri="{FF2B5EF4-FFF2-40B4-BE49-F238E27FC236}">
                <a16:creationId xmlns:a16="http://schemas.microsoft.com/office/drawing/2014/main" id="{E3F25FE9-8F0A-40E7-8CB0-94F7A2ADA2D5}"/>
              </a:ext>
            </a:extLst>
          </p:cNvPr>
          <p:cNvSpPr>
            <a:spLocks noGrp="1"/>
          </p:cNvSpPr>
          <p:nvPr/>
        </p:nvSpPr>
        <p:spPr>
          <a:xfrm>
            <a:off x="4495800" y="50958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Offers ways to respond calmly or disengage.</a:t>
            </a:r>
          </a:p>
        </p:txBody>
      </p:sp>
      <p:sp>
        <p:nvSpPr>
          <p:cNvPr id="26" name="Rectangle 25">
            <a:extLst>
              <a:ext uri="{FF2B5EF4-FFF2-40B4-BE49-F238E27FC236}">
                <a16:creationId xmlns:a16="http://schemas.microsoft.com/office/drawing/2014/main" id="{0AE4FD03-3FF7-4E13-A47D-2C589A27FC96}"/>
              </a:ext>
            </a:extLst>
          </p:cNvPr>
          <p:cNvSpPr>
            <a:spLocks noGrp="1"/>
          </p:cNvSpPr>
          <p:nvPr/>
        </p:nvSpPr>
        <p:spPr>
          <a:xfrm>
            <a:off x="4495800" y="5581650"/>
            <a:ext cx="3048000" cy="9525"/>
          </a:xfrm>
          <a:prstGeom prst="rect">
            <a:avLst/>
          </a:prstGeom>
          <a:solidFill>
            <a:srgbClr val="D8DED3"/>
          </a:solidFill>
          <a:ln w="0">
            <a:noFill/>
          </a:ln>
        </p:spPr>
        <p:txBody>
          <a:bodyPr/>
          <a:lstStyle/>
          <a:p>
            <a:endParaRPr lang="ar-LY"/>
          </a:p>
        </p:txBody>
      </p:sp>
      <p:sp>
        <p:nvSpPr>
          <p:cNvPr id="27" name="Rectangle 26">
            <a:extLst>
              <a:ext uri="{FF2B5EF4-FFF2-40B4-BE49-F238E27FC236}">
                <a16:creationId xmlns:a16="http://schemas.microsoft.com/office/drawing/2014/main" id="{9D9AC04D-89F2-4BF4-AD10-0A8F5CFFA221}"/>
              </a:ext>
            </a:extLst>
          </p:cNvPr>
          <p:cNvSpPr>
            <a:spLocks noGrp="1"/>
          </p:cNvSpPr>
          <p:nvPr/>
        </p:nvSpPr>
        <p:spPr>
          <a:xfrm>
            <a:off x="8305800" y="2209800"/>
            <a:ext cx="3143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LIBYAN ARABIC SUPPORT</a:t>
            </a:r>
          </a:p>
        </p:txBody>
      </p:sp>
      <p:sp>
        <p:nvSpPr>
          <p:cNvPr id="28" name="Rectangle 27">
            <a:extLst>
              <a:ext uri="{FF2B5EF4-FFF2-40B4-BE49-F238E27FC236}">
                <a16:creationId xmlns:a16="http://schemas.microsoft.com/office/drawing/2014/main" id="{CAE5E01F-6D41-4BC4-836A-0B45BD352284}"/>
              </a:ext>
            </a:extLst>
          </p:cNvPr>
          <p:cNvSpPr>
            <a:spLocks noGrp="1"/>
          </p:cNvSpPr>
          <p:nvPr/>
        </p:nvSpPr>
        <p:spPr>
          <a:xfrm>
            <a:off x="8305800" y="2686050"/>
            <a:ext cx="3143250" cy="419100"/>
          </a:xfrm>
          <a:prstGeom prst="rect">
            <a:avLst/>
          </a:prstGeom>
          <a:noFill/>
          <a:ln w="0">
            <a:noFill/>
          </a:ln>
        </p:spPr>
        <p:txBody>
          <a:bodyPr anchor="ctr">
            <a:normAutofit fontScale="93662"/>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07  Story companion, “Al-Hakeem”</a:t>
            </a:r>
          </a:p>
        </p:txBody>
      </p:sp>
      <p:sp>
        <p:nvSpPr>
          <p:cNvPr id="29" name="Rectangle 28">
            <a:extLst>
              <a:ext uri="{FF2B5EF4-FFF2-40B4-BE49-F238E27FC236}">
                <a16:creationId xmlns:a16="http://schemas.microsoft.com/office/drawing/2014/main" id="{171E55B9-0692-4590-BA71-B8D95DFE44BA}"/>
              </a:ext>
            </a:extLst>
          </p:cNvPr>
          <p:cNvSpPr>
            <a:spLocks noGrp="1"/>
          </p:cNvSpPr>
          <p:nvPr/>
        </p:nvSpPr>
        <p:spPr>
          <a:xfrm>
            <a:off x="8305800" y="31146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Uses reviewed Libyan Arabic stories for reflection.</a:t>
            </a:r>
          </a:p>
        </p:txBody>
      </p:sp>
      <p:sp>
        <p:nvSpPr>
          <p:cNvPr id="30" name="Rectangle 29">
            <a:extLst>
              <a:ext uri="{FF2B5EF4-FFF2-40B4-BE49-F238E27FC236}">
                <a16:creationId xmlns:a16="http://schemas.microsoft.com/office/drawing/2014/main" id="{E9F4984A-D1B3-4CF2-A17F-61D9C86F9A31}"/>
              </a:ext>
            </a:extLst>
          </p:cNvPr>
          <p:cNvSpPr>
            <a:spLocks noGrp="1"/>
          </p:cNvSpPr>
          <p:nvPr/>
        </p:nvSpPr>
        <p:spPr>
          <a:xfrm>
            <a:off x="8305800" y="3600450"/>
            <a:ext cx="3048000" cy="9525"/>
          </a:xfrm>
          <a:prstGeom prst="rect">
            <a:avLst/>
          </a:prstGeom>
          <a:solidFill>
            <a:srgbClr val="D8DED3"/>
          </a:solidFill>
          <a:ln w="0">
            <a:noFill/>
          </a:ln>
        </p:spPr>
        <p:txBody>
          <a:bodyPr/>
          <a:lstStyle/>
          <a:p>
            <a:endParaRPr lang="ar-LY"/>
          </a:p>
        </p:txBody>
      </p:sp>
      <p:sp>
        <p:nvSpPr>
          <p:cNvPr id="31" name="Rectangle 30">
            <a:extLst>
              <a:ext uri="{FF2B5EF4-FFF2-40B4-BE49-F238E27FC236}">
                <a16:creationId xmlns:a16="http://schemas.microsoft.com/office/drawing/2014/main" id="{F4D240E9-4569-457D-8BE3-2073A4DAC876}"/>
              </a:ext>
            </a:extLst>
          </p:cNvPr>
          <p:cNvSpPr>
            <a:spLocks noGrp="1"/>
          </p:cNvSpPr>
          <p:nvPr/>
        </p:nvSpPr>
        <p:spPr>
          <a:xfrm>
            <a:off x="685800" y="5810250"/>
            <a:ext cx="10382250" cy="247650"/>
          </a:xfrm>
          <a:prstGeom prst="rect">
            <a:avLst/>
          </a:prstGeom>
          <a:noFill/>
          <a:ln w="0">
            <a:noFill/>
          </a:ln>
        </p:spPr>
        <p:txBody>
          <a:bodyPr anchor="ctr">
            <a:normAutofit fontScale="85417"/>
          </a:bodyPr>
          <a:lstStyle/>
          <a:p>
            <a:pPr algn="l">
              <a:defRPr sz="1200" b="0" i="1">
                <a:solidFill>
                  <a:srgbClr val="677572"/>
                </a:solidFill>
                <a:latin typeface="Arial"/>
                <a:ea typeface="Arial"/>
                <a:cs typeface="Arial"/>
              </a:defRPr>
            </a:pPr>
            <a:r>
              <a:rPr sz="1200" b="0" i="1">
                <a:solidFill>
                  <a:srgbClr val="677572"/>
                </a:solidFill>
                <a:latin typeface="Arial"/>
                <a:ea typeface="Arial"/>
                <a:cs typeface="Arial"/>
              </a:rPr>
              <a:t>Local reviewers guide language, examples, and resources across all seven features.</a:t>
            </a:r>
          </a:p>
        </p:txBody>
      </p:sp>
    </p:spTree>
    <p:extLst>
      <p:ext uri="{BB962C8B-B14F-4D97-AF65-F5344CB8AC3E}">
        <p14:creationId xmlns:p14="http://schemas.microsoft.com/office/powerpoint/2010/main" val="1561881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B2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7CEEA3C-2403-4FEB-A852-1B1342DC69BD}"/>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B7C78A"/>
                </a:solidFill>
                <a:latin typeface="Arial"/>
                <a:ea typeface="Arial"/>
                <a:cs typeface="Arial"/>
              </a:defRPr>
            </a:pPr>
            <a:r>
              <a:rPr sz="975" b="1" i="0">
                <a:solidFill>
                  <a:srgbClr val="B7C78A"/>
                </a:solidFill>
                <a:latin typeface="Arial"/>
                <a:ea typeface="Arial"/>
                <a:cs typeface="Arial"/>
              </a:rPr>
              <a:t>TAWAZUN  /  MEDIA WELLBEING</a:t>
            </a:r>
          </a:p>
        </p:txBody>
      </p:sp>
      <p:sp>
        <p:nvSpPr>
          <p:cNvPr id="2" name="Rectangle 1">
            <a:extLst>
              <a:ext uri="{FF2B5EF4-FFF2-40B4-BE49-F238E27FC236}">
                <a16:creationId xmlns:a16="http://schemas.microsoft.com/office/drawing/2014/main" id="{B50FCECA-0EED-4CBE-A701-FAC4377AE017}"/>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FFFFFF"/>
                </a:solidFill>
                <a:latin typeface="Arial"/>
                <a:ea typeface="Arial"/>
                <a:cs typeface="Arial"/>
              </a:defRPr>
            </a:pPr>
            <a:r>
              <a:rPr sz="2850" b="1" i="0">
                <a:solidFill>
                  <a:srgbClr val="FFFFFF"/>
                </a:solidFill>
                <a:latin typeface="Arial"/>
                <a:ea typeface="Arial"/>
                <a:cs typeface="Arial"/>
              </a:rPr>
              <a:t>AI’s role and safety boundaries</a:t>
            </a:r>
          </a:p>
        </p:txBody>
      </p:sp>
      <p:sp>
        <p:nvSpPr>
          <p:cNvPr id="3" name="Rectangle 2">
            <a:extLst>
              <a:ext uri="{FF2B5EF4-FFF2-40B4-BE49-F238E27FC236}">
                <a16:creationId xmlns:a16="http://schemas.microsoft.com/office/drawing/2014/main" id="{1132D3F9-0297-40E7-88AB-9B3C7932F262}"/>
              </a:ext>
            </a:extLst>
          </p:cNvPr>
          <p:cNvSpPr>
            <a:spLocks noGrp="1"/>
          </p:cNvSpPr>
          <p:nvPr/>
        </p:nvSpPr>
        <p:spPr>
          <a:xfrm>
            <a:off x="609600" y="6334125"/>
            <a:ext cx="10972800" cy="9525"/>
          </a:xfrm>
          <a:prstGeom prst="rect">
            <a:avLst/>
          </a:prstGeom>
          <a:solidFill>
            <a:srgbClr val="48605B"/>
          </a:solidFill>
          <a:ln w="0">
            <a:noFill/>
          </a:ln>
        </p:spPr>
        <p:txBody>
          <a:bodyPr/>
          <a:lstStyle/>
          <a:p>
            <a:endParaRPr lang="ar-LY"/>
          </a:p>
        </p:txBody>
      </p:sp>
      <p:sp>
        <p:nvSpPr>
          <p:cNvPr id="4" name="Rectangle 3">
            <a:extLst>
              <a:ext uri="{FF2B5EF4-FFF2-40B4-BE49-F238E27FC236}">
                <a16:creationId xmlns:a16="http://schemas.microsoft.com/office/drawing/2014/main" id="{320ECF9A-0B97-41F2-B3EF-3F51D8D573CA}"/>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C5D0C8"/>
                </a:solidFill>
                <a:latin typeface="Arial"/>
                <a:ea typeface="Arial"/>
                <a:cs typeface="Arial"/>
              </a:defRPr>
            </a:pPr>
            <a:r>
              <a:rPr sz="900" b="1" i="0">
                <a:solidFill>
                  <a:srgbClr val="C5D0C8"/>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65738595-D44A-402A-9088-4336793A57EB}"/>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C5D0C8"/>
                </a:solidFill>
                <a:latin typeface="Arial"/>
                <a:ea typeface="Arial"/>
                <a:cs typeface="Arial"/>
              </a:defRPr>
            </a:pPr>
            <a:r>
              <a:rPr sz="900" b="1" i="0">
                <a:solidFill>
                  <a:srgbClr val="C5D0C8"/>
                </a:solidFill>
                <a:latin typeface="Arial"/>
                <a:ea typeface="Arial"/>
                <a:cs typeface="Arial"/>
              </a:rPr>
              <a:t>08</a:t>
            </a:r>
          </a:p>
        </p:txBody>
      </p:sp>
      <p:sp>
        <p:nvSpPr>
          <p:cNvPr id="6" name="Rectangle 5">
            <a:extLst>
              <a:ext uri="{FF2B5EF4-FFF2-40B4-BE49-F238E27FC236}">
                <a16:creationId xmlns:a16="http://schemas.microsoft.com/office/drawing/2014/main" id="{F588B744-A6F2-4386-8577-1E64BB2F5918}"/>
              </a:ext>
            </a:extLst>
          </p:cNvPr>
          <p:cNvSpPr>
            <a:spLocks noGrp="1"/>
          </p:cNvSpPr>
          <p:nvPr/>
        </p:nvSpPr>
        <p:spPr>
          <a:xfrm>
            <a:off x="685800" y="1571625"/>
            <a:ext cx="4000500" cy="400050"/>
          </a:xfrm>
          <a:prstGeom prst="rect">
            <a:avLst/>
          </a:prstGeom>
          <a:noFill/>
          <a:ln w="0">
            <a:noFill/>
          </a:ln>
        </p:spPr>
        <p:txBody>
          <a:bodyPr anchor="ctr">
            <a:normAutofit/>
          </a:bodyPr>
          <a:lstStyle/>
          <a:p>
            <a:pPr algn="l">
              <a:defRPr sz="1500" b="1" i="0">
                <a:solidFill>
                  <a:srgbClr val="B7C78A"/>
                </a:solidFill>
                <a:latin typeface="Arial"/>
                <a:ea typeface="Arial"/>
                <a:cs typeface="Arial"/>
              </a:defRPr>
            </a:pPr>
            <a:r>
              <a:rPr sz="1500" b="1" i="0">
                <a:solidFill>
                  <a:srgbClr val="B7C78A"/>
                </a:solidFill>
                <a:latin typeface="Arial"/>
                <a:ea typeface="Arial"/>
                <a:cs typeface="Arial"/>
              </a:rPr>
              <a:t>AI can</a:t>
            </a:r>
          </a:p>
        </p:txBody>
      </p:sp>
      <p:sp>
        <p:nvSpPr>
          <p:cNvPr id="7" name="Rectangle 6">
            <a:extLst>
              <a:ext uri="{FF2B5EF4-FFF2-40B4-BE49-F238E27FC236}">
                <a16:creationId xmlns:a16="http://schemas.microsoft.com/office/drawing/2014/main" id="{D9F4A445-4A5B-4045-B346-D46D83140E50}"/>
              </a:ext>
            </a:extLst>
          </p:cNvPr>
          <p:cNvSpPr>
            <a:spLocks noGrp="1"/>
          </p:cNvSpPr>
          <p:nvPr/>
        </p:nvSpPr>
        <p:spPr>
          <a:xfrm>
            <a:off x="685800" y="2114550"/>
            <a:ext cx="4667250" cy="2238375"/>
          </a:xfrm>
          <a:prstGeom prst="rect">
            <a:avLst/>
          </a:prstGeom>
          <a:noFill/>
          <a:ln w="0">
            <a:noFill/>
          </a:ln>
        </p:spPr>
        <p:txBody>
          <a:bodyPr anchor="ctr">
            <a:normAutofit/>
          </a:bodyPr>
          <a:lstStyle/>
          <a:p>
            <a:pPr algn="l">
              <a:defRPr sz="1875" b="0" i="0">
                <a:solidFill>
                  <a:srgbClr val="FFFFFF"/>
                </a:solidFill>
                <a:latin typeface="Arial"/>
                <a:ea typeface="Arial"/>
                <a:cs typeface="Arial"/>
              </a:defRPr>
            </a:pPr>
            <a:r>
              <a:rPr sz="1875" b="0" i="0">
                <a:solidFill>
                  <a:srgbClr val="FFFFFF"/>
                </a:solidFill>
                <a:latin typeface="Arial"/>
                <a:ea typeface="Arial"/>
                <a:cs typeface="Arial"/>
              </a:rPr>
              <a:t>Explain emotional or persuasive techniques in plain language.</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Reflect the feeling a user chooses to share.</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Suggest a reviewed activity or source-checking step.</a:t>
            </a:r>
          </a:p>
        </p:txBody>
      </p:sp>
      <p:sp>
        <p:nvSpPr>
          <p:cNvPr id="8" name="Rectangle 7">
            <a:extLst>
              <a:ext uri="{FF2B5EF4-FFF2-40B4-BE49-F238E27FC236}">
                <a16:creationId xmlns:a16="http://schemas.microsoft.com/office/drawing/2014/main" id="{9DB7D4DD-BA0C-463C-AA2B-EF75FD36F6B2}"/>
              </a:ext>
            </a:extLst>
          </p:cNvPr>
          <p:cNvSpPr>
            <a:spLocks noGrp="1"/>
          </p:cNvSpPr>
          <p:nvPr/>
        </p:nvSpPr>
        <p:spPr>
          <a:xfrm>
            <a:off x="5924550" y="1581150"/>
            <a:ext cx="28575" cy="3476625"/>
          </a:xfrm>
          <a:prstGeom prst="rect">
            <a:avLst/>
          </a:prstGeom>
          <a:solidFill>
            <a:srgbClr val="48605B"/>
          </a:solidFill>
          <a:ln w="0">
            <a:noFill/>
          </a:ln>
        </p:spPr>
        <p:txBody>
          <a:bodyPr/>
          <a:lstStyle/>
          <a:p>
            <a:endParaRPr lang="ar-LY"/>
          </a:p>
        </p:txBody>
      </p:sp>
      <p:sp>
        <p:nvSpPr>
          <p:cNvPr id="9" name="Rectangle 8">
            <a:extLst>
              <a:ext uri="{FF2B5EF4-FFF2-40B4-BE49-F238E27FC236}">
                <a16:creationId xmlns:a16="http://schemas.microsoft.com/office/drawing/2014/main" id="{3E4F46C2-3DEB-4DFA-AABB-ED6F07379E95}"/>
              </a:ext>
            </a:extLst>
          </p:cNvPr>
          <p:cNvSpPr>
            <a:spLocks noGrp="1"/>
          </p:cNvSpPr>
          <p:nvPr/>
        </p:nvSpPr>
        <p:spPr>
          <a:xfrm>
            <a:off x="6496050" y="1571625"/>
            <a:ext cx="4762500" cy="400050"/>
          </a:xfrm>
          <a:prstGeom prst="rect">
            <a:avLst/>
          </a:prstGeom>
          <a:noFill/>
          <a:ln w="0">
            <a:noFill/>
          </a:ln>
        </p:spPr>
        <p:txBody>
          <a:bodyPr anchor="ctr">
            <a:normAutofit/>
          </a:bodyPr>
          <a:lstStyle/>
          <a:p>
            <a:pPr algn="l">
              <a:defRPr sz="1500" b="1" i="0">
                <a:solidFill>
                  <a:srgbClr val="B7C78A"/>
                </a:solidFill>
                <a:latin typeface="Arial"/>
                <a:ea typeface="Arial"/>
                <a:cs typeface="Arial"/>
              </a:defRPr>
            </a:pPr>
            <a:r>
              <a:rPr sz="1500" b="1" i="0">
                <a:solidFill>
                  <a:srgbClr val="B7C78A"/>
                </a:solidFill>
                <a:latin typeface="Arial"/>
                <a:ea typeface="Arial"/>
                <a:cs typeface="Arial"/>
              </a:rPr>
              <a:t>The product should</a:t>
            </a:r>
          </a:p>
        </p:txBody>
      </p:sp>
      <p:sp>
        <p:nvSpPr>
          <p:cNvPr id="10" name="Rectangle 9">
            <a:extLst>
              <a:ext uri="{FF2B5EF4-FFF2-40B4-BE49-F238E27FC236}">
                <a16:creationId xmlns:a16="http://schemas.microsoft.com/office/drawing/2014/main" id="{F78CB89E-CEAD-4812-BFD6-5A3A981C54A9}"/>
              </a:ext>
            </a:extLst>
          </p:cNvPr>
          <p:cNvSpPr>
            <a:spLocks noGrp="1"/>
          </p:cNvSpPr>
          <p:nvPr/>
        </p:nvSpPr>
        <p:spPr>
          <a:xfrm>
            <a:off x="6496050" y="2114550"/>
            <a:ext cx="4857750" cy="2238375"/>
          </a:xfrm>
          <a:prstGeom prst="rect">
            <a:avLst/>
          </a:prstGeom>
          <a:noFill/>
          <a:ln w="0">
            <a:noFill/>
          </a:ln>
        </p:spPr>
        <p:txBody>
          <a:bodyPr anchor="ctr">
            <a:normAutofit/>
          </a:bodyPr>
          <a:lstStyle/>
          <a:p>
            <a:pPr algn="l">
              <a:defRPr sz="1875" b="0" i="0">
                <a:solidFill>
                  <a:srgbClr val="FFFFFF"/>
                </a:solidFill>
                <a:latin typeface="Arial"/>
                <a:ea typeface="Arial"/>
                <a:cs typeface="Arial"/>
              </a:defRPr>
            </a:pPr>
            <a:r>
              <a:rPr sz="1875" b="0" i="0">
                <a:solidFill>
                  <a:srgbClr val="FFFFFF"/>
                </a:solidFill>
                <a:latin typeface="Arial"/>
                <a:ea typeface="Arial"/>
                <a:cs typeface="Arial"/>
              </a:rPr>
              <a:t>Show uncertainty and explain why a signal was flagged.</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Avoid political judgments, diagnoses, or certainty scores.</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Minimize data collection and let users skip or delete.</a:t>
            </a:r>
          </a:p>
        </p:txBody>
      </p:sp>
      <p:sp>
        <p:nvSpPr>
          <p:cNvPr id="11" name="Rectangle 10">
            <a:extLst>
              <a:ext uri="{FF2B5EF4-FFF2-40B4-BE49-F238E27FC236}">
                <a16:creationId xmlns:a16="http://schemas.microsoft.com/office/drawing/2014/main" id="{51B21381-F50B-421C-9DE2-4F8E8C1B1D4A}"/>
              </a:ext>
            </a:extLst>
          </p:cNvPr>
          <p:cNvSpPr>
            <a:spLocks noGrp="1"/>
          </p:cNvSpPr>
          <p:nvPr/>
        </p:nvSpPr>
        <p:spPr>
          <a:xfrm>
            <a:off x="685800" y="5238750"/>
            <a:ext cx="10668000" cy="495300"/>
          </a:xfrm>
          <a:prstGeom prst="rect">
            <a:avLst/>
          </a:prstGeom>
          <a:noFill/>
          <a:ln w="0">
            <a:noFill/>
          </a:ln>
        </p:spPr>
        <p:txBody>
          <a:bodyPr anchor="ctr">
            <a:normAutofit/>
          </a:bodyPr>
          <a:lstStyle/>
          <a:p>
            <a:pPr algn="l">
              <a:defRPr sz="2100" b="1" i="0">
                <a:solidFill>
                  <a:srgbClr val="B7C78A"/>
                </a:solidFill>
                <a:latin typeface="Arial"/>
                <a:ea typeface="Arial"/>
                <a:cs typeface="Arial"/>
              </a:defRPr>
            </a:pPr>
            <a:r>
              <a:rPr sz="2100" b="1" i="0">
                <a:solidFill>
                  <a:srgbClr val="B7C78A"/>
                </a:solidFill>
                <a:latin typeface="Arial"/>
                <a:ea typeface="Arial"/>
                <a:cs typeface="Arial"/>
              </a:rPr>
              <a:t>AI supports reflection. It does not decide what people should believe.</a:t>
            </a:r>
          </a:p>
        </p:txBody>
      </p:sp>
    </p:spTree>
    <p:extLst>
      <p:ext uri="{BB962C8B-B14F-4D97-AF65-F5344CB8AC3E}">
        <p14:creationId xmlns:p14="http://schemas.microsoft.com/office/powerpoint/2010/main" val="1293020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2E522C3-9DA0-415A-A630-377E826084EE}"/>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ABD92095-042E-4F20-AFE2-114FF9513E18}"/>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How the complete system works together</a:t>
            </a:r>
          </a:p>
        </p:txBody>
      </p:sp>
      <p:sp>
        <p:nvSpPr>
          <p:cNvPr id="3" name="Rectangle 2">
            <a:extLst>
              <a:ext uri="{FF2B5EF4-FFF2-40B4-BE49-F238E27FC236}">
                <a16:creationId xmlns:a16="http://schemas.microsoft.com/office/drawing/2014/main" id="{67E5BC80-C6A5-41CC-9B95-1B3B64E52D7A}"/>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B23F2FEF-7533-4471-B863-EF21B7A43621}"/>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866B5576-AF44-416A-986A-B1495122D4BF}"/>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09</a:t>
            </a:r>
          </a:p>
        </p:txBody>
      </p:sp>
      <p:sp>
        <p:nvSpPr>
          <p:cNvPr id="6" name="Rectangle 5">
            <a:extLst>
              <a:ext uri="{FF2B5EF4-FFF2-40B4-BE49-F238E27FC236}">
                <a16:creationId xmlns:a16="http://schemas.microsoft.com/office/drawing/2014/main" id="{02B5FE41-4EFC-423E-B604-99F0E72BBC98}"/>
              </a:ext>
            </a:extLst>
          </p:cNvPr>
          <p:cNvSpPr>
            <a:spLocks noGrp="1"/>
          </p:cNvSpPr>
          <p:nvPr/>
        </p:nvSpPr>
        <p:spPr>
          <a:xfrm>
            <a:off x="685800" y="1466850"/>
            <a:ext cx="10477500" cy="552450"/>
          </a:xfrm>
          <a:prstGeom prst="rect">
            <a:avLst/>
          </a:prstGeom>
          <a:noFill/>
          <a:ln w="0">
            <a:noFill/>
          </a:ln>
        </p:spPr>
        <p:txBody>
          <a:bodyPr anchor="ctr">
            <a:normAutofit fontScale="77783"/>
          </a:bodyPr>
          <a:lstStyle/>
          <a:p>
            <a:pPr algn="l">
              <a:defRPr sz="1950" b="0" i="0">
                <a:solidFill>
                  <a:srgbClr val="677572"/>
                </a:solidFill>
                <a:latin typeface="Arial"/>
                <a:ea typeface="Arial"/>
                <a:cs typeface="Arial"/>
              </a:defRPr>
            </a:pPr>
            <a:r>
              <a:rPr sz="1950" b="0" i="0">
                <a:solidFill>
                  <a:srgbClr val="677572"/>
                </a:solidFill>
                <a:latin typeface="Arial"/>
                <a:ea typeface="Arial"/>
                <a:cs typeface="Arial"/>
              </a:rPr>
              <a:t>One platform brings information analysis, emotional reflection, learning, and response support into the same experience.</a:t>
            </a:r>
          </a:p>
        </p:txBody>
      </p:sp>
      <p:sp>
        <p:nvSpPr>
          <p:cNvPr id="7" name="Rectangle 6">
            <a:extLst>
              <a:ext uri="{FF2B5EF4-FFF2-40B4-BE49-F238E27FC236}">
                <a16:creationId xmlns:a16="http://schemas.microsoft.com/office/drawing/2014/main" id="{5DD4C4F1-30C6-4FB2-B05F-615728AF82D9}"/>
              </a:ext>
            </a:extLst>
          </p:cNvPr>
          <p:cNvSpPr>
            <a:spLocks noGrp="1"/>
          </p:cNvSpPr>
          <p:nvPr/>
        </p:nvSpPr>
        <p:spPr>
          <a:xfrm>
            <a:off x="685800" y="2571750"/>
            <a:ext cx="2381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INPUT</a:t>
            </a:r>
          </a:p>
        </p:txBody>
      </p:sp>
      <p:sp>
        <p:nvSpPr>
          <p:cNvPr id="8" name="Rectangle 7">
            <a:extLst>
              <a:ext uri="{FF2B5EF4-FFF2-40B4-BE49-F238E27FC236}">
                <a16:creationId xmlns:a16="http://schemas.microsoft.com/office/drawing/2014/main" id="{409C611C-FF12-40D9-A167-AE30306189B2}"/>
              </a:ext>
            </a:extLst>
          </p:cNvPr>
          <p:cNvSpPr>
            <a:spLocks noGrp="1"/>
          </p:cNvSpPr>
          <p:nvPr/>
        </p:nvSpPr>
        <p:spPr>
          <a:xfrm>
            <a:off x="685800" y="2962275"/>
            <a:ext cx="224790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92B0748F-7261-423F-AD14-07CF7C0DA3C2}"/>
              </a:ext>
            </a:extLst>
          </p:cNvPr>
          <p:cNvSpPr>
            <a:spLocks noGrp="1"/>
          </p:cNvSpPr>
          <p:nvPr/>
        </p:nvSpPr>
        <p:spPr>
          <a:xfrm>
            <a:off x="6858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Posts, links, or practice examples</a:t>
            </a:r>
          </a:p>
        </p:txBody>
      </p:sp>
      <p:sp>
        <p:nvSpPr>
          <p:cNvPr id="10" name="Rectangle 9">
            <a:extLst>
              <a:ext uri="{FF2B5EF4-FFF2-40B4-BE49-F238E27FC236}">
                <a16:creationId xmlns:a16="http://schemas.microsoft.com/office/drawing/2014/main" id="{B9C20D41-8721-4B11-B558-D4BFA5DD0E2B}"/>
              </a:ext>
            </a:extLst>
          </p:cNvPr>
          <p:cNvSpPr>
            <a:spLocks noGrp="1"/>
          </p:cNvSpPr>
          <p:nvPr/>
        </p:nvSpPr>
        <p:spPr>
          <a:xfrm>
            <a:off x="3429000" y="2571750"/>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AI ANALYSIS</a:t>
            </a:r>
          </a:p>
        </p:txBody>
      </p:sp>
      <p:sp>
        <p:nvSpPr>
          <p:cNvPr id="11" name="Rectangle 10">
            <a:extLst>
              <a:ext uri="{FF2B5EF4-FFF2-40B4-BE49-F238E27FC236}">
                <a16:creationId xmlns:a16="http://schemas.microsoft.com/office/drawing/2014/main" id="{6F6298C3-E736-458B-8070-159B9F70F110}"/>
              </a:ext>
            </a:extLst>
          </p:cNvPr>
          <p:cNvSpPr>
            <a:spLocks noGrp="1"/>
          </p:cNvSpPr>
          <p:nvPr/>
        </p:nvSpPr>
        <p:spPr>
          <a:xfrm>
            <a:off x="3429000" y="2962275"/>
            <a:ext cx="2247900" cy="38100"/>
          </a:xfrm>
          <a:prstGeom prst="rect">
            <a:avLst/>
          </a:prstGeom>
          <a:solidFill>
            <a:srgbClr val="C75A4A"/>
          </a:solidFill>
          <a:ln w="0">
            <a:noFill/>
          </a:ln>
        </p:spPr>
        <p:txBody>
          <a:bodyPr/>
          <a:lstStyle/>
          <a:p>
            <a:endParaRPr lang="ar-LY"/>
          </a:p>
        </p:txBody>
      </p:sp>
      <p:sp>
        <p:nvSpPr>
          <p:cNvPr id="12" name="Rectangle 11">
            <a:extLst>
              <a:ext uri="{FF2B5EF4-FFF2-40B4-BE49-F238E27FC236}">
                <a16:creationId xmlns:a16="http://schemas.microsoft.com/office/drawing/2014/main" id="{47BB04E3-29B1-4077-8699-EF75B0E5C36F}"/>
              </a:ext>
            </a:extLst>
          </p:cNvPr>
          <p:cNvSpPr>
            <a:spLocks noGrp="1"/>
          </p:cNvSpPr>
          <p:nvPr/>
        </p:nvSpPr>
        <p:spPr>
          <a:xfrm>
            <a:off x="34290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Claim cues, source signals, emotional language, and hate speech</a:t>
            </a:r>
          </a:p>
        </p:txBody>
      </p:sp>
      <p:sp>
        <p:nvSpPr>
          <p:cNvPr id="13" name="Rectangle 12">
            <a:extLst>
              <a:ext uri="{FF2B5EF4-FFF2-40B4-BE49-F238E27FC236}">
                <a16:creationId xmlns:a16="http://schemas.microsoft.com/office/drawing/2014/main" id="{32D68155-B341-4CC7-8F89-946F7E38296F}"/>
              </a:ext>
            </a:extLst>
          </p:cNvPr>
          <p:cNvSpPr>
            <a:spLocks noGrp="1"/>
          </p:cNvSpPr>
          <p:nvPr/>
        </p:nvSpPr>
        <p:spPr>
          <a:xfrm>
            <a:off x="6172200" y="2571750"/>
            <a:ext cx="2381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USER CONTEXT</a:t>
            </a:r>
          </a:p>
        </p:txBody>
      </p:sp>
      <p:sp>
        <p:nvSpPr>
          <p:cNvPr id="14" name="Rectangle 13">
            <a:extLst>
              <a:ext uri="{FF2B5EF4-FFF2-40B4-BE49-F238E27FC236}">
                <a16:creationId xmlns:a16="http://schemas.microsoft.com/office/drawing/2014/main" id="{BAFFCE4D-C539-44D0-90C9-0C38975347F5}"/>
              </a:ext>
            </a:extLst>
          </p:cNvPr>
          <p:cNvSpPr>
            <a:spLocks noGrp="1"/>
          </p:cNvSpPr>
          <p:nvPr/>
        </p:nvSpPr>
        <p:spPr>
          <a:xfrm>
            <a:off x="6172200" y="2962275"/>
            <a:ext cx="2247900" cy="38100"/>
          </a:xfrm>
          <a:prstGeom prst="rect">
            <a:avLst/>
          </a:prstGeom>
          <a:solidFill>
            <a:srgbClr val="B7C78A"/>
          </a:solidFill>
          <a:ln w="0">
            <a:noFill/>
          </a:ln>
        </p:spPr>
        <p:txBody>
          <a:bodyPr/>
          <a:lstStyle/>
          <a:p>
            <a:endParaRPr lang="ar-LY"/>
          </a:p>
        </p:txBody>
      </p:sp>
      <p:sp>
        <p:nvSpPr>
          <p:cNvPr id="15" name="Rectangle 14">
            <a:extLst>
              <a:ext uri="{FF2B5EF4-FFF2-40B4-BE49-F238E27FC236}">
                <a16:creationId xmlns:a16="http://schemas.microsoft.com/office/drawing/2014/main" id="{F53807DA-4AB6-4AF6-80F3-7553AD2EE1DB}"/>
              </a:ext>
            </a:extLst>
          </p:cNvPr>
          <p:cNvSpPr>
            <a:spLocks noGrp="1"/>
          </p:cNvSpPr>
          <p:nvPr/>
        </p:nvSpPr>
        <p:spPr>
          <a:xfrm>
            <a:off x="61722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Self-reported feeling and optional mood history</a:t>
            </a:r>
          </a:p>
        </p:txBody>
      </p:sp>
      <p:sp>
        <p:nvSpPr>
          <p:cNvPr id="16" name="Rectangle 15">
            <a:extLst>
              <a:ext uri="{FF2B5EF4-FFF2-40B4-BE49-F238E27FC236}">
                <a16:creationId xmlns:a16="http://schemas.microsoft.com/office/drawing/2014/main" id="{E30ACE34-1036-4620-B0F0-CA4321122890}"/>
              </a:ext>
            </a:extLst>
          </p:cNvPr>
          <p:cNvSpPr>
            <a:spLocks noGrp="1"/>
          </p:cNvSpPr>
          <p:nvPr/>
        </p:nvSpPr>
        <p:spPr>
          <a:xfrm>
            <a:off x="8915400" y="2571750"/>
            <a:ext cx="2381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SUPPORT</a:t>
            </a:r>
          </a:p>
        </p:txBody>
      </p:sp>
      <p:sp>
        <p:nvSpPr>
          <p:cNvPr id="17" name="Rectangle 16">
            <a:extLst>
              <a:ext uri="{FF2B5EF4-FFF2-40B4-BE49-F238E27FC236}">
                <a16:creationId xmlns:a16="http://schemas.microsoft.com/office/drawing/2014/main" id="{908B3F27-95C2-421B-8F59-2F14AF83B070}"/>
              </a:ext>
            </a:extLst>
          </p:cNvPr>
          <p:cNvSpPr>
            <a:spLocks noGrp="1"/>
          </p:cNvSpPr>
          <p:nvPr/>
        </p:nvSpPr>
        <p:spPr>
          <a:xfrm>
            <a:off x="8915400" y="2962275"/>
            <a:ext cx="2247900" cy="38100"/>
          </a:xfrm>
          <a:prstGeom prst="rect">
            <a:avLst/>
          </a:prstGeom>
          <a:solidFill>
            <a:srgbClr val="B7C78A"/>
          </a:solidFill>
          <a:ln w="0">
            <a:noFill/>
          </a:ln>
        </p:spPr>
        <p:txBody>
          <a:bodyPr/>
          <a:lstStyle/>
          <a:p>
            <a:endParaRPr lang="ar-LY"/>
          </a:p>
        </p:txBody>
      </p:sp>
      <p:sp>
        <p:nvSpPr>
          <p:cNvPr id="18" name="Rectangle 17">
            <a:extLst>
              <a:ext uri="{FF2B5EF4-FFF2-40B4-BE49-F238E27FC236}">
                <a16:creationId xmlns:a16="http://schemas.microsoft.com/office/drawing/2014/main" id="{8091DDD5-55C0-4D37-AE5C-5132A9A705BB}"/>
              </a:ext>
            </a:extLst>
          </p:cNvPr>
          <p:cNvSpPr>
            <a:spLocks noGrp="1"/>
          </p:cNvSpPr>
          <p:nvPr/>
        </p:nvSpPr>
        <p:spPr>
          <a:xfrm>
            <a:off x="89154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Source guidance, calming prompts, practice, stories, or response coaching</a:t>
            </a:r>
          </a:p>
        </p:txBody>
      </p:sp>
      <p:sp>
        <p:nvSpPr>
          <p:cNvPr id="19" name="Rectangle 18">
            <a:extLst>
              <a:ext uri="{FF2B5EF4-FFF2-40B4-BE49-F238E27FC236}">
                <a16:creationId xmlns:a16="http://schemas.microsoft.com/office/drawing/2014/main" id="{A637DF5E-92A1-4DBA-B8ED-467DEC19AAF0}"/>
              </a:ext>
            </a:extLst>
          </p:cNvPr>
          <p:cNvSpPr>
            <a:spLocks noGrp="1"/>
          </p:cNvSpPr>
          <p:nvPr/>
        </p:nvSpPr>
        <p:spPr>
          <a:xfrm>
            <a:off x="685800" y="4810125"/>
            <a:ext cx="10477500" cy="9525"/>
          </a:xfrm>
          <a:prstGeom prst="rect">
            <a:avLst/>
          </a:prstGeom>
          <a:solidFill>
            <a:srgbClr val="D8DED3"/>
          </a:solidFill>
          <a:ln w="0">
            <a:noFill/>
          </a:ln>
        </p:spPr>
        <p:txBody>
          <a:bodyPr/>
          <a:lstStyle/>
          <a:p>
            <a:endParaRPr lang="ar-LY"/>
          </a:p>
        </p:txBody>
      </p:sp>
      <p:sp>
        <p:nvSpPr>
          <p:cNvPr id="20" name="Rectangle 19">
            <a:extLst>
              <a:ext uri="{FF2B5EF4-FFF2-40B4-BE49-F238E27FC236}">
                <a16:creationId xmlns:a16="http://schemas.microsoft.com/office/drawing/2014/main" id="{1D6C9ED9-42C5-4E8D-B05F-D6F13F495196}"/>
              </a:ext>
            </a:extLst>
          </p:cNvPr>
          <p:cNvSpPr>
            <a:spLocks noGrp="1"/>
          </p:cNvSpPr>
          <p:nvPr/>
        </p:nvSpPr>
        <p:spPr>
          <a:xfrm>
            <a:off x="685800" y="5095875"/>
            <a:ext cx="2476500" cy="285750"/>
          </a:xfrm>
          <a:prstGeom prst="rect">
            <a:avLst/>
          </a:prstGeom>
          <a:noFill/>
          <a:ln w="0">
            <a:noFill/>
          </a:ln>
        </p:spPr>
        <p:txBody>
          <a:bodyPr anchor="ctr">
            <a:normAutofit/>
          </a:bodyPr>
          <a:lstStyle/>
          <a:p>
            <a:pPr algn="l">
              <a:defRPr sz="1125" b="1" i="0">
                <a:solidFill>
                  <a:srgbClr val="C75A4A"/>
                </a:solidFill>
                <a:latin typeface="Arial"/>
                <a:ea typeface="Arial"/>
                <a:cs typeface="Arial"/>
              </a:defRPr>
            </a:pPr>
            <a:r>
              <a:rPr sz="1125" b="1" i="0">
                <a:solidFill>
                  <a:srgbClr val="C75A4A"/>
                </a:solidFill>
                <a:latin typeface="Arial"/>
                <a:ea typeface="Arial"/>
                <a:cs typeface="Arial"/>
              </a:rPr>
              <a:t>Designed outcome</a:t>
            </a:r>
          </a:p>
        </p:txBody>
      </p:sp>
      <p:sp>
        <p:nvSpPr>
          <p:cNvPr id="21" name="Rectangle 20">
            <a:extLst>
              <a:ext uri="{FF2B5EF4-FFF2-40B4-BE49-F238E27FC236}">
                <a16:creationId xmlns:a16="http://schemas.microsoft.com/office/drawing/2014/main" id="{467A63A1-B4CA-4963-BAFF-2131A57989FB}"/>
              </a:ext>
            </a:extLst>
          </p:cNvPr>
          <p:cNvSpPr>
            <a:spLocks noGrp="1"/>
          </p:cNvSpPr>
          <p:nvPr/>
        </p:nvSpPr>
        <p:spPr>
          <a:xfrm>
            <a:off x="685800" y="5467350"/>
            <a:ext cx="10334625" cy="514350"/>
          </a:xfrm>
          <a:prstGeom prst="rect">
            <a:avLst/>
          </a:prstGeom>
          <a:noFill/>
          <a:ln w="0">
            <a:noFill/>
          </a:ln>
        </p:spPr>
        <p:txBody>
          <a:bodyPr anchor="ctr">
            <a:normAutofit fontScale="82398"/>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Users can better understand what a post is doing, how it affects them, and which next step they want to take.</a:t>
            </a:r>
          </a:p>
        </p:txBody>
      </p:sp>
    </p:spTree>
    <p:extLst>
      <p:ext uri="{BB962C8B-B14F-4D97-AF65-F5344CB8AC3E}">
        <p14:creationId xmlns:p14="http://schemas.microsoft.com/office/powerpoint/2010/main" val="1611678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9214F5B-4CDC-4BC1-A8C9-583F32C1F2D0}"/>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AB785315-9E39-473B-A1CF-EAF2234D3E40}"/>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Tawazun implementation architecture</a:t>
            </a:r>
          </a:p>
        </p:txBody>
      </p:sp>
      <p:sp>
        <p:nvSpPr>
          <p:cNvPr id="3" name="Rectangle 2">
            <a:extLst>
              <a:ext uri="{FF2B5EF4-FFF2-40B4-BE49-F238E27FC236}">
                <a16:creationId xmlns:a16="http://schemas.microsoft.com/office/drawing/2014/main" id="{A5BD9F51-0C5A-4C2A-A706-72BF7B9D0927}"/>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6A5A3BE0-F563-4559-BA42-028615F47DB7}"/>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DDB3D5C9-876F-49C2-9A96-E0CC5A58739B}"/>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10</a:t>
            </a:r>
          </a:p>
        </p:txBody>
      </p:sp>
      <p:sp>
        <p:nvSpPr>
          <p:cNvPr id="6" name="Rectangle 5">
            <a:extLst>
              <a:ext uri="{FF2B5EF4-FFF2-40B4-BE49-F238E27FC236}">
                <a16:creationId xmlns:a16="http://schemas.microsoft.com/office/drawing/2014/main" id="{0F612B05-7F8A-48CD-9C67-CA7A1ADC76C0}"/>
              </a:ext>
            </a:extLst>
          </p:cNvPr>
          <p:cNvSpPr>
            <a:spLocks noGrp="1"/>
          </p:cNvSpPr>
          <p:nvPr/>
        </p:nvSpPr>
        <p:spPr>
          <a:xfrm>
            <a:off x="685800" y="1428750"/>
            <a:ext cx="10477500" cy="476250"/>
          </a:xfrm>
          <a:prstGeom prst="rect">
            <a:avLst/>
          </a:prstGeom>
          <a:noFill/>
          <a:ln w="0">
            <a:noFill/>
          </a:ln>
        </p:spPr>
        <p:txBody>
          <a:bodyPr anchor="ctr">
            <a:normAutofit/>
          </a:bodyPr>
          <a:lstStyle/>
          <a:p>
            <a:pPr algn="l">
              <a:defRPr sz="1875" b="0" i="0">
                <a:solidFill>
                  <a:srgbClr val="677572"/>
                </a:solidFill>
                <a:latin typeface="Arial"/>
                <a:ea typeface="Arial"/>
                <a:cs typeface="Arial"/>
              </a:defRPr>
            </a:pPr>
            <a:r>
              <a:rPr sz="1875" b="0" i="0">
                <a:solidFill>
                  <a:srgbClr val="677572"/>
                </a:solidFill>
                <a:latin typeface="Arial"/>
                <a:ea typeface="Arial"/>
                <a:cs typeface="Arial"/>
              </a:rPr>
              <a:t>One integrated application supports all seven features with a manageable starting stack.</a:t>
            </a:r>
          </a:p>
        </p:txBody>
      </p:sp>
      <p:sp>
        <p:nvSpPr>
          <p:cNvPr id="7" name="Rectangle 6">
            <a:extLst>
              <a:ext uri="{FF2B5EF4-FFF2-40B4-BE49-F238E27FC236}">
                <a16:creationId xmlns:a16="http://schemas.microsoft.com/office/drawing/2014/main" id="{127EEB58-4AC4-42E1-8E70-B3CBDAF575DF}"/>
              </a:ext>
            </a:extLst>
          </p:cNvPr>
          <p:cNvSpPr>
            <a:spLocks noGrp="1"/>
          </p:cNvSpPr>
          <p:nvPr/>
        </p:nvSpPr>
        <p:spPr>
          <a:xfrm>
            <a:off x="6858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FRONTEND</a:t>
            </a:r>
          </a:p>
        </p:txBody>
      </p:sp>
      <p:sp>
        <p:nvSpPr>
          <p:cNvPr id="8" name="Rectangle 7">
            <a:extLst>
              <a:ext uri="{FF2B5EF4-FFF2-40B4-BE49-F238E27FC236}">
                <a16:creationId xmlns:a16="http://schemas.microsoft.com/office/drawing/2014/main" id="{BC322C83-DE8A-432A-9730-1A3EDBD9EA84}"/>
              </a:ext>
            </a:extLst>
          </p:cNvPr>
          <p:cNvSpPr>
            <a:spLocks noGrp="1"/>
          </p:cNvSpPr>
          <p:nvPr/>
        </p:nvSpPr>
        <p:spPr>
          <a:xfrm>
            <a:off x="685800" y="2743200"/>
            <a:ext cx="180975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648EA2BF-9F70-4F66-AA6C-6B5715EC9BAC}"/>
              </a:ext>
            </a:extLst>
          </p:cNvPr>
          <p:cNvSpPr>
            <a:spLocks noGrp="1"/>
          </p:cNvSpPr>
          <p:nvPr/>
        </p:nvSpPr>
        <p:spPr>
          <a:xfrm>
            <a:off x="6858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Mobile-first Next.js website</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Arabic RTL layout</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Voice input optional</a:t>
            </a:r>
          </a:p>
        </p:txBody>
      </p:sp>
      <p:sp>
        <p:nvSpPr>
          <p:cNvPr id="10" name="Rectangle 9">
            <a:extLst>
              <a:ext uri="{FF2B5EF4-FFF2-40B4-BE49-F238E27FC236}">
                <a16:creationId xmlns:a16="http://schemas.microsoft.com/office/drawing/2014/main" id="{5CA5CA7B-06CF-40F4-82BB-8579D6580A16}"/>
              </a:ext>
            </a:extLst>
          </p:cNvPr>
          <p:cNvSpPr>
            <a:spLocks noGrp="1"/>
          </p:cNvSpPr>
          <p:nvPr/>
        </p:nvSpPr>
        <p:spPr>
          <a:xfrm>
            <a:off x="28575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BACKEND</a:t>
            </a:r>
          </a:p>
        </p:txBody>
      </p:sp>
      <p:sp>
        <p:nvSpPr>
          <p:cNvPr id="11" name="Rectangle 10">
            <a:extLst>
              <a:ext uri="{FF2B5EF4-FFF2-40B4-BE49-F238E27FC236}">
                <a16:creationId xmlns:a16="http://schemas.microsoft.com/office/drawing/2014/main" id="{A1EA98C2-26E1-4D24-A41B-F54B91521CC6}"/>
              </a:ext>
            </a:extLst>
          </p:cNvPr>
          <p:cNvSpPr>
            <a:spLocks noGrp="1"/>
          </p:cNvSpPr>
          <p:nvPr/>
        </p:nvSpPr>
        <p:spPr>
          <a:xfrm>
            <a:off x="2857500" y="2743200"/>
            <a:ext cx="1809750" cy="38100"/>
          </a:xfrm>
          <a:prstGeom prst="rect">
            <a:avLst/>
          </a:prstGeom>
          <a:solidFill>
            <a:srgbClr val="B7C78A"/>
          </a:solidFill>
          <a:ln w="0">
            <a:noFill/>
          </a:ln>
        </p:spPr>
        <p:txBody>
          <a:bodyPr/>
          <a:lstStyle/>
          <a:p>
            <a:endParaRPr lang="ar-LY"/>
          </a:p>
        </p:txBody>
      </p:sp>
      <p:sp>
        <p:nvSpPr>
          <p:cNvPr id="12" name="Rectangle 11">
            <a:extLst>
              <a:ext uri="{FF2B5EF4-FFF2-40B4-BE49-F238E27FC236}">
                <a16:creationId xmlns:a16="http://schemas.microsoft.com/office/drawing/2014/main" id="{40B90903-B51C-457C-8E5E-74466DBC15E9}"/>
              </a:ext>
            </a:extLst>
          </p:cNvPr>
          <p:cNvSpPr>
            <a:spLocks noGrp="1"/>
          </p:cNvSpPr>
          <p:nvPr/>
        </p:nvSpPr>
        <p:spPr>
          <a:xfrm>
            <a:off x="28575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FastAPI modular API</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All seven features in one deployable app</a:t>
            </a:r>
          </a:p>
        </p:txBody>
      </p:sp>
      <p:sp>
        <p:nvSpPr>
          <p:cNvPr id="13" name="Rectangle 12">
            <a:extLst>
              <a:ext uri="{FF2B5EF4-FFF2-40B4-BE49-F238E27FC236}">
                <a16:creationId xmlns:a16="http://schemas.microsoft.com/office/drawing/2014/main" id="{DACC3F63-4D0E-43FD-AE23-0B6AE1A5E504}"/>
              </a:ext>
            </a:extLst>
          </p:cNvPr>
          <p:cNvSpPr>
            <a:spLocks noGrp="1"/>
          </p:cNvSpPr>
          <p:nvPr/>
        </p:nvSpPr>
        <p:spPr>
          <a:xfrm>
            <a:off x="5029200" y="2238375"/>
            <a:ext cx="1885950" cy="361950"/>
          </a:xfrm>
          <a:prstGeom prst="rect">
            <a:avLst/>
          </a:prstGeom>
          <a:noFill/>
          <a:ln w="0">
            <a:noFill/>
          </a:ln>
        </p:spPr>
        <p:txBody>
          <a:bodyPr anchor="ctr">
            <a:normAutofit/>
          </a:bodyPr>
          <a:lstStyle/>
          <a:p>
            <a:pPr algn="l">
              <a:defRPr sz="1200" b="1" i="0">
                <a:solidFill>
                  <a:srgbClr val="C75A4A"/>
                </a:solidFill>
                <a:latin typeface="Arial"/>
                <a:ea typeface="Arial"/>
                <a:cs typeface="Arial"/>
              </a:defRPr>
            </a:pPr>
            <a:r>
              <a:rPr sz="1200" b="1" i="0">
                <a:solidFill>
                  <a:srgbClr val="C75A4A"/>
                </a:solidFill>
                <a:latin typeface="Arial"/>
                <a:ea typeface="Arial"/>
                <a:cs typeface="Arial"/>
              </a:rPr>
              <a:t>AI + SAFETY</a:t>
            </a:r>
          </a:p>
        </p:txBody>
      </p:sp>
      <p:sp>
        <p:nvSpPr>
          <p:cNvPr id="14" name="Rectangle 13">
            <a:extLst>
              <a:ext uri="{FF2B5EF4-FFF2-40B4-BE49-F238E27FC236}">
                <a16:creationId xmlns:a16="http://schemas.microsoft.com/office/drawing/2014/main" id="{C2DF7C2A-65CA-4693-BBF0-DD2CFE4B307E}"/>
              </a:ext>
            </a:extLst>
          </p:cNvPr>
          <p:cNvSpPr>
            <a:spLocks noGrp="1"/>
          </p:cNvSpPr>
          <p:nvPr/>
        </p:nvSpPr>
        <p:spPr>
          <a:xfrm>
            <a:off x="5029200" y="2743200"/>
            <a:ext cx="1809750" cy="38100"/>
          </a:xfrm>
          <a:prstGeom prst="rect">
            <a:avLst/>
          </a:prstGeom>
          <a:solidFill>
            <a:srgbClr val="C75A4A"/>
          </a:solidFill>
          <a:ln w="0">
            <a:noFill/>
          </a:ln>
        </p:spPr>
        <p:txBody>
          <a:bodyPr/>
          <a:lstStyle/>
          <a:p>
            <a:endParaRPr lang="ar-LY"/>
          </a:p>
        </p:txBody>
      </p:sp>
      <p:sp>
        <p:nvSpPr>
          <p:cNvPr id="15" name="Rectangle 14">
            <a:extLst>
              <a:ext uri="{FF2B5EF4-FFF2-40B4-BE49-F238E27FC236}">
                <a16:creationId xmlns:a16="http://schemas.microsoft.com/office/drawing/2014/main" id="{65A57FB6-46CD-4148-9BD5-795B2571B9F6}"/>
              </a:ext>
            </a:extLst>
          </p:cNvPr>
          <p:cNvSpPr>
            <a:spLocks noGrp="1"/>
          </p:cNvSpPr>
          <p:nvPr/>
        </p:nvSpPr>
        <p:spPr>
          <a:xfrm>
            <a:off x="50292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One Arabic-capable model</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Reviewed safety rules</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Explanations, not truth scores</a:t>
            </a:r>
          </a:p>
        </p:txBody>
      </p:sp>
      <p:sp>
        <p:nvSpPr>
          <p:cNvPr id="16" name="Rectangle 15">
            <a:extLst>
              <a:ext uri="{FF2B5EF4-FFF2-40B4-BE49-F238E27FC236}">
                <a16:creationId xmlns:a16="http://schemas.microsoft.com/office/drawing/2014/main" id="{EBB5B2A5-4045-4928-8CE4-50DF5AF7A70A}"/>
              </a:ext>
            </a:extLst>
          </p:cNvPr>
          <p:cNvSpPr>
            <a:spLocks noGrp="1"/>
          </p:cNvSpPr>
          <p:nvPr/>
        </p:nvSpPr>
        <p:spPr>
          <a:xfrm>
            <a:off x="72009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DATA</a:t>
            </a:r>
          </a:p>
        </p:txBody>
      </p:sp>
      <p:sp>
        <p:nvSpPr>
          <p:cNvPr id="17" name="Rectangle 16">
            <a:extLst>
              <a:ext uri="{FF2B5EF4-FFF2-40B4-BE49-F238E27FC236}">
                <a16:creationId xmlns:a16="http://schemas.microsoft.com/office/drawing/2014/main" id="{34C1F4FE-630B-4C96-B595-44EE947C9A7E}"/>
              </a:ext>
            </a:extLst>
          </p:cNvPr>
          <p:cNvSpPr>
            <a:spLocks noGrp="1"/>
          </p:cNvSpPr>
          <p:nvPr/>
        </p:nvSpPr>
        <p:spPr>
          <a:xfrm>
            <a:off x="7200900" y="2743200"/>
            <a:ext cx="1809750" cy="38100"/>
          </a:xfrm>
          <a:prstGeom prst="rect">
            <a:avLst/>
          </a:prstGeom>
          <a:solidFill>
            <a:srgbClr val="B7C78A"/>
          </a:solidFill>
          <a:ln w="0">
            <a:noFill/>
          </a:ln>
        </p:spPr>
        <p:txBody>
          <a:bodyPr/>
          <a:lstStyle/>
          <a:p>
            <a:endParaRPr lang="ar-LY"/>
          </a:p>
        </p:txBody>
      </p:sp>
      <p:sp>
        <p:nvSpPr>
          <p:cNvPr id="18" name="Rectangle 17">
            <a:extLst>
              <a:ext uri="{FF2B5EF4-FFF2-40B4-BE49-F238E27FC236}">
                <a16:creationId xmlns:a16="http://schemas.microsoft.com/office/drawing/2014/main" id="{3BC9D34E-2E19-4145-8E4F-7E24B694FE08}"/>
              </a:ext>
            </a:extLst>
          </p:cNvPr>
          <p:cNvSpPr>
            <a:spLocks noGrp="1"/>
          </p:cNvSpPr>
          <p:nvPr/>
        </p:nvSpPr>
        <p:spPr>
          <a:xfrm>
            <a:off x="72009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PostgreSQL for app data</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Reviewed sources, posts, and stories</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Mood tracking is opt-in</a:t>
            </a:r>
          </a:p>
        </p:txBody>
      </p:sp>
      <p:sp>
        <p:nvSpPr>
          <p:cNvPr id="19" name="Rectangle 18">
            <a:extLst>
              <a:ext uri="{FF2B5EF4-FFF2-40B4-BE49-F238E27FC236}">
                <a16:creationId xmlns:a16="http://schemas.microsoft.com/office/drawing/2014/main" id="{32DADC7B-D0A0-40D6-BD5C-C2BC4A862108}"/>
              </a:ext>
            </a:extLst>
          </p:cNvPr>
          <p:cNvSpPr>
            <a:spLocks noGrp="1"/>
          </p:cNvSpPr>
          <p:nvPr/>
        </p:nvSpPr>
        <p:spPr>
          <a:xfrm>
            <a:off x="93726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DEPLOYMENT</a:t>
            </a:r>
          </a:p>
        </p:txBody>
      </p:sp>
      <p:sp>
        <p:nvSpPr>
          <p:cNvPr id="20" name="Rectangle 19">
            <a:extLst>
              <a:ext uri="{FF2B5EF4-FFF2-40B4-BE49-F238E27FC236}">
                <a16:creationId xmlns:a16="http://schemas.microsoft.com/office/drawing/2014/main" id="{F710E5C3-CF59-4996-8CCA-A75EE1E38323}"/>
              </a:ext>
            </a:extLst>
          </p:cNvPr>
          <p:cNvSpPr>
            <a:spLocks noGrp="1"/>
          </p:cNvSpPr>
          <p:nvPr/>
        </p:nvSpPr>
        <p:spPr>
          <a:xfrm>
            <a:off x="9372600" y="2743200"/>
            <a:ext cx="1809750" cy="38100"/>
          </a:xfrm>
          <a:prstGeom prst="rect">
            <a:avLst/>
          </a:prstGeom>
          <a:solidFill>
            <a:srgbClr val="B7C78A"/>
          </a:solidFill>
          <a:ln w="0">
            <a:noFill/>
          </a:ln>
        </p:spPr>
        <p:txBody>
          <a:bodyPr/>
          <a:lstStyle/>
          <a:p>
            <a:endParaRPr lang="ar-LY"/>
          </a:p>
        </p:txBody>
      </p:sp>
      <p:sp>
        <p:nvSpPr>
          <p:cNvPr id="21" name="Rectangle 20">
            <a:extLst>
              <a:ext uri="{FF2B5EF4-FFF2-40B4-BE49-F238E27FC236}">
                <a16:creationId xmlns:a16="http://schemas.microsoft.com/office/drawing/2014/main" id="{DB3BD697-0178-4EC3-9FEE-2D245242C6AD}"/>
              </a:ext>
            </a:extLst>
          </p:cNvPr>
          <p:cNvSpPr>
            <a:spLocks noGrp="1"/>
          </p:cNvSpPr>
          <p:nvPr/>
        </p:nvSpPr>
        <p:spPr>
          <a:xfrm>
            <a:off x="93726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One cloud provider</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CI/CD and monitoring</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Encryption and access controls</a:t>
            </a:r>
          </a:p>
        </p:txBody>
      </p:sp>
      <p:sp>
        <p:nvSpPr>
          <p:cNvPr id="22" name="Rectangle 21">
            <a:extLst>
              <a:ext uri="{FF2B5EF4-FFF2-40B4-BE49-F238E27FC236}">
                <a16:creationId xmlns:a16="http://schemas.microsoft.com/office/drawing/2014/main" id="{9CE7B966-9C81-4BBA-B4A9-BD76BC754451}"/>
              </a:ext>
            </a:extLst>
          </p:cNvPr>
          <p:cNvSpPr>
            <a:spLocks noGrp="1"/>
          </p:cNvSpPr>
          <p:nvPr/>
        </p:nvSpPr>
        <p:spPr>
          <a:xfrm>
            <a:off x="685800" y="5238750"/>
            <a:ext cx="10477500" cy="438150"/>
          </a:xfrm>
          <a:prstGeom prst="rect">
            <a:avLst/>
          </a:prstGeom>
          <a:noFill/>
          <a:ln w="0">
            <a:noFill/>
          </a:ln>
        </p:spPr>
        <p:txBody>
          <a:bodyPr anchor="ctr">
            <a:normAutofit/>
          </a:bodyPr>
          <a:lstStyle/>
          <a:p>
            <a:pPr algn="l">
              <a:defRPr sz="1425" b="1" i="0">
                <a:solidFill>
                  <a:srgbClr val="315B4C"/>
                </a:solidFill>
                <a:latin typeface="Arial"/>
                <a:ea typeface="Arial"/>
                <a:cs typeface="Arial"/>
              </a:defRPr>
            </a:pPr>
            <a:r>
              <a:rPr sz="1425" b="1" i="0">
                <a:solidFill>
                  <a:srgbClr val="315B4C"/>
                </a:solidFill>
                <a:latin typeface="Arial"/>
                <a:ea typeface="Arial"/>
                <a:cs typeface="Arial"/>
              </a:rPr>
              <a:t>Add Redis, vector search, WhatsApp, or model fine-tuning only when user needs and evidence justify them.</a:t>
            </a:r>
          </a:p>
        </p:txBody>
      </p:sp>
    </p:spTree>
    <p:extLst>
      <p:ext uri="{BB962C8B-B14F-4D97-AF65-F5344CB8AC3E}">
        <p14:creationId xmlns:p14="http://schemas.microsoft.com/office/powerpoint/2010/main" val="1298784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C34C08F-DEB5-443F-B23A-FBB09AA2469B}"/>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F9E95B0C-64E3-4C23-997D-343E95E5401F}"/>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Support the complete Tawazun project</a:t>
            </a:r>
          </a:p>
        </p:txBody>
      </p:sp>
      <p:sp>
        <p:nvSpPr>
          <p:cNvPr id="3" name="Rectangle 2">
            <a:extLst>
              <a:ext uri="{FF2B5EF4-FFF2-40B4-BE49-F238E27FC236}">
                <a16:creationId xmlns:a16="http://schemas.microsoft.com/office/drawing/2014/main" id="{FEA3E52C-C526-41CB-A9FE-EA98E6CE4E3B}"/>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C81B6CCF-8EB6-4DD9-8971-19C55FEB0E97}"/>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304C9FCE-A439-4562-ACAF-2EE56698B87C}"/>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11</a:t>
            </a:r>
          </a:p>
        </p:txBody>
      </p:sp>
      <p:sp>
        <p:nvSpPr>
          <p:cNvPr id="6" name="Rectangle 5">
            <a:extLst>
              <a:ext uri="{FF2B5EF4-FFF2-40B4-BE49-F238E27FC236}">
                <a16:creationId xmlns:a16="http://schemas.microsoft.com/office/drawing/2014/main" id="{BB0097A2-2710-428A-AFE2-02F99FA6615E}"/>
              </a:ext>
            </a:extLst>
          </p:cNvPr>
          <p:cNvSpPr>
            <a:spLocks noGrp="1"/>
          </p:cNvSpPr>
          <p:nvPr/>
        </p:nvSpPr>
        <p:spPr>
          <a:xfrm>
            <a:off x="685800" y="1638300"/>
            <a:ext cx="4714875" cy="514350"/>
          </a:xfrm>
          <a:prstGeom prst="rect">
            <a:avLst/>
          </a:prstGeom>
          <a:noFill/>
          <a:ln w="0">
            <a:noFill/>
          </a:ln>
        </p:spPr>
        <p:txBody>
          <a:bodyPr anchor="ctr">
            <a:normAutofit/>
          </a:bodyPr>
          <a:lstStyle/>
          <a:p>
            <a:pPr algn="l">
              <a:defRPr sz="2550" b="1" i="0">
                <a:solidFill>
                  <a:srgbClr val="315B4C"/>
                </a:solidFill>
                <a:latin typeface="Arial"/>
                <a:ea typeface="Arial"/>
                <a:cs typeface="Arial"/>
              </a:defRPr>
            </a:pPr>
            <a:r>
              <a:rPr sz="2550" b="1" i="0">
                <a:solidFill>
                  <a:srgbClr val="315B4C"/>
                </a:solidFill>
                <a:latin typeface="Arial"/>
                <a:ea typeface="Arial"/>
                <a:cs typeface="Arial"/>
              </a:rPr>
              <a:t>One integrated platform</a:t>
            </a:r>
          </a:p>
        </p:txBody>
      </p:sp>
      <p:sp>
        <p:nvSpPr>
          <p:cNvPr id="7" name="Rectangle 6">
            <a:extLst>
              <a:ext uri="{FF2B5EF4-FFF2-40B4-BE49-F238E27FC236}">
                <a16:creationId xmlns:a16="http://schemas.microsoft.com/office/drawing/2014/main" id="{B3837F97-090C-4742-9EA3-60B9C04933C1}"/>
              </a:ext>
            </a:extLst>
          </p:cNvPr>
          <p:cNvSpPr>
            <a:spLocks noGrp="1"/>
          </p:cNvSpPr>
          <p:nvPr/>
        </p:nvSpPr>
        <p:spPr>
          <a:xfrm>
            <a:off x="685800" y="2362200"/>
            <a:ext cx="4905375" cy="1581150"/>
          </a:xfrm>
          <a:prstGeom prst="rect">
            <a:avLst/>
          </a:prstGeom>
          <a:noFill/>
          <a:ln w="0">
            <a:noFill/>
          </a:ln>
        </p:spPr>
        <p:txBody>
          <a:bodyPr anchor="ctr">
            <a:normAutofit/>
          </a:bodyPr>
          <a:lstStyle/>
          <a:p>
            <a:pPr algn="l">
              <a:defRPr sz="2025" b="0" i="0">
                <a:solidFill>
                  <a:srgbClr val="142B2E"/>
                </a:solidFill>
                <a:latin typeface="Arial"/>
                <a:ea typeface="Arial"/>
                <a:cs typeface="Arial"/>
              </a:defRPr>
            </a:pPr>
            <a:r>
              <a:rPr sz="2025" b="0" i="0">
                <a:solidFill>
                  <a:srgbClr val="142B2E"/>
                </a:solidFill>
                <a:latin typeface="Arial"/>
                <a:ea typeface="Arial"/>
                <a:cs typeface="Arial"/>
              </a:rPr>
              <a:t>We are proposing a complete media wellbeing service that brings all seven features together for people in Libya.</a:t>
            </a:r>
          </a:p>
        </p:txBody>
      </p:sp>
      <p:sp>
        <p:nvSpPr>
          <p:cNvPr id="8" name="Rectangle 7">
            <a:extLst>
              <a:ext uri="{FF2B5EF4-FFF2-40B4-BE49-F238E27FC236}">
                <a16:creationId xmlns:a16="http://schemas.microsoft.com/office/drawing/2014/main" id="{E7FFDCF9-6182-48FC-AA39-679E4252CB0A}"/>
              </a:ext>
            </a:extLst>
          </p:cNvPr>
          <p:cNvSpPr>
            <a:spLocks noGrp="1"/>
          </p:cNvSpPr>
          <p:nvPr/>
        </p:nvSpPr>
        <p:spPr>
          <a:xfrm>
            <a:off x="6238875" y="1666875"/>
            <a:ext cx="38100" cy="2667000"/>
          </a:xfrm>
          <a:prstGeom prst="rect">
            <a:avLst/>
          </a:prstGeom>
          <a:solidFill>
            <a:srgbClr val="C75A4A"/>
          </a:solidFill>
          <a:ln w="0">
            <a:noFill/>
          </a:ln>
        </p:spPr>
        <p:txBody>
          <a:bodyPr/>
          <a:lstStyle/>
          <a:p>
            <a:endParaRPr lang="ar-LY"/>
          </a:p>
        </p:txBody>
      </p:sp>
      <p:sp>
        <p:nvSpPr>
          <p:cNvPr id="9" name="Rectangle 8">
            <a:extLst>
              <a:ext uri="{FF2B5EF4-FFF2-40B4-BE49-F238E27FC236}">
                <a16:creationId xmlns:a16="http://schemas.microsoft.com/office/drawing/2014/main" id="{6186BAEF-F328-46D5-B29E-F72F17512D1F}"/>
              </a:ext>
            </a:extLst>
          </p:cNvPr>
          <p:cNvSpPr>
            <a:spLocks noGrp="1"/>
          </p:cNvSpPr>
          <p:nvPr/>
        </p:nvSpPr>
        <p:spPr>
          <a:xfrm>
            <a:off x="6762750" y="1657350"/>
            <a:ext cx="4191000" cy="323850"/>
          </a:xfrm>
          <a:prstGeom prst="rect">
            <a:avLst/>
          </a:prstGeom>
          <a:noFill/>
          <a:ln w="0">
            <a:noFill/>
          </a:ln>
        </p:spPr>
        <p:txBody>
          <a:bodyPr anchor="ctr">
            <a:normAutofit/>
          </a:bodyPr>
          <a:lstStyle/>
          <a:p>
            <a:pPr algn="l">
              <a:defRPr sz="1275" b="1" i="0">
                <a:solidFill>
                  <a:srgbClr val="C75A4A"/>
                </a:solidFill>
                <a:latin typeface="Arial"/>
                <a:ea typeface="Arial"/>
                <a:cs typeface="Arial"/>
              </a:defRPr>
            </a:pPr>
            <a:r>
              <a:rPr sz="1275" b="1" i="0">
                <a:solidFill>
                  <a:srgbClr val="C75A4A"/>
                </a:solidFill>
                <a:latin typeface="Arial"/>
                <a:ea typeface="Arial"/>
                <a:cs typeface="Arial"/>
              </a:rPr>
              <a:t>We are looking for</a:t>
            </a:r>
          </a:p>
        </p:txBody>
      </p:sp>
      <p:sp>
        <p:nvSpPr>
          <p:cNvPr id="10" name="Rectangle 9">
            <a:extLst>
              <a:ext uri="{FF2B5EF4-FFF2-40B4-BE49-F238E27FC236}">
                <a16:creationId xmlns:a16="http://schemas.microsoft.com/office/drawing/2014/main" id="{88073C45-493C-41C7-85CB-64D2A8430135}"/>
              </a:ext>
            </a:extLst>
          </p:cNvPr>
          <p:cNvSpPr>
            <a:spLocks noGrp="1"/>
          </p:cNvSpPr>
          <p:nvPr/>
        </p:nvSpPr>
        <p:spPr>
          <a:xfrm>
            <a:off x="6762750" y="2228850"/>
            <a:ext cx="4286250" cy="1952625"/>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Support for the full project</a:t>
            </a:r>
          </a:p>
          <a:p>
            <a:pPr algn="l">
              <a:defRPr sz="1875" b="1" i="0">
                <a:solidFill>
                  <a:srgbClr val="142B2E"/>
                </a:solidFill>
                <a:latin typeface="Arial"/>
                <a:ea typeface="Arial"/>
                <a:cs typeface="Arial"/>
              </a:defRPr>
            </a:pPr>
            <a:r>
              <a:rPr sz="1875" b="1" i="0">
                <a:solidFill>
                  <a:srgbClr val="142B2E"/>
                </a:solidFill>
                <a:latin typeface="Arial"/>
                <a:ea typeface="Arial"/>
                <a:cs typeface="Arial"/>
              </a:rPr>
              <a:t>Libyan users and community reviewers</a:t>
            </a:r>
          </a:p>
          <a:p>
            <a:pPr algn="l">
              <a:defRPr sz="1875" b="1" i="0">
                <a:solidFill>
                  <a:srgbClr val="142B2E"/>
                </a:solidFill>
                <a:latin typeface="Arial"/>
                <a:ea typeface="Arial"/>
                <a:cs typeface="Arial"/>
              </a:defRPr>
            </a:pPr>
            <a:r>
              <a:rPr sz="1875" b="1" i="0">
                <a:solidFill>
                  <a:srgbClr val="142B2E"/>
                </a:solidFill>
                <a:latin typeface="Arial"/>
                <a:ea typeface="Arial"/>
                <a:cs typeface="Arial"/>
              </a:rPr>
              <a:t>Media-literacy and mental-health expertise</a:t>
            </a:r>
          </a:p>
        </p:txBody>
      </p:sp>
      <p:sp>
        <p:nvSpPr>
          <p:cNvPr id="11" name="Rectangle 10">
            <a:extLst>
              <a:ext uri="{FF2B5EF4-FFF2-40B4-BE49-F238E27FC236}">
                <a16:creationId xmlns:a16="http://schemas.microsoft.com/office/drawing/2014/main" id="{59493ED3-0AEE-4F39-B313-80A56824093A}"/>
              </a:ext>
            </a:extLst>
          </p:cNvPr>
          <p:cNvSpPr>
            <a:spLocks noGrp="1"/>
          </p:cNvSpPr>
          <p:nvPr/>
        </p:nvSpPr>
        <p:spPr>
          <a:xfrm>
            <a:off x="685800" y="4933950"/>
            <a:ext cx="10477500" cy="742950"/>
          </a:xfrm>
          <a:prstGeom prst="rect">
            <a:avLst/>
          </a:prstGeom>
          <a:noFill/>
          <a:ln w="0">
            <a:noFill/>
          </a:ln>
        </p:spPr>
        <p:txBody>
          <a:bodyPr anchor="ctr">
            <a:normAutofit fontScale="95000"/>
          </a:bodyPr>
          <a:lstStyle/>
          <a:p>
            <a:pPr algn="l">
              <a:defRPr sz="2250" b="1" i="0">
                <a:solidFill>
                  <a:srgbClr val="142B2E"/>
                </a:solidFill>
                <a:latin typeface="Arial"/>
                <a:ea typeface="Arial"/>
                <a:cs typeface="Arial"/>
              </a:defRPr>
            </a:pPr>
            <a:r>
              <a:rPr sz="2250" b="1" i="0">
                <a:solidFill>
                  <a:srgbClr val="142B2E"/>
                </a:solidFill>
                <a:latin typeface="Arial"/>
                <a:ea typeface="Arial"/>
                <a:cs typeface="Arial"/>
              </a:rPr>
              <a:t>Tawazun connects content understanding with emotional wellbeing, in a form designed for Libya.</a:t>
            </a:r>
          </a:p>
        </p:txBody>
      </p:sp>
    </p:spTree>
    <p:extLst>
      <p:ext uri="{BB962C8B-B14F-4D97-AF65-F5344CB8AC3E}">
        <p14:creationId xmlns:p14="http://schemas.microsoft.com/office/powerpoint/2010/main" val="157658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ED33FF8-BFB1-4684-B036-368C84CB0FDD}"/>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4D78AE36-CA9C-4EA4-B0C4-77302364585C}"/>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Sources and evidence notes</a:t>
            </a:r>
          </a:p>
        </p:txBody>
      </p:sp>
      <p:sp>
        <p:nvSpPr>
          <p:cNvPr id="3" name="Rectangle 2">
            <a:extLst>
              <a:ext uri="{FF2B5EF4-FFF2-40B4-BE49-F238E27FC236}">
                <a16:creationId xmlns:a16="http://schemas.microsoft.com/office/drawing/2014/main" id="{E09A1281-7990-4604-BDAE-584B6A7313B8}"/>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8B447AE2-902A-4A00-BCFA-151CB36F2A05}"/>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080B1251-C79C-4CF4-8933-D78B4121624C}"/>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12</a:t>
            </a:r>
          </a:p>
        </p:txBody>
      </p:sp>
      <p:sp>
        <p:nvSpPr>
          <p:cNvPr id="6" name="Rectangle 5">
            <a:extLst>
              <a:ext uri="{FF2B5EF4-FFF2-40B4-BE49-F238E27FC236}">
                <a16:creationId xmlns:a16="http://schemas.microsoft.com/office/drawing/2014/main" id="{B0BABF06-DACE-414E-85A5-4037A58E1D4A}"/>
              </a:ext>
            </a:extLst>
          </p:cNvPr>
          <p:cNvSpPr>
            <a:spLocks noGrp="1"/>
          </p:cNvSpPr>
          <p:nvPr/>
        </p:nvSpPr>
        <p:spPr>
          <a:xfrm>
            <a:off x="685800" y="147637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DIGITAL ACCESS</a:t>
            </a:r>
          </a:p>
        </p:txBody>
      </p:sp>
      <p:sp>
        <p:nvSpPr>
          <p:cNvPr id="7" name="Rectangle 6">
            <a:extLst>
              <a:ext uri="{FF2B5EF4-FFF2-40B4-BE49-F238E27FC236}">
                <a16:creationId xmlns:a16="http://schemas.microsoft.com/office/drawing/2014/main" id="{C205A7ED-2FA6-44A9-8DD9-A438CD4EFECF}"/>
              </a:ext>
            </a:extLst>
          </p:cNvPr>
          <p:cNvSpPr>
            <a:spLocks noGrp="1"/>
          </p:cNvSpPr>
          <p:nvPr/>
        </p:nvSpPr>
        <p:spPr>
          <a:xfrm>
            <a:off x="685800" y="1781175"/>
            <a:ext cx="10477500" cy="419100"/>
          </a:xfrm>
          <a:prstGeom prst="rect">
            <a:avLst/>
          </a:prstGeom>
          <a:noFill/>
          <a:ln w="0">
            <a:noFill/>
          </a:ln>
        </p:spPr>
        <p:txBody>
          <a:bodyPr anchor="ctr">
            <a:normAutofit/>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DataReportal, Digital 2026: Libya (published Nov 2025; underlying internet figures late 2025).</a:t>
            </a:r>
          </a:p>
        </p:txBody>
      </p:sp>
      <p:sp>
        <p:nvSpPr>
          <p:cNvPr id="8" name="Rectangle 7">
            <a:extLst>
              <a:ext uri="{FF2B5EF4-FFF2-40B4-BE49-F238E27FC236}">
                <a16:creationId xmlns:a16="http://schemas.microsoft.com/office/drawing/2014/main" id="{F1DD1DB0-FCDA-457E-9EC3-54CB4BEC682E}"/>
              </a:ext>
            </a:extLst>
          </p:cNvPr>
          <p:cNvSpPr>
            <a:spLocks noGrp="1"/>
          </p:cNvSpPr>
          <p:nvPr/>
        </p:nvSpPr>
        <p:spPr>
          <a:xfrm>
            <a:off x="685800" y="221932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https://datareportal.com/reports/digital-2026-libya</a:t>
            </a:r>
          </a:p>
        </p:txBody>
      </p:sp>
      <p:sp>
        <p:nvSpPr>
          <p:cNvPr id="9" name="Rectangle 8">
            <a:extLst>
              <a:ext uri="{FF2B5EF4-FFF2-40B4-BE49-F238E27FC236}">
                <a16:creationId xmlns:a16="http://schemas.microsoft.com/office/drawing/2014/main" id="{C533BBFF-9CA2-4FD3-A731-EEABB22F20D3}"/>
              </a:ext>
            </a:extLst>
          </p:cNvPr>
          <p:cNvSpPr>
            <a:spLocks noGrp="1"/>
          </p:cNvSpPr>
          <p:nvPr/>
        </p:nvSpPr>
        <p:spPr>
          <a:xfrm>
            <a:off x="685800" y="263842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MISINFORMATION CONTEXT</a:t>
            </a:r>
          </a:p>
        </p:txBody>
      </p:sp>
      <p:sp>
        <p:nvSpPr>
          <p:cNvPr id="10" name="Rectangle 9">
            <a:extLst>
              <a:ext uri="{FF2B5EF4-FFF2-40B4-BE49-F238E27FC236}">
                <a16:creationId xmlns:a16="http://schemas.microsoft.com/office/drawing/2014/main" id="{745187C2-E85D-4CD3-9DEB-CF439B5F0F2B}"/>
              </a:ext>
            </a:extLst>
          </p:cNvPr>
          <p:cNvSpPr>
            <a:spLocks noGrp="1"/>
          </p:cNvSpPr>
          <p:nvPr/>
        </p:nvSpPr>
        <p:spPr>
          <a:xfrm>
            <a:off x="685800" y="2943225"/>
            <a:ext cx="10477500" cy="419100"/>
          </a:xfrm>
          <a:prstGeom prst="rect">
            <a:avLst/>
          </a:prstGeom>
          <a:noFill/>
          <a:ln w="0">
            <a:noFill/>
          </a:ln>
        </p:spPr>
        <p:txBody>
          <a:bodyPr anchor="ctr">
            <a:normAutofit/>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United Nations in Libya, statement on misinformation and inflammatory rhetoric, 1 June 2026.</a:t>
            </a:r>
          </a:p>
        </p:txBody>
      </p:sp>
      <p:sp>
        <p:nvSpPr>
          <p:cNvPr id="11" name="Rectangle 10">
            <a:extLst>
              <a:ext uri="{FF2B5EF4-FFF2-40B4-BE49-F238E27FC236}">
                <a16:creationId xmlns:a16="http://schemas.microsoft.com/office/drawing/2014/main" id="{89F766CF-A9DA-48CF-B140-CC32FEF88868}"/>
              </a:ext>
            </a:extLst>
          </p:cNvPr>
          <p:cNvSpPr>
            <a:spLocks noGrp="1"/>
          </p:cNvSpPr>
          <p:nvPr/>
        </p:nvSpPr>
        <p:spPr>
          <a:xfrm>
            <a:off x="685800" y="338137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https://libya.un.org/en/316507-un-libya-expresses-concern-over-spread-misinformation-and-inflammatory-rhetoric</a:t>
            </a:r>
          </a:p>
        </p:txBody>
      </p:sp>
      <p:sp>
        <p:nvSpPr>
          <p:cNvPr id="12" name="Rectangle 11">
            <a:extLst>
              <a:ext uri="{FF2B5EF4-FFF2-40B4-BE49-F238E27FC236}">
                <a16:creationId xmlns:a16="http://schemas.microsoft.com/office/drawing/2014/main" id="{8577EAFB-11D8-45E0-A0CD-59860F4AE78D}"/>
              </a:ext>
            </a:extLst>
          </p:cNvPr>
          <p:cNvSpPr>
            <a:spLocks noGrp="1"/>
          </p:cNvSpPr>
          <p:nvPr/>
        </p:nvSpPr>
        <p:spPr>
          <a:xfrm>
            <a:off x="685800" y="380047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MENTAL-HEALTH CONTEXT</a:t>
            </a:r>
          </a:p>
        </p:txBody>
      </p:sp>
      <p:sp>
        <p:nvSpPr>
          <p:cNvPr id="13" name="Rectangle 12">
            <a:extLst>
              <a:ext uri="{FF2B5EF4-FFF2-40B4-BE49-F238E27FC236}">
                <a16:creationId xmlns:a16="http://schemas.microsoft.com/office/drawing/2014/main" id="{6DED930B-9F10-4BB3-B6E3-C8E163B205C0}"/>
              </a:ext>
            </a:extLst>
          </p:cNvPr>
          <p:cNvSpPr>
            <a:spLocks noGrp="1"/>
          </p:cNvSpPr>
          <p:nvPr/>
        </p:nvSpPr>
        <p:spPr>
          <a:xfrm>
            <a:off x="685800" y="4105275"/>
            <a:ext cx="10477500" cy="419100"/>
          </a:xfrm>
          <a:prstGeom prst="rect">
            <a:avLst/>
          </a:prstGeom>
          <a:noFill/>
          <a:ln w="0">
            <a:noFill/>
          </a:ln>
        </p:spPr>
        <p:txBody>
          <a:bodyPr anchor="ctr">
            <a:normAutofit fontScale="87232"/>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WHO EMRO, Mental health and psychosocial support (2024 report). The 22.1% figure refers to conflict-affected populations, not a Libya-specific prevalence survey.</a:t>
            </a:r>
          </a:p>
        </p:txBody>
      </p:sp>
      <p:sp>
        <p:nvSpPr>
          <p:cNvPr id="14" name="Rectangle 13">
            <a:extLst>
              <a:ext uri="{FF2B5EF4-FFF2-40B4-BE49-F238E27FC236}">
                <a16:creationId xmlns:a16="http://schemas.microsoft.com/office/drawing/2014/main" id="{DA980912-9196-485F-B81E-67F345E9F51F}"/>
              </a:ext>
            </a:extLst>
          </p:cNvPr>
          <p:cNvSpPr>
            <a:spLocks noGrp="1"/>
          </p:cNvSpPr>
          <p:nvPr/>
        </p:nvSpPr>
        <p:spPr>
          <a:xfrm>
            <a:off x="685800" y="454342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https://applications.emro.who.int/docs/9789292741716-eng.pdf</a:t>
            </a:r>
          </a:p>
        </p:txBody>
      </p:sp>
      <p:sp>
        <p:nvSpPr>
          <p:cNvPr id="15" name="Rectangle 14">
            <a:extLst>
              <a:ext uri="{FF2B5EF4-FFF2-40B4-BE49-F238E27FC236}">
                <a16:creationId xmlns:a16="http://schemas.microsoft.com/office/drawing/2014/main" id="{763030FB-F5B1-4C45-96F2-CB819E418F27}"/>
              </a:ext>
            </a:extLst>
          </p:cNvPr>
          <p:cNvSpPr>
            <a:spLocks noGrp="1"/>
          </p:cNvSpPr>
          <p:nvPr/>
        </p:nvSpPr>
        <p:spPr>
          <a:xfrm>
            <a:off x="685800" y="496252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NATIONAL DATA LIMITATION</a:t>
            </a:r>
          </a:p>
        </p:txBody>
      </p:sp>
      <p:sp>
        <p:nvSpPr>
          <p:cNvPr id="16" name="Rectangle 15">
            <a:extLst>
              <a:ext uri="{FF2B5EF4-FFF2-40B4-BE49-F238E27FC236}">
                <a16:creationId xmlns:a16="http://schemas.microsoft.com/office/drawing/2014/main" id="{EAECC112-C2F5-4BDB-B8B7-2EAA9AAE0296}"/>
              </a:ext>
            </a:extLst>
          </p:cNvPr>
          <p:cNvSpPr>
            <a:spLocks noGrp="1"/>
          </p:cNvSpPr>
          <p:nvPr/>
        </p:nvSpPr>
        <p:spPr>
          <a:xfrm>
            <a:off x="685800" y="5267325"/>
            <a:ext cx="10477500" cy="419100"/>
          </a:xfrm>
          <a:prstGeom prst="rect">
            <a:avLst/>
          </a:prstGeom>
          <a:noFill/>
          <a:ln w="0">
            <a:noFill/>
          </a:ln>
        </p:spPr>
        <p:txBody>
          <a:bodyPr anchor="ctr">
            <a:normAutofit fontScale="94315"/>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WHO Libya country profile: public mental-health research is limited; mental-health data are not routinely collected in national health information systems.</a:t>
            </a:r>
          </a:p>
        </p:txBody>
      </p:sp>
      <p:sp>
        <p:nvSpPr>
          <p:cNvPr id="17" name="Rectangle 16">
            <a:extLst>
              <a:ext uri="{FF2B5EF4-FFF2-40B4-BE49-F238E27FC236}">
                <a16:creationId xmlns:a16="http://schemas.microsoft.com/office/drawing/2014/main" id="{B7B40E57-65DC-495A-B3B9-ACBB0D065D3E}"/>
              </a:ext>
            </a:extLst>
          </p:cNvPr>
          <p:cNvSpPr>
            <a:spLocks noGrp="1"/>
          </p:cNvSpPr>
          <p:nvPr/>
        </p:nvSpPr>
        <p:spPr>
          <a:xfrm>
            <a:off x="685800" y="570547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https://www.who.int/about/accountability/results/who-results-report-2024-2025/region-EMRO/2024/libya</a:t>
            </a:r>
          </a:p>
        </p:txBody>
      </p:sp>
    </p:spTree>
    <p:extLst>
      <p:ext uri="{BB962C8B-B14F-4D97-AF65-F5344CB8AC3E}">
        <p14:creationId xmlns:p14="http://schemas.microsoft.com/office/powerpoint/2010/main" val="56371952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1765</Words>
  <Application>Microsoft Office PowerPoint</Application>
  <DocSecurity>0</DocSecurity>
  <PresentationFormat>Widescreen</PresentationFormat>
  <Paragraphs>183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Suliman Hashem</cp:lastModifiedBy>
  <cp:revision>1</cp:revision>
  <dcterms:created xsi:type="dcterms:W3CDTF">2026-10-07T13:25:07Z</dcterms:created>
  <dcterms:modified xsi:type="dcterms:W3CDTF">2026-10-07T13:28:08Z</dcterms:modified>
</cp:coreProperties>
</file>