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7175" cy="10287000"/>
            <a:chOff x="0" y="0"/>
            <a:chExt cx="342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5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43032" y="1786728"/>
            <a:ext cx="5203336" cy="1428750"/>
            <a:chOff x="0" y="0"/>
            <a:chExt cx="6937781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37778" cy="1905000"/>
            </a:xfrm>
            <a:custGeom>
              <a:avLst/>
              <a:gdLst/>
              <a:ahLst/>
              <a:cxnLst/>
              <a:rect r="r" b="b" t="t" l="l"/>
              <a:pathLst>
                <a:path h="1905000" w="6937778">
                  <a:moveTo>
                    <a:pt x="0" y="0"/>
                  </a:moveTo>
                  <a:lnTo>
                    <a:pt x="6937778" y="0"/>
                  </a:lnTo>
                  <a:lnTo>
                    <a:pt x="6937778" y="1905000"/>
                  </a:lnTo>
                  <a:lnTo>
                    <a:pt x="0" y="190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62" r="0" b="-209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937781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170"/>
                </a:lnSpc>
              </a:pPr>
              <a:r>
                <a:rPr lang="en-US" sz="84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Tawazun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85543" y="3046533"/>
            <a:ext cx="8572500" cy="685800"/>
            <a:chOff x="0" y="0"/>
            <a:chExt cx="114300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4300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ar-EG" sz="3600" b="true">
                  <a:solidFill>
                    <a:srgbClr val="B7C78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توازن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13668" y="5503983"/>
            <a:ext cx="12144375" cy="1600200"/>
            <a:chOff x="0" y="0"/>
            <a:chExt cx="16192500" cy="2133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1925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6192500">
                  <a:moveTo>
                    <a:pt x="0" y="0"/>
                  </a:moveTo>
                  <a:lnTo>
                    <a:pt x="16192500" y="0"/>
                  </a:lnTo>
                  <a:lnTo>
                    <a:pt x="16192500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77" r="0" b="-978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192500" cy="2152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75"/>
                </a:lnSpc>
              </a:pPr>
              <a:r>
                <a:rPr lang="ar-EG" sz="2812">
                  <a:solidFill>
                    <a:srgbClr val="D5DED7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تساعد “توازن” المستخدم على تقييم المحتوى الرقمي، وفهم تأثيره العاطفي عليه، واختيار طريقة الاستجابة المناسبة</a:t>
              </a:r>
              <a:r>
                <a:rPr lang="en-US" sz="2812">
                  <a:solidFill>
                    <a:srgbClr val="D5DED7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73322" y="8100222"/>
            <a:ext cx="14287500" cy="723643"/>
            <a:chOff x="0" y="0"/>
            <a:chExt cx="19050000" cy="9648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000" cy="964852"/>
            </a:xfrm>
            <a:custGeom>
              <a:avLst/>
              <a:gdLst/>
              <a:ahLst/>
              <a:cxnLst/>
              <a:rect r="r" b="b" t="t" l="l"/>
              <a:pathLst>
                <a:path h="964852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964852"/>
                  </a:lnTo>
                  <a:lnTo>
                    <a:pt x="0" y="9648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711" r="0" b="-33471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050000" cy="974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إعداد : بثينة الوريث , سليمان هاشم , عبدالحفيظ الصلاي</a:t>
              </a:r>
              <a:r>
                <a:rPr lang="en-US" sz="20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  <a:p>
              <a:pPr algn="l">
                <a:lnSpc>
                  <a:spcPts val="243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1575" y="8886825"/>
            <a:ext cx="8858250" cy="371475"/>
            <a:chOff x="0" y="0"/>
            <a:chExt cx="11811000" cy="495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11000" cy="495300"/>
            </a:xfrm>
            <a:custGeom>
              <a:avLst/>
              <a:gdLst/>
              <a:ahLst/>
              <a:cxnLst/>
              <a:rect r="r" b="b" t="t" l="l"/>
              <a:pathLst>
                <a:path h="4953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4643" r="0" b="-4146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81100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5"/>
                </a:lnSpc>
              </a:pPr>
              <a:r>
                <a:rPr lang="en-US" sz="1537" b="true">
                  <a:solidFill>
                    <a:srgbClr val="B7C78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PITCH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5483" y="3730552"/>
            <a:ext cx="8961120" cy="161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ar-EG" sz="4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منصة ذكاء اصطناعي للصحة النفسية الإعلامية في ليبيا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6113" y="10287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30"/>
                </a:lnSpc>
              </a:pPr>
              <a:r>
                <a:rPr lang="ar-EG" sz="4275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المحتوى الرقمي يفرض تحديين في آن واحد</a:t>
              </a:r>
              <a:r>
                <a:rPr lang="en-US" sz="4275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3716000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2"/>
                </a:lnSpc>
              </a:pPr>
              <a:r>
                <a:rPr lang="en-US" sz="1177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57300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12"/>
                </a:lnSpc>
              </a:pPr>
              <a:r>
                <a:rPr lang="en-US" sz="1177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76988" y="2281919"/>
            <a:ext cx="9286875" cy="2534017"/>
            <a:chOff x="0" y="0"/>
            <a:chExt cx="12382500" cy="3378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82500" cy="3378690"/>
            </a:xfrm>
            <a:custGeom>
              <a:avLst/>
              <a:gdLst/>
              <a:ahLst/>
              <a:cxnLst/>
              <a:rect r="r" b="b" t="t" l="l"/>
              <a:pathLst>
                <a:path h="337869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3378690"/>
                  </a:lnTo>
                  <a:lnTo>
                    <a:pt x="0" y="3378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70" r="0" b="-97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382500" cy="3397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590"/>
                </a:lnSpc>
              </a:pPr>
            </a:p>
            <a:p>
              <a:pPr algn="just" rtl="true">
                <a:lnSpc>
                  <a:spcPts val="4590"/>
                </a:lnSpc>
              </a:pPr>
              <a:r>
                <a:rPr lang="ar-EG" b="true" sz="382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عليك أن تتحقق من مصداقية ما تقرأ، وفي الوقت نفسه تدير مشاعرك تجاه لغته وأسلوبه.</a:t>
              </a:r>
            </a:p>
            <a:p>
              <a:pPr algn="r">
                <a:lnSpc>
                  <a:spcPts val="459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776988" y="4382181"/>
            <a:ext cx="9286875" cy="71438"/>
            <a:chOff x="0" y="0"/>
            <a:chExt cx="12382500" cy="95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82500" cy="95250"/>
            </a:xfrm>
            <a:custGeom>
              <a:avLst/>
              <a:gdLst/>
              <a:ahLst/>
              <a:cxnLst/>
              <a:rect r="r" b="b" t="t" l="l"/>
              <a:pathLst>
                <a:path h="9525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C75A4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991300" y="4947556"/>
            <a:ext cx="9072562" cy="1314450"/>
            <a:chOff x="0" y="0"/>
            <a:chExt cx="12096750" cy="1752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96750" cy="1752600"/>
            </a:xfrm>
            <a:custGeom>
              <a:avLst/>
              <a:gdLst/>
              <a:ahLst/>
              <a:cxnLst/>
              <a:rect r="r" b="b" t="t" l="l"/>
              <a:pathLst>
                <a:path h="1752600" w="12096750">
                  <a:moveTo>
                    <a:pt x="0" y="0"/>
                  </a:moveTo>
                  <a:lnTo>
                    <a:pt x="12096750" y="0"/>
                  </a:lnTo>
                  <a:lnTo>
                    <a:pt x="12096750" y="1752600"/>
                  </a:lnTo>
                  <a:lnTo>
                    <a:pt x="0" y="1752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89" r="0" b="-844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2096750" cy="177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rtl="true">
                <a:lnSpc>
                  <a:spcPts val="3375"/>
                </a:lnSpc>
              </a:pPr>
              <a:r>
                <a:rPr lang="ar-EG" sz="28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الشائعات، والخطاب المحرّض، وخطاب الكراهية تختلط جميعها بالإلحاح والضغط العاطفي.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4137" y="2601344"/>
            <a:ext cx="5643562" cy="3114675"/>
            <a:chOff x="0" y="0"/>
            <a:chExt cx="7524750" cy="41529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24750" cy="4152900"/>
            </a:xfrm>
            <a:custGeom>
              <a:avLst/>
              <a:gdLst/>
              <a:ahLst/>
              <a:cxnLst/>
              <a:rect r="r" b="b" t="t" l="l"/>
              <a:pathLst>
                <a:path h="4152900" w="7524750">
                  <a:moveTo>
                    <a:pt x="0" y="0"/>
                  </a:moveTo>
                  <a:lnTo>
                    <a:pt x="7524750" y="0"/>
                  </a:lnTo>
                  <a:lnTo>
                    <a:pt x="752475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810" t="0" r="-2081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752475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rtl="true">
                <a:lnSpc>
                  <a:spcPts val="3104"/>
                </a:lnSpc>
              </a:pPr>
              <a:r>
                <a:rPr lang="ar-EG" sz="2587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في يونيو </a:t>
              </a:r>
              <a:r>
                <a:rPr lang="en-US" sz="2587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r>
                <a:rPr lang="ar-EG" sz="2587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، أعربت الأمم المتحدة في ليبيا عن قلقها من التضليل والمعلومات المضللة والخطاب المحرّض على وسائل التواصل، بما في ذلك المحتوى الذي يستهدف أفرادًا وجماعات.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37983" y="6316094"/>
            <a:ext cx="5429250" cy="371475"/>
            <a:chOff x="0" y="0"/>
            <a:chExt cx="7239000" cy="495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3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781" r="0" b="-23478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23900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5"/>
                </a:lnSpc>
              </a:pPr>
              <a:r>
                <a:rPr lang="ar-EG" sz="1537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فرصة التصميم</a:t>
              </a:r>
              <a:r>
                <a:rPr lang="en-US" sz="1537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52233" y="6630419"/>
            <a:ext cx="5715000" cy="1485900"/>
            <a:chOff x="0" y="0"/>
            <a:chExt cx="7620000" cy="198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20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620000" cy="200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4"/>
                </a:lnSpc>
              </a:pPr>
              <a:r>
                <a:rPr lang="ar-EG" sz="3003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توازن تربط بين تحليل المحتوى، والوعي العاطفي الذاتي، وتوجيه استجابة عملي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83851" y="8110195"/>
            <a:ext cx="6483382" cy="498024"/>
            <a:chOff x="0" y="0"/>
            <a:chExt cx="8644509" cy="6640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44514" cy="664026"/>
            </a:xfrm>
            <a:custGeom>
              <a:avLst/>
              <a:gdLst/>
              <a:ahLst/>
              <a:cxnLst/>
              <a:rect r="r" b="b" t="t" l="l"/>
              <a:pathLst>
                <a:path h="664026" w="8644514">
                  <a:moveTo>
                    <a:pt x="0" y="0"/>
                  </a:moveTo>
                  <a:lnTo>
                    <a:pt x="8644514" y="0"/>
                  </a:lnTo>
                  <a:lnTo>
                    <a:pt x="8644514" y="664026"/>
                  </a:lnTo>
                  <a:lnTo>
                    <a:pt x="0" y="6640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662" r="0" b="-20366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644509" cy="673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1"/>
                </a:lnSpc>
              </a:pPr>
              <a:r>
                <a:rPr lang="ar-EG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المصدر: الأمم المتحدة في ليبيا، </a:t>
              </a:r>
              <a:r>
                <a:rPr lang="en-US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ar-EG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 يونيو</a:t>
              </a:r>
              <a:r>
                <a:rPr lang="en-US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</a:rPr>
                <a:t>2026   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08056" y="3253469"/>
            <a:ext cx="28575" cy="5572125"/>
            <a:chOff x="0" y="0"/>
            <a:chExt cx="38100" cy="7429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00" cy="7429500"/>
            </a:xfrm>
            <a:custGeom>
              <a:avLst/>
              <a:gdLst/>
              <a:ahLst/>
              <a:cxnLst/>
              <a:rect r="r" b="b" t="t" l="l"/>
              <a:pathLst>
                <a:path h="7429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429500"/>
                  </a:lnTo>
                  <a:lnTo>
                    <a:pt x="0" y="742950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30"/>
                </a:lnSpc>
              </a:pPr>
              <a:r>
                <a:rPr lang="ar-EG" sz="4275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الانتشار الرقمي في ليبيا يجعل هذا السياق أكثر إلحاحًا</a:t>
              </a:r>
              <a:r>
                <a:rPr lang="en-US" sz="4275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0125" y="2486025"/>
            <a:ext cx="6572250" cy="2028825"/>
            <a:chOff x="0" y="0"/>
            <a:chExt cx="8763000" cy="2705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63000" cy="2705100"/>
            </a:xfrm>
            <a:custGeom>
              <a:avLst/>
              <a:gdLst/>
              <a:ahLst/>
              <a:cxnLst/>
              <a:rect r="r" b="b" t="t" l="l"/>
              <a:pathLst>
                <a:path h="27051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2705100"/>
                  </a:lnTo>
                  <a:lnTo>
                    <a:pt x="0" y="2705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0" r="0" b="-131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7630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610"/>
                </a:lnSpc>
              </a:pPr>
              <a:r>
                <a:rPr lang="en-US" sz="9675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88.5%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5850" y="4643438"/>
            <a:ext cx="6643688" cy="1285875"/>
            <a:chOff x="0" y="0"/>
            <a:chExt cx="8858250" cy="1714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58250" cy="1714500"/>
            </a:xfrm>
            <a:custGeom>
              <a:avLst/>
              <a:gdLst/>
              <a:ahLst/>
              <a:cxnLst/>
              <a:rect r="r" b="b" t="t" l="l"/>
              <a:pathLst>
                <a:path h="1714500" w="8858250">
                  <a:moveTo>
                    <a:pt x="0" y="0"/>
                  </a:moveTo>
                  <a:lnTo>
                    <a:pt x="8858250" y="0"/>
                  </a:lnTo>
                  <a:lnTo>
                    <a:pt x="885825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858250" cy="1733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من سكان ليبيا استخدموا الإنترنت في نهاية </a:t>
              </a:r>
              <a:r>
                <a:rPr lang="en-US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2025</a:t>
              </a: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15375" y="2428875"/>
            <a:ext cx="28575" cy="5572125"/>
            <a:chOff x="0" y="0"/>
            <a:chExt cx="38100" cy="7429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" cy="7429500"/>
            </a:xfrm>
            <a:custGeom>
              <a:avLst/>
              <a:gdLst/>
              <a:ahLst/>
              <a:cxnLst/>
              <a:rect r="r" b="b" t="t" l="l"/>
              <a:pathLst>
                <a:path h="7429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429500"/>
                  </a:lnTo>
                  <a:lnTo>
                    <a:pt x="0" y="742950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515600" y="2486025"/>
            <a:ext cx="6858000" cy="2028825"/>
            <a:chOff x="0" y="0"/>
            <a:chExt cx="9144000" cy="2705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0" cy="2705100"/>
            </a:xfrm>
            <a:custGeom>
              <a:avLst/>
              <a:gdLst/>
              <a:ahLst/>
              <a:cxnLst/>
              <a:rect r="r" b="b" t="t" l="l"/>
              <a:pathLst>
                <a:path h="27051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705100"/>
                  </a:lnTo>
                  <a:lnTo>
                    <a:pt x="0" y="2705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64" r="0" b="-1586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0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rtl="true">
                <a:lnSpc>
                  <a:spcPts val="10530"/>
                </a:lnSpc>
              </a:pPr>
              <a:r>
                <a:rPr lang="en-US" b="true" sz="8775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6.62</a:t>
              </a:r>
              <a:r>
                <a:rPr lang="ar-EG" b="true" sz="8775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مليون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801350" y="4705350"/>
            <a:ext cx="6572250" cy="1285875"/>
            <a:chOff x="0" y="0"/>
            <a:chExt cx="8763000" cy="1714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63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763000" cy="1733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مستخدم إنترنت تقديريًا في ليبيا في نهاية </a:t>
              </a:r>
              <a:r>
                <a:rPr lang="en-US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2025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301287" y="6581775"/>
            <a:ext cx="7072312" cy="1600200"/>
            <a:chOff x="0" y="0"/>
            <a:chExt cx="9429750" cy="2133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29750" cy="2133600"/>
            </a:xfrm>
            <a:custGeom>
              <a:avLst/>
              <a:gdLst/>
              <a:ahLst/>
              <a:cxnLst/>
              <a:rect r="r" b="b" t="t" l="l"/>
              <a:pathLst>
                <a:path h="213360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16" r="0" b="-361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429750" cy="2143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970"/>
                </a:lnSpc>
              </a:pPr>
            </a:p>
            <a:p>
              <a:pPr algn="r">
                <a:lnSpc>
                  <a:spcPts val="2970"/>
                </a:lnSpc>
              </a:pPr>
              <a:r>
                <a:rPr lang="ar-EG" sz="2475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توازن مصمَّمة للمساحات التي يلتقي فيها الناس بالمعلومة أصلًا، بتجربة خفيفة تعطي الأولوية للهاتف المحمول</a:t>
              </a:r>
              <a:r>
                <a:rPr lang="en-US" sz="2475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57350" y="8410575"/>
            <a:ext cx="15716250" cy="647700"/>
            <a:chOff x="0" y="0"/>
            <a:chExt cx="20955000" cy="863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955000" cy="863600"/>
            </a:xfrm>
            <a:custGeom>
              <a:avLst/>
              <a:gdLst/>
              <a:ahLst/>
              <a:cxnLst/>
              <a:rect r="r" b="b" t="t" l="l"/>
              <a:pathLst>
                <a:path h="863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710" r="0" b="-40588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0955000" cy="873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1755"/>
                </a:lnSpc>
              </a:pPr>
              <a:r>
                <a:rPr lang="ar-EG" sz="14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المصدر: </a:t>
              </a:r>
              <a:r>
                <a:rPr lang="en-US" sz="14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</a:rPr>
                <a:t>DataReportal / Kepios</a:t>
              </a:r>
              <a:r>
                <a:rPr lang="ar-EG" sz="14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، التقرير الرقمي </a:t>
              </a:r>
              <a:r>
                <a:rPr lang="en-US" sz="14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r>
                <a:rPr lang="ar-EG" sz="14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: ليبيا. هويات مستخدمي وسائل التواصل لا تعني بالضرورة أشخاصًا فريدين.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30"/>
                </a:lnSpc>
              </a:pPr>
              <a:r>
                <a:rPr lang="ar-EG" sz="4275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الصحة النفسية أولوية، والبيانات المحلية محدودة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74875" y="2876550"/>
            <a:ext cx="7200900" cy="3714750"/>
            <a:chOff x="0" y="0"/>
            <a:chExt cx="9601200" cy="495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525000" cy="2571750"/>
              <a:chOff x="0" y="0"/>
              <a:chExt cx="9525000" cy="25717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25000" cy="2571750"/>
              </a:xfrm>
              <a:custGeom>
                <a:avLst/>
                <a:gdLst/>
                <a:ahLst/>
                <a:cxnLst/>
                <a:rect r="r" b="b" t="t" l="l"/>
                <a:pathLst>
                  <a:path h="2571750" w="95250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2571750"/>
                    </a:lnTo>
                    <a:lnTo>
                      <a:pt x="0" y="25717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2166" r="0" b="-22166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525000" cy="26098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 rtl="true">
                  <a:lnSpc>
                    <a:spcPts val="10800"/>
                  </a:lnSpc>
                </a:pPr>
                <a:r>
                  <a:rPr lang="en-US" b="true" sz="9000">
                    <a:solidFill>
                      <a:srgbClr val="C75A4A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22.1%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76200" y="2762250"/>
              <a:ext cx="9525000" cy="2190750"/>
              <a:chOff x="0" y="0"/>
              <a:chExt cx="9525000" cy="21907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525000" cy="2190750"/>
              </a:xfrm>
              <a:custGeom>
                <a:avLst/>
                <a:gdLst/>
                <a:ahLst/>
                <a:cxnLst/>
                <a:rect r="r" b="b" t="t" l="l"/>
                <a:pathLst>
                  <a:path h="2190750" w="95250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2190750"/>
                    </a:lnTo>
                    <a:lnTo>
                      <a:pt x="0" y="21907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4717" r="0" b="-34717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9525000" cy="22098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just" rtl="true">
                  <a:lnSpc>
                    <a:spcPts val="3375"/>
                  </a:lnSpc>
                </a:pPr>
                <a:r>
                  <a:rPr lang="ar-EG" b="true" sz="2812">
                    <a:solidFill>
                      <a:srgbClr val="142B2E"/>
                    </a:solidFill>
                    <a:latin typeface="Arial Bold"/>
                    <a:ea typeface="Arial Bold"/>
                    <a:cs typeface="Arial Bold"/>
                    <a:sym typeface="Arial Bold"/>
                    <a:rtl val="true"/>
                  </a:rPr>
                  <a:t>تقدير منظمة الصحة العالمية </a:t>
                </a:r>
                <a:r>
                  <a:rPr lang="en-US" b="true" sz="2812">
                    <a:solidFill>
                      <a:srgbClr val="142B2E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WHO</a:t>
                </a:r>
                <a:r>
                  <a:rPr lang="ar-EG" b="true" sz="2812">
                    <a:solidFill>
                      <a:srgbClr val="142B2E"/>
                    </a:solidFill>
                    <a:latin typeface="Arial Bold"/>
                    <a:ea typeface="Arial Bold"/>
                    <a:cs typeface="Arial Bold"/>
                    <a:sym typeface="Arial Bold"/>
                    <a:rtl val="true"/>
                  </a:rPr>
                  <a:t> لاضطرابات الصحة النفسية في لحظة زمنية لدى المناطق المتأثرة بالنزاعات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9286875" y="2486025"/>
            <a:ext cx="57150" cy="5357812"/>
            <a:chOff x="0" y="0"/>
            <a:chExt cx="76200" cy="71437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7143750"/>
            </a:xfrm>
            <a:custGeom>
              <a:avLst/>
              <a:gdLst/>
              <a:ahLst/>
              <a:cxnLst/>
              <a:rect r="r" b="b" t="t" l="l"/>
              <a:pathLst>
                <a:path h="7143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7143750"/>
                  </a:lnTo>
                  <a:lnTo>
                    <a:pt x="0" y="714375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71650" y="2876550"/>
            <a:ext cx="6858000" cy="635481"/>
            <a:chOff x="0" y="0"/>
            <a:chExt cx="9144000" cy="8473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847308"/>
            </a:xfrm>
            <a:custGeom>
              <a:avLst/>
              <a:gdLst/>
              <a:ahLst/>
              <a:cxnLst/>
              <a:rect r="r" b="b" t="t" l="l"/>
              <a:pathLst>
                <a:path h="84730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47308"/>
                  </a:lnTo>
                  <a:lnTo>
                    <a:pt x="0" y="8473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816" r="0" b="-15974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9144000" cy="866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89"/>
                </a:lnSpc>
              </a:pPr>
              <a:r>
                <a:rPr lang="ar-EG" b="true" sz="3074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ملاحظة مهمة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28775" y="3767138"/>
            <a:ext cx="7000875" cy="2071688"/>
            <a:chOff x="0" y="0"/>
            <a:chExt cx="9334500" cy="2762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34500" cy="2762250"/>
            </a:xfrm>
            <a:custGeom>
              <a:avLst/>
              <a:gdLst/>
              <a:ahLst/>
              <a:cxnLst/>
              <a:rect r="r" b="b" t="t" l="l"/>
              <a:pathLst>
                <a:path h="276225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2762250"/>
                  </a:lnTo>
                  <a:lnTo>
                    <a:pt x="0" y="2762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5" r="0" b="-158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33450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464"/>
                </a:lnSpc>
              </a:pPr>
            </a:p>
            <a:p>
              <a:pPr algn="just" rtl="true">
                <a:lnSpc>
                  <a:spcPts val="3464"/>
                </a:lnSpc>
              </a:pPr>
              <a:r>
                <a:rPr lang="ar-EG" sz="2887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هذا ليس مسحًا لانتشار محلي في ليبيا. منظمة الصحة العالمية تقول إنه لا توجد بيانات انتشار وطنية رسمية، وإن البحث في الصحة النفسية العامة يبقى محدودًا.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28775" y="6067425"/>
            <a:ext cx="7000875" cy="2028825"/>
            <a:chOff x="0" y="0"/>
            <a:chExt cx="9334500" cy="2705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34500" cy="2705100"/>
            </a:xfrm>
            <a:custGeom>
              <a:avLst/>
              <a:gdLst/>
              <a:ahLst/>
              <a:cxnLst/>
              <a:rect r="r" b="b" t="t" l="l"/>
              <a:pathLst>
                <a:path h="27051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2705100"/>
                  </a:lnTo>
                  <a:lnTo>
                    <a:pt x="0" y="2705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37" r="0" b="-172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334500" cy="2724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29"/>
                </a:lnSpc>
              </a:pPr>
              <a:r>
                <a:rPr lang="ar-EG" sz="2774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هذه الفجوة تجعل الإنصات للمجتمع المحلي واختبار الأداة أمرًا لا غنى عنه. تنطلق "توازن" كأداة للصحة النفسية الإعلامية، لا كخدمة تشخيص أو علاج نفسي.</a:t>
              </a:r>
              <a:r>
                <a:rPr lang="ar-EG" sz="2774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5850" y="8324850"/>
            <a:ext cx="15716250" cy="647700"/>
            <a:chOff x="0" y="0"/>
            <a:chExt cx="20955000" cy="863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955000" cy="863600"/>
            </a:xfrm>
            <a:custGeom>
              <a:avLst/>
              <a:gdLst/>
              <a:ahLst/>
              <a:cxnLst/>
              <a:rect r="r" b="b" t="t" l="l"/>
              <a:pathLst>
                <a:path h="863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328" r="0" b="-39926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0955000" cy="873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</a:p>
            <a:p>
              <a:pPr algn="r" rtl="true">
                <a:lnSpc>
                  <a:spcPts val="1751"/>
                </a:lnSpc>
              </a:pPr>
              <a:r>
                <a:rPr lang="ar-EG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المصدر: </a:t>
              </a:r>
              <a:r>
                <a:rPr lang="en-US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</a:rPr>
                <a:t>WHO EMRO</a:t>
              </a:r>
              <a:r>
                <a:rPr lang="ar-EG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، الصحة النفسية والدعم النفسي الاجتماعي، تقرير </a:t>
              </a:r>
              <a:r>
                <a:rPr lang="en-US" sz="145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</a:rPr>
                <a:t>2024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130"/>
                </a:lnSpc>
              </a:pPr>
              <a:r>
                <a:rPr lang="ar-EG" b="true" sz="42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توازن منصة ذكاء اصطناعي للصحة النفسية الإعلامية في ليبيا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14550" y="2238375"/>
            <a:ext cx="15144750" cy="771525"/>
            <a:chOff x="0" y="0"/>
            <a:chExt cx="20193000" cy="1028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93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0193000">
                  <a:moveTo>
                    <a:pt x="0" y="0"/>
                  </a:moveTo>
                  <a:lnTo>
                    <a:pt x="20193000" y="0"/>
                  </a:lnTo>
                  <a:lnTo>
                    <a:pt x="20193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484" r="0" b="-33248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019300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95"/>
                </a:lnSpc>
              </a:pPr>
              <a:r>
                <a:rPr lang="ar-EG" b="true" sz="2745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تساعدك على تقييم المنشور، وفهم أثره عليك، وتحديد استجابتك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85207" y="4829175"/>
            <a:ext cx="4429125" cy="57150"/>
            <a:chOff x="0" y="0"/>
            <a:chExt cx="5905500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05500" cy="76200"/>
            </a:xfrm>
            <a:custGeom>
              <a:avLst/>
              <a:gdLst/>
              <a:ahLst/>
              <a:cxnLst/>
              <a:rect r="r" b="b" t="t" l="l"/>
              <a:pathLst>
                <a:path h="762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85207" y="5214938"/>
            <a:ext cx="4572000" cy="742950"/>
            <a:chOff x="0" y="0"/>
            <a:chExt cx="6096000" cy="99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0" cy="990600"/>
            </a:xfrm>
            <a:custGeom>
              <a:avLst/>
              <a:gdLst/>
              <a:ahLst/>
              <a:cxnLst/>
              <a:rect r="r" b="b" t="t" l="l"/>
              <a:pathLst>
                <a:path h="990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0960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44"/>
                </a:lnSpc>
              </a:pPr>
              <a:r>
                <a:rPr lang="ar-EG" b="true" sz="3037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قراءة المنشور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85207" y="6115050"/>
            <a:ext cx="4572000" cy="1571625"/>
            <a:chOff x="0" y="0"/>
            <a:chExt cx="6096000" cy="2095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6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95500"/>
                  </a:lnTo>
                  <a:lnTo>
                    <a:pt x="0" y="2095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096000" cy="2105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194"/>
                </a:lnSpc>
              </a:pPr>
              <a:r>
                <a:rPr lang="ar-EG" sz="26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لاحظ اللغة المحمّلة، والادعاءات غير المدعومة، والإلحاح، والاستهداف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516225" y="3600450"/>
            <a:ext cx="1857375" cy="1028700"/>
            <a:chOff x="0" y="0"/>
            <a:chExt cx="24765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765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4765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670"/>
                </a:lnSpc>
              </a:pPr>
              <a:r>
                <a:rPr lang="en-US" sz="4725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927363" y="3600450"/>
            <a:ext cx="1857375" cy="1028700"/>
            <a:chOff x="0" y="0"/>
            <a:chExt cx="247650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65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4765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670"/>
                </a:lnSpc>
              </a:pPr>
              <a:r>
                <a:rPr lang="en-US" b="true" sz="4725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355613" y="4857750"/>
            <a:ext cx="4429125" cy="57150"/>
            <a:chOff x="0" y="0"/>
            <a:chExt cx="5905500" cy="76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05500" cy="76200"/>
            </a:xfrm>
            <a:custGeom>
              <a:avLst/>
              <a:gdLst/>
              <a:ahLst/>
              <a:cxnLst/>
              <a:rect r="r" b="b" t="t" l="l"/>
              <a:pathLst>
                <a:path h="762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75A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212738" y="5293519"/>
            <a:ext cx="4572000" cy="742950"/>
            <a:chOff x="0" y="0"/>
            <a:chExt cx="6096000" cy="990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990600"/>
            </a:xfrm>
            <a:custGeom>
              <a:avLst/>
              <a:gdLst/>
              <a:ahLst/>
              <a:cxnLst/>
              <a:rect r="r" b="b" t="t" l="l"/>
              <a:pathLst>
                <a:path h="990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0960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44"/>
                </a:lnSpc>
              </a:pPr>
              <a:r>
                <a:rPr lang="ar-EG" b="true" sz="3037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ملاحظة التأثير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23342" y="5957888"/>
            <a:ext cx="4572000" cy="1571625"/>
            <a:chOff x="0" y="0"/>
            <a:chExt cx="6096000" cy="2095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95500"/>
                  </a:lnTo>
                  <a:lnTo>
                    <a:pt x="0" y="2095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096000" cy="2105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194"/>
                </a:lnSpc>
              </a:pPr>
              <a:r>
                <a:rPr lang="ar-EG" sz="26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سمِّ الشعور الذي أثاره المحتوى، دون حكم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344540" y="3581400"/>
            <a:ext cx="1857375" cy="1028700"/>
            <a:chOff x="0" y="0"/>
            <a:chExt cx="2476500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765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4765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670"/>
                </a:lnSpc>
              </a:pPr>
              <a:r>
                <a:rPr lang="en-US" b="true" sz="4725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72790" y="4772025"/>
            <a:ext cx="4429125" cy="57150"/>
            <a:chOff x="0" y="0"/>
            <a:chExt cx="5905500" cy="76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05500" cy="76200"/>
            </a:xfrm>
            <a:custGeom>
              <a:avLst/>
              <a:gdLst/>
              <a:ahLst/>
              <a:cxnLst/>
              <a:rect r="r" b="b" t="t" l="l"/>
              <a:pathLst>
                <a:path h="762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29915" y="5214938"/>
            <a:ext cx="4572000" cy="742950"/>
            <a:chOff x="0" y="0"/>
            <a:chExt cx="6096000" cy="990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96000" cy="990600"/>
            </a:xfrm>
            <a:custGeom>
              <a:avLst/>
              <a:gdLst/>
              <a:ahLst/>
              <a:cxnLst/>
              <a:rect r="r" b="b" t="t" l="l"/>
              <a:pathLst>
                <a:path h="990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0960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44"/>
                </a:lnSpc>
              </a:pPr>
              <a:r>
                <a:rPr lang="ar-EG" b="true" sz="3037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اختيار استجابتك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29915" y="6115050"/>
            <a:ext cx="4572000" cy="1571625"/>
            <a:chOff x="0" y="0"/>
            <a:chExt cx="6096000" cy="20955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095500"/>
                  </a:lnTo>
                  <a:lnTo>
                    <a:pt x="0" y="2095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096000" cy="2105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194"/>
                </a:lnSpc>
              </a:pPr>
              <a:r>
                <a:rPr lang="ar-EG" sz="266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وافق، أو تحقق من المصدر، أو جرّب تمرين تهدئة، أو انسحب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78105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130"/>
                </a:lnSpc>
              </a:pPr>
              <a:r>
                <a:rPr lang="ar-EG" b="true" sz="42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كيف تعمل تجربة "توازن" من البداية إلى النهاية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85900" y="1943100"/>
            <a:ext cx="15716250" cy="742950"/>
            <a:chOff x="0" y="0"/>
            <a:chExt cx="20955000" cy="990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55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2183" r="0" b="-36218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09550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240"/>
                </a:lnSpc>
              </a:pPr>
              <a:r>
                <a:rPr lang="ar-EG" sz="2700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 مثال: مستخدم يرى ادعاءً مقلقًا عن خدمة محلية، فيشعر بالقلق.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187738" y="3331369"/>
            <a:ext cx="914400" cy="771525"/>
            <a:chOff x="0" y="0"/>
            <a:chExt cx="1219200" cy="1028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1920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320"/>
                </a:lnSpc>
              </a:pPr>
              <a:r>
                <a:rPr lang="en-US" b="true" sz="3600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51719" y="4488656"/>
            <a:ext cx="3400425" cy="57150"/>
            <a:chOff x="0" y="0"/>
            <a:chExt cx="4533900" cy="76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33900" cy="76200"/>
            </a:xfrm>
            <a:custGeom>
              <a:avLst/>
              <a:gdLst/>
              <a:ahLst/>
              <a:cxnLst/>
              <a:rect r="r" b="b" t="t" l="l"/>
              <a:pathLst>
                <a:path h="76200" w="4533900">
                  <a:moveTo>
                    <a:pt x="0" y="0"/>
                  </a:moveTo>
                  <a:lnTo>
                    <a:pt x="4533900" y="0"/>
                  </a:lnTo>
                  <a:lnTo>
                    <a:pt x="4533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701712" y="4902994"/>
            <a:ext cx="3500438" cy="628650"/>
            <a:chOff x="0" y="0"/>
            <a:chExt cx="4667250" cy="838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67250" cy="838200"/>
            </a:xfrm>
            <a:custGeom>
              <a:avLst/>
              <a:gdLst/>
              <a:ahLst/>
              <a:cxnLst/>
              <a:rect r="r" b="b" t="t" l="l"/>
              <a:pathLst>
                <a:path h="83820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96" r="0" b="-584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66725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مشاركة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69181" y="5438775"/>
            <a:ext cx="3457575" cy="2286000"/>
            <a:chOff x="0" y="0"/>
            <a:chExt cx="4610100" cy="304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101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828" t="0" r="-3482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610100" cy="305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059"/>
                </a:lnSpc>
              </a:pPr>
              <a:r>
                <a:rPr lang="ar-EG" sz="254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يشارك المستخدم المنشور ويختار كيف أثّر فيه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935619" y="3331369"/>
            <a:ext cx="914400" cy="771525"/>
            <a:chOff x="0" y="0"/>
            <a:chExt cx="1219200" cy="1028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21920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320"/>
                </a:lnSpc>
              </a:pPr>
              <a:r>
                <a:rPr lang="en-US" b="true" sz="3600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25794" y="4488656"/>
            <a:ext cx="3400425" cy="57150"/>
            <a:chOff x="0" y="0"/>
            <a:chExt cx="4533900" cy="76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33900" cy="76200"/>
            </a:xfrm>
            <a:custGeom>
              <a:avLst/>
              <a:gdLst/>
              <a:ahLst/>
              <a:cxnLst/>
              <a:rect r="r" b="b" t="t" l="l"/>
              <a:pathLst>
                <a:path h="76200" w="4533900">
                  <a:moveTo>
                    <a:pt x="0" y="0"/>
                  </a:moveTo>
                  <a:lnTo>
                    <a:pt x="4533900" y="0"/>
                  </a:lnTo>
                  <a:lnTo>
                    <a:pt x="4533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75A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49594" y="4902994"/>
            <a:ext cx="3500438" cy="628650"/>
            <a:chOff x="0" y="0"/>
            <a:chExt cx="4667250" cy="838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67250" cy="838200"/>
            </a:xfrm>
            <a:custGeom>
              <a:avLst/>
              <a:gdLst/>
              <a:ahLst/>
              <a:cxnLst/>
              <a:rect r="r" b="b" t="t" l="l"/>
              <a:pathLst>
                <a:path h="83820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96" r="0" b="-584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66725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فهم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49594" y="5531644"/>
            <a:ext cx="3457575" cy="2286000"/>
            <a:chOff x="0" y="0"/>
            <a:chExt cx="4610100" cy="304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101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828" t="0" r="-3482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610100" cy="305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059"/>
                </a:lnSpc>
              </a:pPr>
              <a:r>
                <a:rPr lang="ar-EG" sz="254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يشرح الذكاء الاصطناعي الإلحاح، واللغة العاطفية، ودلائل المصدر. ويوضّح درجة عدم اليقين.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81119" y="3331369"/>
            <a:ext cx="914400" cy="771525"/>
            <a:chOff x="0" y="0"/>
            <a:chExt cx="1219200" cy="1028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21920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320"/>
                </a:lnSpc>
              </a:pPr>
              <a:r>
                <a:rPr lang="en-US" b="true" sz="3600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297488" y="4488656"/>
            <a:ext cx="3400425" cy="57150"/>
            <a:chOff x="0" y="0"/>
            <a:chExt cx="4533900" cy="76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33900" cy="76200"/>
            </a:xfrm>
            <a:custGeom>
              <a:avLst/>
              <a:gdLst/>
              <a:ahLst/>
              <a:cxnLst/>
              <a:rect r="r" b="b" t="t" l="l"/>
              <a:pathLst>
                <a:path h="76200" w="4533900">
                  <a:moveTo>
                    <a:pt x="0" y="0"/>
                  </a:moveTo>
                  <a:lnTo>
                    <a:pt x="4533900" y="0"/>
                  </a:lnTo>
                  <a:lnTo>
                    <a:pt x="4533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195094" y="4902994"/>
            <a:ext cx="3500438" cy="628650"/>
            <a:chOff x="0" y="0"/>
            <a:chExt cx="4667250" cy="838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67250" cy="838200"/>
            </a:xfrm>
            <a:custGeom>
              <a:avLst/>
              <a:gdLst/>
              <a:ahLst/>
              <a:cxnLst/>
              <a:rect r="r" b="b" t="t" l="l"/>
              <a:pathLst>
                <a:path h="83820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96" r="0" b="-5849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66725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تتبع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237956" y="5531644"/>
            <a:ext cx="3457575" cy="2286000"/>
            <a:chOff x="0" y="0"/>
            <a:chExt cx="4610100" cy="3048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101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828" t="0" r="-3482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610100" cy="305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059"/>
                </a:lnSpc>
              </a:pPr>
              <a:r>
                <a:rPr lang="ar-EG" sz="254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يستطيع تتبع أنماط مزاجه وتجربة تمرين تهدئة أو مثال تدريبي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371850" y="3331369"/>
            <a:ext cx="914400" cy="771525"/>
            <a:chOff x="0" y="0"/>
            <a:chExt cx="1219200" cy="10287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9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21920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320"/>
                </a:lnSpc>
              </a:pPr>
              <a:r>
                <a:rPr lang="en-US" b="true" sz="3600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42988" y="4488656"/>
            <a:ext cx="3400425" cy="57150"/>
            <a:chOff x="0" y="0"/>
            <a:chExt cx="4533900" cy="76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33900" cy="76200"/>
            </a:xfrm>
            <a:custGeom>
              <a:avLst/>
              <a:gdLst/>
              <a:ahLst/>
              <a:cxnLst/>
              <a:rect r="r" b="b" t="t" l="l"/>
              <a:pathLst>
                <a:path h="76200" w="4533900">
                  <a:moveTo>
                    <a:pt x="0" y="0"/>
                  </a:moveTo>
                  <a:lnTo>
                    <a:pt x="4533900" y="0"/>
                  </a:lnTo>
                  <a:lnTo>
                    <a:pt x="4533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14400" y="4902994"/>
            <a:ext cx="3500438" cy="628650"/>
            <a:chOff x="0" y="0"/>
            <a:chExt cx="4667250" cy="838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667250" cy="838200"/>
            </a:xfrm>
            <a:custGeom>
              <a:avLst/>
              <a:gdLst/>
              <a:ahLst/>
              <a:cxnLst/>
              <a:rect r="r" b="b" t="t" l="l"/>
              <a:pathLst>
                <a:path h="838200" w="4667250">
                  <a:moveTo>
                    <a:pt x="0" y="0"/>
                  </a:moveTo>
                  <a:lnTo>
                    <a:pt x="4667250" y="0"/>
                  </a:lnTo>
                  <a:lnTo>
                    <a:pt x="466725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96" r="0" b="-584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66725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اختيار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4400" y="5438775"/>
            <a:ext cx="3457575" cy="2286000"/>
            <a:chOff x="0" y="0"/>
            <a:chExt cx="4610100" cy="3048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6101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828" t="0" r="-348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610100" cy="305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059"/>
                </a:lnSpc>
              </a:pPr>
              <a:r>
                <a:rPr lang="ar-EG" sz="2549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يقدم دليل المصادر ومدرب الاستجابة خيارات. ورفيق القصص يضيف دعمًا باللهجة الليبية.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28700" y="8429625"/>
            <a:ext cx="15716250" cy="514350"/>
            <a:chOff x="0" y="0"/>
            <a:chExt cx="20955000" cy="685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95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5376" r="0" b="-54537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0955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ar-EG" b="true" sz="2250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في كل خطوة، يبقى القرار بيد المستخدم.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130"/>
                </a:lnSpc>
              </a:pPr>
              <a:r>
                <a:rPr lang="ar-EG" b="true" sz="42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سبع خصائص، منصة واحدة متكاملة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71650" y="2000250"/>
            <a:ext cx="15430500" cy="714375"/>
            <a:chOff x="0" y="0"/>
            <a:chExt cx="20574000" cy="952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574000" cy="952500"/>
            </a:xfrm>
            <a:custGeom>
              <a:avLst/>
              <a:gdLst/>
              <a:ahLst/>
              <a:cxnLst/>
              <a:rect r="r" b="b" t="t" l="l"/>
              <a:pathLst>
                <a:path h="9525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05740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sz="28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كل خاصية تخدم الهدف نفسه: استجابة واعية بوعي عاطفي أعمق.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44375" y="3084671"/>
            <a:ext cx="5029200" cy="610942"/>
            <a:chOff x="0" y="0"/>
            <a:chExt cx="6286500" cy="7636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86500" cy="763678"/>
            </a:xfrm>
            <a:custGeom>
              <a:avLst/>
              <a:gdLst/>
              <a:ahLst/>
              <a:cxnLst/>
              <a:rect r="r" b="b" t="t" l="l"/>
              <a:pathLst>
                <a:path h="763678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763678"/>
                  </a:lnTo>
                  <a:lnTo>
                    <a:pt x="0" y="763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475" r="0" b="-953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286500" cy="782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569"/>
                </a:lnSpc>
              </a:pPr>
              <a:r>
                <a:rPr lang="ar-EG" b="true" sz="2974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فهم المحتوى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58700" y="3930491"/>
            <a:ext cx="4714875" cy="628650"/>
            <a:chOff x="0" y="0"/>
            <a:chExt cx="6286500" cy="838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86500" cy="838200"/>
            </a:xfrm>
            <a:custGeom>
              <a:avLst/>
              <a:gdLst/>
              <a:ahLst/>
              <a:cxnLst/>
              <a:rect r="r" b="b" t="t" l="l"/>
              <a:pathLst>
                <a:path h="838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2865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rtl="true">
                <a:lnSpc>
                  <a:spcPts val="2700"/>
                </a:lnSpc>
              </a:pPr>
              <a:r>
                <a:rPr lang="en-US" b="true" sz="2250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  <a:r>
                <a:rPr lang="ar-EG" b="true" sz="2250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 كاشف التضليل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58700" y="4573429"/>
            <a:ext cx="4714875" cy="771525"/>
            <a:chOff x="0" y="0"/>
            <a:chExt cx="6286500" cy="1028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865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2865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34"/>
                </a:lnSpc>
              </a:pPr>
              <a:r>
                <a:rPr lang="ar-EG" sz="21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يشرح إشارات الادعاء والإقناع مع توضيح عدم اليقين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58700" y="5302091"/>
            <a:ext cx="4572000" cy="14288"/>
            <a:chOff x="0" y="0"/>
            <a:chExt cx="6096000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0" cy="19050"/>
            </a:xfrm>
            <a:custGeom>
              <a:avLst/>
              <a:gdLst/>
              <a:ahLst/>
              <a:cxnLst/>
              <a:rect r="r" b="b" t="t" l="l"/>
              <a:pathLst>
                <a:path h="1905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58700" y="5416391"/>
            <a:ext cx="4714875" cy="628650"/>
            <a:chOff x="0" y="0"/>
            <a:chExt cx="6286500" cy="838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86500" cy="838200"/>
            </a:xfrm>
            <a:custGeom>
              <a:avLst/>
              <a:gdLst/>
              <a:ahLst/>
              <a:cxnLst/>
              <a:rect r="r" b="b" t="t" l="l"/>
              <a:pathLst>
                <a:path h="838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865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en-US" sz="2250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  <a:r>
                <a:rPr lang="ar-EG" sz="2250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 فاحص المصادر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58700" y="6059329"/>
            <a:ext cx="4714875" cy="771525"/>
            <a:chOff x="0" y="0"/>
            <a:chExt cx="6286500" cy="1028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865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2865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34"/>
                </a:lnSpc>
              </a:pPr>
              <a:r>
                <a:rPr lang="ar-EG" sz="21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يُظهر دلائل المصدر ويوجّه إلى مراجع موثوقة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458700" y="6787991"/>
            <a:ext cx="4572000" cy="14288"/>
            <a:chOff x="0" y="0"/>
            <a:chExt cx="60960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0" cy="19050"/>
            </a:xfrm>
            <a:custGeom>
              <a:avLst/>
              <a:gdLst/>
              <a:ahLst/>
              <a:cxnLst/>
              <a:rect r="r" b="b" t="t" l="l"/>
              <a:pathLst>
                <a:path h="1905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58700" y="6902291"/>
            <a:ext cx="4714875" cy="628650"/>
            <a:chOff x="0" y="0"/>
            <a:chExt cx="6286500" cy="838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86500" cy="838200"/>
            </a:xfrm>
            <a:custGeom>
              <a:avLst/>
              <a:gdLst/>
              <a:ahLst/>
              <a:cxnLst/>
              <a:rect r="r" b="b" t="t" l="l"/>
              <a:pathLst>
                <a:path h="838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2865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en-US" sz="2250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  <a:r>
                <a:rPr lang="ar-EG" sz="2250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 محاكي المنشورات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58700" y="7545229"/>
            <a:ext cx="4714875" cy="771525"/>
            <a:chOff x="0" y="0"/>
            <a:chExt cx="6286500" cy="1028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865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2865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34"/>
                </a:lnSpc>
              </a:pPr>
              <a:r>
                <a:rPr lang="ar-EG" sz="21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يتيح للمستخدم التدرب على اكتشاف التقنيات المضللة.</a:t>
              </a:r>
            </a:p>
            <a:p>
              <a:pPr algn="l">
                <a:lnSpc>
                  <a:spcPts val="2534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58700" y="8273891"/>
            <a:ext cx="4572000" cy="14288"/>
            <a:chOff x="0" y="0"/>
            <a:chExt cx="6096000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19050"/>
            </a:xfrm>
            <a:custGeom>
              <a:avLst/>
              <a:gdLst/>
              <a:ahLst/>
              <a:cxnLst/>
              <a:rect r="r" b="b" t="t" l="l"/>
              <a:pathLst>
                <a:path h="1905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786562" y="3183255"/>
            <a:ext cx="4714875" cy="586404"/>
            <a:chOff x="0" y="0"/>
            <a:chExt cx="6286500" cy="7818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86500" cy="781872"/>
            </a:xfrm>
            <a:custGeom>
              <a:avLst/>
              <a:gdLst/>
              <a:ahLst/>
              <a:cxnLst/>
              <a:rect r="r" b="b" t="t" l="l"/>
              <a:pathLst>
                <a:path h="781872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781872"/>
                  </a:lnTo>
                  <a:lnTo>
                    <a:pt x="0" y="7818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55" r="0" b="-9077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286500" cy="791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449"/>
                </a:lnSpc>
              </a:pPr>
              <a:r>
                <a:rPr lang="ar-EG" b="true" sz="2874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لاحظ واستجب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743700" y="4029075"/>
            <a:ext cx="4714875" cy="628650"/>
            <a:chOff x="0" y="0"/>
            <a:chExt cx="6286500" cy="838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86500" cy="838200"/>
            </a:xfrm>
            <a:custGeom>
              <a:avLst/>
              <a:gdLst/>
              <a:ahLst/>
              <a:cxnLst/>
              <a:rect r="r" b="b" t="t" l="l"/>
              <a:pathLst>
                <a:path h="838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2865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95"/>
                </a:lnSpc>
              </a:pPr>
              <a:r>
                <a:rPr lang="en-US" b="true" sz="216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  <a:r>
                <a:rPr lang="ar-EG" b="true" sz="216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 محلل التأثير النفسي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43700" y="4672012"/>
            <a:ext cx="4714875" cy="771525"/>
            <a:chOff x="0" y="0"/>
            <a:chExt cx="6286500" cy="10287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865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62865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34"/>
                </a:lnSpc>
              </a:pPr>
              <a:r>
                <a:rPr lang="ar-EG" sz="21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 يربط المحتوى بالمشاعر التي يصرّح بها المستخدم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43700" y="5400675"/>
            <a:ext cx="4572000" cy="14288"/>
            <a:chOff x="0" y="0"/>
            <a:chExt cx="6096000" cy="190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96000" cy="19050"/>
            </a:xfrm>
            <a:custGeom>
              <a:avLst/>
              <a:gdLst/>
              <a:ahLst/>
              <a:cxnLst/>
              <a:rect r="r" b="b" t="t" l="l"/>
              <a:pathLst>
                <a:path h="1905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743700" y="5514975"/>
            <a:ext cx="4714875" cy="628650"/>
            <a:chOff x="0" y="0"/>
            <a:chExt cx="6286500" cy="838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86500" cy="838200"/>
            </a:xfrm>
            <a:custGeom>
              <a:avLst/>
              <a:gdLst/>
              <a:ahLst/>
              <a:cxnLst/>
              <a:rect r="r" b="b" t="t" l="l"/>
              <a:pathLst>
                <a:path h="838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2865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en-US" b="true" sz="2250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  <a:r>
                <a:rPr lang="ar-EG" b="true" sz="2250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متتبع المزاج والإعلام  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743700" y="6157912"/>
            <a:ext cx="4714875" cy="771525"/>
            <a:chOff x="0" y="0"/>
            <a:chExt cx="6286500" cy="10287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2865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2865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34"/>
                </a:lnSpc>
              </a:pPr>
              <a:r>
                <a:rPr lang="ar-EG" sz="21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يعرض أنماطًا اختيارية ويقترح فاصلاً عن المحتوى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43700" y="6886575"/>
            <a:ext cx="4572000" cy="14288"/>
            <a:chOff x="0" y="0"/>
            <a:chExt cx="6096000" cy="190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096000" cy="19050"/>
            </a:xfrm>
            <a:custGeom>
              <a:avLst/>
              <a:gdLst/>
              <a:ahLst/>
              <a:cxnLst/>
              <a:rect r="r" b="b" t="t" l="l"/>
              <a:pathLst>
                <a:path h="1905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743700" y="7000875"/>
            <a:ext cx="4714875" cy="628650"/>
            <a:chOff x="0" y="0"/>
            <a:chExt cx="6286500" cy="838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286500" cy="838200"/>
            </a:xfrm>
            <a:custGeom>
              <a:avLst/>
              <a:gdLst/>
              <a:ahLst/>
              <a:cxnLst/>
              <a:rect r="r" b="b" t="t" l="l"/>
              <a:pathLst>
                <a:path h="838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2865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700"/>
                </a:lnSpc>
              </a:pPr>
              <a:r>
                <a:rPr lang="en-US" b="true" sz="2250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  <a:r>
                <a:rPr lang="ar-EG" b="true" sz="2250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 مدرب الاستجابة لخطاب الكراهية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743700" y="7643812"/>
            <a:ext cx="4714875" cy="771525"/>
            <a:chOff x="0" y="0"/>
            <a:chExt cx="6286500" cy="1028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2865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62865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34"/>
                </a:lnSpc>
              </a:pPr>
              <a:r>
                <a:rPr lang="ar-EG" sz="21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يقدم طرقًا للرد بهدوء أو الانسحاب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743700" y="8372475"/>
            <a:ext cx="4572000" cy="14288"/>
            <a:chOff x="0" y="0"/>
            <a:chExt cx="6096000" cy="190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96000" cy="19050"/>
            </a:xfrm>
            <a:custGeom>
              <a:avLst/>
              <a:gdLst/>
              <a:ahLst/>
              <a:cxnLst/>
              <a:rect r="r" b="b" t="t" l="l"/>
              <a:pathLst>
                <a:path h="1905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90650" y="3164205"/>
            <a:ext cx="4714875" cy="586404"/>
            <a:chOff x="0" y="0"/>
            <a:chExt cx="6286500" cy="78187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86500" cy="781872"/>
            </a:xfrm>
            <a:custGeom>
              <a:avLst/>
              <a:gdLst/>
              <a:ahLst/>
              <a:cxnLst/>
              <a:rect r="r" b="b" t="t" l="l"/>
              <a:pathLst>
                <a:path h="781872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781872"/>
                  </a:lnTo>
                  <a:lnTo>
                    <a:pt x="0" y="7818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55" r="0" b="-9077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286500" cy="791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449"/>
                </a:lnSpc>
              </a:pPr>
              <a:r>
                <a:rPr lang="ar-EG" b="true" sz="2874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دعم باللهجة الليبية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04925" y="4000500"/>
            <a:ext cx="4714875" cy="628650"/>
            <a:chOff x="0" y="0"/>
            <a:chExt cx="6286500" cy="838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86500" cy="838200"/>
            </a:xfrm>
            <a:custGeom>
              <a:avLst/>
              <a:gdLst/>
              <a:ahLst/>
              <a:cxnLst/>
              <a:rect r="r" b="b" t="t" l="l"/>
              <a:pathLst>
                <a:path h="8382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62865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28"/>
                </a:lnSpc>
              </a:pPr>
              <a:r>
                <a:rPr lang="en-US" b="true" sz="2107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  <a:r>
                <a:rPr lang="ar-EG" b="true" sz="2107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رفيق القصص "الحكيم"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04925" y="4643438"/>
            <a:ext cx="4714875" cy="771525"/>
            <a:chOff x="0" y="0"/>
            <a:chExt cx="6286500" cy="10287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2865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62865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34"/>
                </a:lnSpc>
              </a:pPr>
              <a:r>
                <a:rPr lang="ar-EG" sz="21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يستخدم القصص لخلق مساحة تأمل آمنة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04925" y="5372100"/>
            <a:ext cx="4572000" cy="14288"/>
            <a:chOff x="0" y="0"/>
            <a:chExt cx="6096000" cy="190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96000" cy="19050"/>
            </a:xfrm>
            <a:custGeom>
              <a:avLst/>
              <a:gdLst/>
              <a:ahLst/>
              <a:cxnLst/>
              <a:rect r="r" b="b" t="t" l="l"/>
              <a:pathLst>
                <a:path h="1905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00200" y="8686800"/>
            <a:ext cx="15573375" cy="542925"/>
            <a:chOff x="0" y="0"/>
            <a:chExt cx="20764500" cy="7239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764500" cy="723900"/>
            </a:xfrm>
            <a:custGeom>
              <a:avLst/>
              <a:gdLst/>
              <a:ahLst/>
              <a:cxnLst/>
              <a:rect r="r" b="b" t="t" l="l"/>
              <a:pathLst>
                <a:path h="723900" w="20764500">
                  <a:moveTo>
                    <a:pt x="0" y="0"/>
                  </a:moveTo>
                  <a:lnTo>
                    <a:pt x="20764500" y="0"/>
                  </a:lnTo>
                  <a:lnTo>
                    <a:pt x="207645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4702" r="0" b="-49312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20764500" cy="752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247"/>
                </a:lnSpc>
              </a:pPr>
              <a:r>
                <a:rPr lang="ar-EG" sz="1872" i="true">
                  <a:solidFill>
                    <a:srgbClr val="677572"/>
                  </a:solidFill>
                  <a:latin typeface="Arial Italics"/>
                  <a:ea typeface="Arial Italics"/>
                  <a:cs typeface="Arial Italics"/>
                  <a:sym typeface="Arial Italics"/>
                  <a:rtl val="true"/>
                </a:rPr>
                <a:t>مراجعون محليون يوجهون اللغة والأمثلة والموارد في الخصائص السبع كلها.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B7C78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130"/>
                </a:lnSpc>
              </a:pPr>
              <a:r>
                <a:rPr lang="ar-EG" b="true" sz="4275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دور الذكاء الاصطناعي وحدود السلامة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8605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C5D0C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C5D0C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82638" y="2381221"/>
            <a:ext cx="6000750" cy="600075"/>
            <a:chOff x="0" y="0"/>
            <a:chExt cx="8001000" cy="800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010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0010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179"/>
                </a:lnSpc>
              </a:pPr>
              <a:r>
                <a:rPr lang="ar-EG" b="true" sz="2649">
                  <a:solidFill>
                    <a:srgbClr val="B7C78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الذكاء الاصطناعي يستطيع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82513" y="3171825"/>
            <a:ext cx="7000875" cy="3357562"/>
            <a:chOff x="0" y="0"/>
            <a:chExt cx="9334500" cy="44767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34500" cy="4476750"/>
            </a:xfrm>
            <a:custGeom>
              <a:avLst/>
              <a:gdLst/>
              <a:ahLst/>
              <a:cxnLst/>
              <a:rect r="r" b="b" t="t" l="l"/>
              <a:pathLst>
                <a:path h="447675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4476750"/>
                  </a:lnTo>
                  <a:lnTo>
                    <a:pt x="0" y="4476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33" t="0" r="-1153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9334500" cy="460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rtl="true" marL="607219" indent="-303609" lvl="1">
                <a:lnSpc>
                  <a:spcPts val="4471"/>
                </a:lnSpc>
                <a:buFont typeface="Arial"/>
                <a:buChar char="•"/>
              </a:pP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شرح التقنيات العاطفية أو الإقناعية بلغة بسيطة.</a:t>
              </a:r>
            </a:p>
            <a:p>
              <a:pPr algn="just" rtl="true" marL="607219" indent="-303609" lvl="1">
                <a:lnSpc>
                  <a:spcPts val="4471"/>
                </a:lnSpc>
                <a:buFont typeface="Arial"/>
                <a:buChar char="•"/>
              </a:pP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</a:t>
              </a: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عكس الشعور الذي يختار المستخدم مشاركته.</a:t>
              </a:r>
            </a:p>
            <a:p>
              <a:pPr algn="just" rtl="true" marL="607219" indent="-303609" lvl="1">
                <a:lnSpc>
                  <a:spcPts val="4471"/>
                </a:lnSpc>
                <a:buFont typeface="Arial"/>
                <a:buChar char="•"/>
              </a:pP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</a:t>
              </a: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اقتراح نشاط مراجعة أو خطوة للتحقق من المصدر.</a:t>
              </a:r>
            </a:p>
            <a:p>
              <a:pPr algn="ctr" rtl="true">
                <a:lnSpc>
                  <a:spcPts val="447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86825" y="2371725"/>
            <a:ext cx="42862" cy="5214938"/>
            <a:chOff x="0" y="0"/>
            <a:chExt cx="57150" cy="6953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50" cy="6953250"/>
            </a:xfrm>
            <a:custGeom>
              <a:avLst/>
              <a:gdLst/>
              <a:ahLst/>
              <a:cxnLst/>
              <a:rect r="r" b="b" t="t" l="l"/>
              <a:pathLst>
                <a:path h="6953250" w="57150">
                  <a:moveTo>
                    <a:pt x="0" y="0"/>
                  </a:moveTo>
                  <a:lnTo>
                    <a:pt x="57150" y="0"/>
                  </a:lnTo>
                  <a:lnTo>
                    <a:pt x="57150" y="6953250"/>
                  </a:lnTo>
                  <a:lnTo>
                    <a:pt x="0" y="6953250"/>
                  </a:lnTo>
                  <a:close/>
                </a:path>
              </a:pathLst>
            </a:custGeom>
            <a:solidFill>
              <a:srgbClr val="48605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58363" y="2371725"/>
            <a:ext cx="7143750" cy="609571"/>
            <a:chOff x="0" y="0"/>
            <a:chExt cx="9525000" cy="8127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25000" cy="812762"/>
            </a:xfrm>
            <a:custGeom>
              <a:avLst/>
              <a:gdLst/>
              <a:ahLst/>
              <a:cxnLst/>
              <a:rect r="r" b="b" t="t" l="l"/>
              <a:pathLst>
                <a:path h="812762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812762"/>
                  </a:lnTo>
                  <a:lnTo>
                    <a:pt x="0" y="8127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130" r="0" b="-1775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525000" cy="83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539"/>
                </a:lnSpc>
              </a:pPr>
              <a:r>
                <a:rPr lang="ar-EG" b="true" sz="2949">
                  <a:solidFill>
                    <a:srgbClr val="B7C78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المنتج ينبغي أن: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15525" y="3426604"/>
            <a:ext cx="7286625" cy="3105179"/>
            <a:chOff x="0" y="0"/>
            <a:chExt cx="9715500" cy="41402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15500" cy="4140238"/>
            </a:xfrm>
            <a:custGeom>
              <a:avLst/>
              <a:gdLst/>
              <a:ahLst/>
              <a:cxnLst/>
              <a:rect r="r" b="b" t="t" l="l"/>
              <a:pathLst>
                <a:path h="4140238" w="9715500">
                  <a:moveTo>
                    <a:pt x="0" y="0"/>
                  </a:moveTo>
                  <a:lnTo>
                    <a:pt x="9715500" y="0"/>
                  </a:lnTo>
                  <a:lnTo>
                    <a:pt x="9715500" y="4140238"/>
                  </a:lnTo>
                  <a:lnTo>
                    <a:pt x="0" y="4140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20" t="0" r="-9120" b="-81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715500" cy="4178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3"/>
                </a:lnSpc>
              </a:pPr>
            </a:p>
            <a:p>
              <a:pPr algn="r" rtl="true" marL="607219" indent="-303609" lvl="1">
                <a:lnSpc>
                  <a:spcPts val="3543"/>
                </a:lnSpc>
                <a:buFont typeface="Arial"/>
                <a:buChar char="•"/>
              </a:pP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يُظهر عدم اليقين ويشرح سبب الإشارة إلى إشارة معينة.</a:t>
              </a:r>
            </a:p>
            <a:p>
              <a:pPr algn="r" rtl="true" marL="607219" indent="-303609" lvl="1">
                <a:lnSpc>
                  <a:spcPts val="3543"/>
                </a:lnSpc>
                <a:buFont typeface="Arial"/>
                <a:buChar char="•"/>
              </a:pP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يتجنب الأحكام السياسية، والتشخيص، ودرجات اليقين.</a:t>
              </a:r>
            </a:p>
            <a:p>
              <a:pPr algn="r" rtl="true" marL="607219" indent="-303609" lvl="1">
                <a:lnSpc>
                  <a:spcPts val="3543"/>
                </a:lnSpc>
                <a:buFont typeface="Arial"/>
                <a:buChar char="•"/>
              </a:pPr>
              <a:r>
                <a:rPr lang="ar-EG" sz="281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يقلل جمع البيانات ويتيح للمستخدم التخطي أو الحذف.</a:t>
              </a:r>
            </a:p>
            <a:p>
              <a:pPr algn="l">
                <a:lnSpc>
                  <a:spcPts val="3375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7858125"/>
            <a:ext cx="16002000" cy="742950"/>
            <a:chOff x="0" y="0"/>
            <a:chExt cx="21336000" cy="990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36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677" r="0" b="-36967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3360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779"/>
                </a:lnSpc>
              </a:pPr>
              <a:r>
                <a:rPr lang="ar-EG" b="true" sz="3150">
                  <a:solidFill>
                    <a:srgbClr val="B7C78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الذكاء الاصطناعي يدعم التأمل. ولا يقرر ما ينبغي أن يؤمن به الناس.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130"/>
                </a:lnSpc>
              </a:pPr>
              <a:r>
                <a:rPr lang="ar-EG" b="true" sz="42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كيف يعمل النظام كاملًا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85900" y="2057400"/>
            <a:ext cx="15716250" cy="828675"/>
            <a:chOff x="0" y="0"/>
            <a:chExt cx="20955000" cy="1104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55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543" r="0" b="-3195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955000" cy="111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993"/>
                </a:lnSpc>
              </a:pPr>
              <a:r>
                <a:rPr lang="ar-EG" sz="2494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منصة واحدة تجمع تحليل المعلومات، والتأمل العاطفي، والتعلم، ودعم الاستجابة في تجربة واحدة.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44512" y="3692442"/>
            <a:ext cx="3571875" cy="635480"/>
            <a:chOff x="0" y="0"/>
            <a:chExt cx="4762500" cy="8473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62500" cy="847307"/>
            </a:xfrm>
            <a:custGeom>
              <a:avLst/>
              <a:gdLst/>
              <a:ahLst/>
              <a:cxnLst/>
              <a:rect r="r" b="b" t="t" l="l"/>
              <a:pathLst>
                <a:path h="847307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847307"/>
                  </a:lnTo>
                  <a:lnTo>
                    <a:pt x="0" y="8473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044" r="0" b="-409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762500" cy="866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89"/>
                </a:lnSpc>
              </a:pPr>
              <a:r>
                <a:rPr lang="ar-EG" b="true" sz="3074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المدخلات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44525" y="4573191"/>
            <a:ext cx="3371850" cy="57150"/>
            <a:chOff x="0" y="0"/>
            <a:chExt cx="4495800" cy="76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95800" cy="76200"/>
            </a:xfrm>
            <a:custGeom>
              <a:avLst/>
              <a:gdLst/>
              <a:ahLst/>
              <a:cxnLst/>
              <a:rect r="r" b="b" t="t" l="l"/>
              <a:pathLst>
                <a:path h="762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315950" y="4875609"/>
            <a:ext cx="3429000" cy="2000250"/>
            <a:chOff x="0" y="0"/>
            <a:chExt cx="4572000" cy="266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572000" cy="2676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970"/>
                </a:lnSpc>
              </a:pPr>
              <a:r>
                <a:rPr lang="ar-EG" b="true" sz="24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منشورات، روابط، أو أمثلة تدريبية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58300" y="3692442"/>
            <a:ext cx="3571875" cy="635480"/>
            <a:chOff x="0" y="0"/>
            <a:chExt cx="4762500" cy="8473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62500" cy="847307"/>
            </a:xfrm>
            <a:custGeom>
              <a:avLst/>
              <a:gdLst/>
              <a:ahLst/>
              <a:cxnLst/>
              <a:rect r="r" b="b" t="t" l="l"/>
              <a:pathLst>
                <a:path h="847307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847307"/>
                  </a:lnTo>
                  <a:lnTo>
                    <a:pt x="0" y="8473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044" r="0" b="-4099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762500" cy="866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89"/>
                </a:lnSpc>
              </a:pPr>
              <a:r>
                <a:rPr lang="ar-EG" b="true" sz="3074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تحليل الذكاء الاصطناعي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58312" y="4573191"/>
            <a:ext cx="3371850" cy="57150"/>
            <a:chOff x="0" y="0"/>
            <a:chExt cx="4495800" cy="76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95800" cy="76200"/>
            </a:xfrm>
            <a:custGeom>
              <a:avLst/>
              <a:gdLst/>
              <a:ahLst/>
              <a:cxnLst/>
              <a:rect r="r" b="b" t="t" l="l"/>
              <a:pathLst>
                <a:path h="762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75A4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29738" y="4875609"/>
            <a:ext cx="3429000" cy="2000250"/>
            <a:chOff x="0" y="0"/>
            <a:chExt cx="4572000" cy="266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4572000" cy="2676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970"/>
                </a:lnSpc>
              </a:pPr>
              <a:r>
                <a:rPr lang="ar-EG" b="true" sz="24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إشارات الادعاء، ودلائل المصدر، واللغة العاطفية، وخطاب الكراهية.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72088" y="3692442"/>
            <a:ext cx="3571875" cy="635480"/>
            <a:chOff x="0" y="0"/>
            <a:chExt cx="4762500" cy="8473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62500" cy="847307"/>
            </a:xfrm>
            <a:custGeom>
              <a:avLst/>
              <a:gdLst/>
              <a:ahLst/>
              <a:cxnLst/>
              <a:rect r="r" b="b" t="t" l="l"/>
              <a:pathLst>
                <a:path h="847307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847307"/>
                  </a:lnTo>
                  <a:lnTo>
                    <a:pt x="0" y="8473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044" r="0" b="-409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762500" cy="866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89"/>
                </a:lnSpc>
              </a:pPr>
              <a:r>
                <a:rPr lang="ar-EG" b="true" sz="3074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سياق المستخدم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72100" y="4573191"/>
            <a:ext cx="3371850" cy="57150"/>
            <a:chOff x="0" y="0"/>
            <a:chExt cx="4495800" cy="76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95800" cy="76200"/>
            </a:xfrm>
            <a:custGeom>
              <a:avLst/>
              <a:gdLst/>
              <a:ahLst/>
              <a:cxnLst/>
              <a:rect r="r" b="b" t="t" l="l"/>
              <a:pathLst>
                <a:path h="762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343525" y="4875609"/>
            <a:ext cx="3429000" cy="2000250"/>
            <a:chOff x="0" y="0"/>
            <a:chExt cx="4572000" cy="2667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572000" cy="2676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970"/>
                </a:lnSpc>
              </a:pPr>
              <a:r>
                <a:rPr lang="ar-EG" b="true" sz="24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الشعور المصرّح به، وسجل المزاج الاختياري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85875" y="3692442"/>
            <a:ext cx="3571875" cy="635480"/>
            <a:chOff x="0" y="0"/>
            <a:chExt cx="4762500" cy="84730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62500" cy="847307"/>
            </a:xfrm>
            <a:custGeom>
              <a:avLst/>
              <a:gdLst/>
              <a:ahLst/>
              <a:cxnLst/>
              <a:rect r="r" b="b" t="t" l="l"/>
              <a:pathLst>
                <a:path h="847307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847307"/>
                  </a:lnTo>
                  <a:lnTo>
                    <a:pt x="0" y="8473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044" r="0" b="-409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762500" cy="866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89"/>
                </a:lnSpc>
              </a:pPr>
              <a:r>
                <a:rPr lang="ar-EG" b="true" sz="3074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الدعم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85888" y="4573191"/>
            <a:ext cx="3371850" cy="57150"/>
            <a:chOff x="0" y="0"/>
            <a:chExt cx="4495800" cy="76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95800" cy="76200"/>
            </a:xfrm>
            <a:custGeom>
              <a:avLst/>
              <a:gdLst/>
              <a:ahLst/>
              <a:cxnLst/>
              <a:rect r="r" b="b" t="t" l="l"/>
              <a:pathLst>
                <a:path h="762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57312" y="4875609"/>
            <a:ext cx="3429000" cy="2000250"/>
            <a:chOff x="0" y="0"/>
            <a:chExt cx="4572000" cy="2667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2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572000" cy="2676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970"/>
                </a:lnSpc>
              </a:pPr>
              <a:r>
                <a:rPr lang="ar-EG" b="true" sz="24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 توجيه المصادر، وتمارين التهدئة، والتدريب، والقصص، أو تدريب الاستجابة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7215188"/>
            <a:ext cx="15716250" cy="14288"/>
            <a:chOff x="0" y="0"/>
            <a:chExt cx="20955000" cy="190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715875" y="7758112"/>
            <a:ext cx="3714750" cy="442912"/>
            <a:chOff x="0" y="0"/>
            <a:chExt cx="4953000" cy="5905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53000" cy="590550"/>
            </a:xfrm>
            <a:custGeom>
              <a:avLst/>
              <a:gdLst/>
              <a:ahLst/>
              <a:cxnLst/>
              <a:rect r="r" b="b" t="t" l="l"/>
              <a:pathLst>
                <a:path h="59055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90550"/>
                  </a:lnTo>
                  <a:lnTo>
                    <a:pt x="0" y="590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035" r="0" b="-11180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953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025"/>
                </a:lnSpc>
              </a:pPr>
              <a:r>
                <a:rPr lang="ar-EG" b="true" sz="1687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النتيجة المصمَّمة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28700" y="8201025"/>
            <a:ext cx="15501938" cy="771525"/>
            <a:chOff x="0" y="0"/>
            <a:chExt cx="20669250" cy="10287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66925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0669250">
                  <a:moveTo>
                    <a:pt x="0" y="0"/>
                  </a:moveTo>
                  <a:lnTo>
                    <a:pt x="20669250" y="0"/>
                  </a:lnTo>
                  <a:lnTo>
                    <a:pt x="2066925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1504" r="0" b="-34150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066925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034"/>
                </a:lnSpc>
              </a:pPr>
              <a:r>
                <a:rPr lang="ar-EG" b="true" sz="2528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يفهم المستخدمون ما يفعله المنشور، وكيف يؤثر عليهم، وما الخطوة التالية التي يريدون اتخاذها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130"/>
                </a:lnSpc>
              </a:pPr>
              <a:r>
                <a:rPr lang="ar-EG" b="true" sz="42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معمارية التنفيذ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3050" y="2171700"/>
            <a:ext cx="15716250" cy="714375"/>
            <a:chOff x="0" y="0"/>
            <a:chExt cx="20955000" cy="952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5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09550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375"/>
                </a:lnSpc>
              </a:pPr>
              <a:r>
                <a:rPr lang="ar-EG" sz="2812">
                  <a:solidFill>
                    <a:srgbClr val="677572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تطبيق واحد متكامل يدعم الخصائص السبع كافة، بمنظومة بداية قابلة للإدارة.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3357562"/>
            <a:ext cx="2828925" cy="542925"/>
            <a:chOff x="0" y="0"/>
            <a:chExt cx="3771900" cy="723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71900" cy="723900"/>
            </a:xfrm>
            <a:custGeom>
              <a:avLst/>
              <a:gdLst/>
              <a:ahLst/>
              <a:cxnLst/>
              <a:rect r="r" b="b" t="t" l="l"/>
              <a:pathLst>
                <a:path h="7239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7" r="0" b="-5152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771900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4114800"/>
            <a:ext cx="2714625" cy="57150"/>
            <a:chOff x="0" y="0"/>
            <a:chExt cx="3619500" cy="76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500" cy="76200"/>
            </a:xfrm>
            <a:custGeom>
              <a:avLst/>
              <a:gdLst/>
              <a:ahLst/>
              <a:cxnLst/>
              <a:rect r="r" b="b" t="t" l="l"/>
              <a:pathLst>
                <a:path h="762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4572000"/>
            <a:ext cx="2828925" cy="2571750"/>
            <a:chOff x="0" y="0"/>
            <a:chExt cx="3771900" cy="342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19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771900" cy="343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Mobile-first Next.js website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Arabic RTL layout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Voice input optional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86250" y="3357562"/>
            <a:ext cx="2828925" cy="542925"/>
            <a:chOff x="0" y="0"/>
            <a:chExt cx="3771900" cy="7239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1900" cy="723900"/>
            </a:xfrm>
            <a:custGeom>
              <a:avLst/>
              <a:gdLst/>
              <a:ahLst/>
              <a:cxnLst/>
              <a:rect r="r" b="b" t="t" l="l"/>
              <a:pathLst>
                <a:path h="7239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7" r="0" b="-515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771900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286250" y="4114800"/>
            <a:ext cx="2714625" cy="57150"/>
            <a:chOff x="0" y="0"/>
            <a:chExt cx="3619500" cy="76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19500" cy="76200"/>
            </a:xfrm>
            <a:custGeom>
              <a:avLst/>
              <a:gdLst/>
              <a:ahLst/>
              <a:cxnLst/>
              <a:rect r="r" b="b" t="t" l="l"/>
              <a:pathLst>
                <a:path h="762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286250" y="4572000"/>
            <a:ext cx="2828925" cy="2571750"/>
            <a:chOff x="0" y="0"/>
            <a:chExt cx="3771900" cy="3429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19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771900" cy="343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FastAPI modular API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All seven features in one deployable app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43800" y="3357562"/>
            <a:ext cx="2828925" cy="542925"/>
            <a:chOff x="0" y="0"/>
            <a:chExt cx="3771900" cy="723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71900" cy="723900"/>
            </a:xfrm>
            <a:custGeom>
              <a:avLst/>
              <a:gdLst/>
              <a:ahLst/>
              <a:cxnLst/>
              <a:rect r="r" b="b" t="t" l="l"/>
              <a:pathLst>
                <a:path h="7239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7" r="0" b="-5152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771900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+ SAFETY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43800" y="4114800"/>
            <a:ext cx="2714625" cy="57150"/>
            <a:chOff x="0" y="0"/>
            <a:chExt cx="3619500" cy="76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19500" cy="76200"/>
            </a:xfrm>
            <a:custGeom>
              <a:avLst/>
              <a:gdLst/>
              <a:ahLst/>
              <a:cxnLst/>
              <a:rect r="r" b="b" t="t" l="l"/>
              <a:pathLst>
                <a:path h="762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75A4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543800" y="4572000"/>
            <a:ext cx="2828925" cy="2571750"/>
            <a:chOff x="0" y="0"/>
            <a:chExt cx="3771900" cy="3429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719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771900" cy="343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One Arabic-capable model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Reviewed safety rules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Explanations, not truth scores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801350" y="3357562"/>
            <a:ext cx="2828925" cy="542925"/>
            <a:chOff x="0" y="0"/>
            <a:chExt cx="3771900" cy="723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771900" cy="723900"/>
            </a:xfrm>
            <a:custGeom>
              <a:avLst/>
              <a:gdLst/>
              <a:ahLst/>
              <a:cxnLst/>
              <a:rect r="r" b="b" t="t" l="l"/>
              <a:pathLst>
                <a:path h="7239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7" r="0" b="-5152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771900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01350" y="4114800"/>
            <a:ext cx="2714625" cy="57150"/>
            <a:chOff x="0" y="0"/>
            <a:chExt cx="3619500" cy="76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19500" cy="76200"/>
            </a:xfrm>
            <a:custGeom>
              <a:avLst/>
              <a:gdLst/>
              <a:ahLst/>
              <a:cxnLst/>
              <a:rect r="r" b="b" t="t" l="l"/>
              <a:pathLst>
                <a:path h="762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801350" y="4572000"/>
            <a:ext cx="2828925" cy="2571750"/>
            <a:chOff x="0" y="0"/>
            <a:chExt cx="3771900" cy="3429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7719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771900" cy="343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PostgreSQL for app data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Reviewed sources, posts, and stories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Mood tracking is opt-in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058900" y="3357562"/>
            <a:ext cx="2828925" cy="542925"/>
            <a:chOff x="0" y="0"/>
            <a:chExt cx="3771900" cy="7239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71900" cy="723900"/>
            </a:xfrm>
            <a:custGeom>
              <a:avLst/>
              <a:gdLst/>
              <a:ahLst/>
              <a:cxnLst/>
              <a:rect r="r" b="b" t="t" l="l"/>
              <a:pathLst>
                <a:path h="7239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27" r="0" b="-5152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771900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58900" y="4114800"/>
            <a:ext cx="2714625" cy="57150"/>
            <a:chOff x="0" y="0"/>
            <a:chExt cx="3619500" cy="76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19500" cy="76200"/>
            </a:xfrm>
            <a:custGeom>
              <a:avLst/>
              <a:gdLst/>
              <a:ahLst/>
              <a:cxnLst/>
              <a:rect r="r" b="b" t="t" l="l"/>
              <a:pathLst>
                <a:path h="762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7C78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058900" y="4572000"/>
            <a:ext cx="2828925" cy="2571750"/>
            <a:chOff x="0" y="0"/>
            <a:chExt cx="3771900" cy="3429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719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771900" cy="343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One cloud provider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CI/CD and monitoring</a:t>
              </a:r>
            </a:p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Encryption and access controls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8700" y="7858125"/>
            <a:ext cx="15716250" cy="657225"/>
            <a:chOff x="0" y="0"/>
            <a:chExt cx="20955000" cy="8763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955000" cy="876300"/>
            </a:xfrm>
            <a:custGeom>
              <a:avLst/>
              <a:gdLst/>
              <a:ahLst/>
              <a:cxnLst/>
              <a:rect r="r" b="b" t="t" l="l"/>
              <a:pathLst>
                <a:path h="8763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5946" r="0" b="-41594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09550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565"/>
                </a:lnSpc>
              </a:pPr>
              <a:r>
                <a:rPr lang="ar-EG" b="true" sz="2137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نضيف </a:t>
              </a:r>
              <a:r>
                <a:rPr lang="en-US" b="true" sz="2137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Redis</a:t>
              </a:r>
              <a:r>
                <a:rPr lang="ar-EG" b="true" sz="2137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، أو البحث المتجهي، أو واتساب، أو ضبط النموذج فقط عندما تبرر احتياجات المستخدم والأدلة ذلك.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130"/>
                </a:lnSpc>
              </a:pPr>
              <a:r>
                <a:rPr lang="ar-EG" b="true" sz="4275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دعم مشروع “توازن” الكامل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4450" y="2947804"/>
            <a:ext cx="7072312" cy="790942"/>
            <a:chOff x="0" y="0"/>
            <a:chExt cx="9429750" cy="10545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29750" cy="1054590"/>
            </a:xfrm>
            <a:custGeom>
              <a:avLst/>
              <a:gdLst/>
              <a:ahLst/>
              <a:cxnLst/>
              <a:rect r="r" b="b" t="t" l="l"/>
              <a:pathLst>
                <a:path h="105459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054590"/>
                  </a:lnTo>
                  <a:lnTo>
                    <a:pt x="0" y="10545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455" r="0" b="-1230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9429750" cy="107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590"/>
                </a:lnSpc>
              </a:pPr>
              <a:r>
                <a:rPr lang="ar-EG" b="true" sz="3825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منصة واحدة متكاملة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3543300"/>
            <a:ext cx="7358062" cy="2371725"/>
            <a:chOff x="0" y="0"/>
            <a:chExt cx="9810750" cy="3162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10750" cy="3162300"/>
            </a:xfrm>
            <a:custGeom>
              <a:avLst/>
              <a:gdLst/>
              <a:ahLst/>
              <a:cxnLst/>
              <a:rect r="r" b="b" t="t" l="l"/>
              <a:pathLst>
                <a:path h="3162300" w="9810750">
                  <a:moveTo>
                    <a:pt x="0" y="0"/>
                  </a:moveTo>
                  <a:lnTo>
                    <a:pt x="9810750" y="0"/>
                  </a:lnTo>
                  <a:lnTo>
                    <a:pt x="9810750" y="3162300"/>
                  </a:lnTo>
                  <a:lnTo>
                    <a:pt x="0" y="3162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0" r="0" b="-104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810750" cy="3181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644"/>
                </a:lnSpc>
              </a:pPr>
              <a:r>
                <a:rPr lang="ar-EG" sz="3037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  <a:rtl val="true"/>
                </a:rPr>
                <a:t>نقترح خدمة متكاملة للصحة النفسية الإعلامية تجمع الخصائص السبع كافة، مصممة لسكان ليبيا.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58312" y="2500312"/>
            <a:ext cx="57150" cy="4000500"/>
            <a:chOff x="0" y="0"/>
            <a:chExt cx="76200" cy="533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C75A4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144125" y="2981325"/>
            <a:ext cx="6286500" cy="723900"/>
            <a:chOff x="0" y="0"/>
            <a:chExt cx="8382000" cy="965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82000" cy="965200"/>
            </a:xfrm>
            <a:custGeom>
              <a:avLst/>
              <a:gdLst/>
              <a:ahLst/>
              <a:cxnLst/>
              <a:rect r="r" b="b" t="t" l="l"/>
              <a:pathLst>
                <a:path h="965200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659" r="0" b="-10276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382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2654"/>
                </a:lnSpc>
              </a:pPr>
              <a:r>
                <a:rPr lang="ar-EG" b="true" sz="2212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ن</a:t>
              </a:r>
              <a:r>
                <a:rPr lang="ar-EG" b="true" sz="2212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بحث عن: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44125" y="3343275"/>
            <a:ext cx="6429375" cy="2928938"/>
            <a:chOff x="0" y="0"/>
            <a:chExt cx="8572500" cy="39052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72500" cy="3905250"/>
            </a:xfrm>
            <a:custGeom>
              <a:avLst/>
              <a:gdLst/>
              <a:ahLst/>
              <a:cxnLst/>
              <a:rect r="r" b="b" t="t" l="l"/>
              <a:pathLst>
                <a:path h="3905250" w="8572500">
                  <a:moveTo>
                    <a:pt x="0" y="0"/>
                  </a:moveTo>
                  <a:lnTo>
                    <a:pt x="8572500" y="0"/>
                  </a:lnTo>
                  <a:lnTo>
                    <a:pt x="8572500" y="3905250"/>
                  </a:lnTo>
                  <a:lnTo>
                    <a:pt x="0" y="3905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449" t="0" r="-844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572500" cy="3924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 marL="607219" indent="-303609" lvl="1">
                <a:lnSpc>
                  <a:spcPts val="3375"/>
                </a:lnSpc>
                <a:buFont typeface="Arial"/>
                <a:buChar char="•"/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دعم للمشروع الكامل</a:t>
              </a:r>
            </a:p>
            <a:p>
              <a:pPr algn="r" rtl="true" marL="607219" indent="-303609" lvl="1">
                <a:lnSpc>
                  <a:spcPts val="3375"/>
                </a:lnSpc>
                <a:buFont typeface="Arial"/>
                <a:buChar char="•"/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مستخدمين ليبيين ومراجعين من المجتمع</a:t>
              </a:r>
            </a:p>
            <a:p>
              <a:pPr algn="r" rtl="true" marL="607219" indent="-303609" lvl="1">
                <a:lnSpc>
                  <a:spcPts val="3375"/>
                </a:lnSpc>
                <a:buFont typeface="Arial"/>
                <a:buChar char="•"/>
              </a:pPr>
              <a:r>
                <a:rPr lang="ar-EG" b="true" sz="2812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خبرة في محو الأمية الإعلامية والصحة النفسية</a:t>
              </a:r>
            </a:p>
            <a:p>
              <a:pPr algn="just" rtl="true">
                <a:lnSpc>
                  <a:spcPts val="3375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7400925"/>
            <a:ext cx="15716250" cy="1114425"/>
            <a:chOff x="0" y="0"/>
            <a:chExt cx="20955000" cy="1485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9550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789" r="0" b="-22478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0955000" cy="1504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3847"/>
                </a:lnSpc>
              </a:pPr>
              <a:r>
                <a:rPr lang="ar-EG" b="true" sz="3206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  <a:rtl val="true"/>
                </a:rPr>
                <a:t>تربط "توازن" بين فهم المحتوى والصحة النفسية، في تصميم يناسب ليبيا.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42900"/>
            <a:ext cx="9286875" cy="342900"/>
            <a:chOff x="0" y="0"/>
            <a:chExt cx="123825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7719" r="0" b="-477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825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1"/>
                </a:lnSpc>
              </a:pPr>
              <a:r>
                <a:rPr lang="en-US" sz="1459" b="true">
                  <a:solidFill>
                    <a:srgbClr val="315B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TAWAZUN  /  MEDIA WELLBEING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14400"/>
            <a:ext cx="16287750" cy="1028700"/>
            <a:chOff x="0" y="0"/>
            <a:chExt cx="217170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1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142B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Sources and evidence notes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1188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ED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644062"/>
            <a:ext cx="10287000" cy="285750"/>
            <a:chOff x="0" y="0"/>
            <a:chExt cx="13716000" cy="38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16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LIBYA  •  AI MEDIA WELLBEING PLATFORM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0625" y="9644062"/>
            <a:ext cx="942975" cy="285750"/>
            <a:chOff x="0" y="0"/>
            <a:chExt cx="12573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573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1"/>
                </a:lnSpc>
              </a:pPr>
              <a:r>
                <a:rPr lang="en-US" sz="1076" b="true">
                  <a:solidFill>
                    <a:srgbClr val="6775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2214562"/>
            <a:ext cx="3571875" cy="400050"/>
            <a:chOff x="0" y="0"/>
            <a:chExt cx="47625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6250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7625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DIGITAL ACCESS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2671762"/>
            <a:ext cx="15716250" cy="628650"/>
            <a:chOff x="0" y="0"/>
            <a:chExt cx="20955000" cy="838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55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955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DataReportal, Digital 2026: Libya (published Nov 2025; underlying internet figures late 2025).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3328988"/>
            <a:ext cx="15859125" cy="357188"/>
            <a:chOff x="0" y="0"/>
            <a:chExt cx="21145500" cy="476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145500" cy="476250"/>
            </a:xfrm>
            <a:custGeom>
              <a:avLst/>
              <a:gdLst/>
              <a:ahLst/>
              <a:cxnLst/>
              <a:rect r="r" b="b" t="t" l="l"/>
              <a:pathLst>
                <a:path h="476250" w="21145500">
                  <a:moveTo>
                    <a:pt x="0" y="0"/>
                  </a:moveTo>
                  <a:lnTo>
                    <a:pt x="21145500" y="0"/>
                  </a:lnTo>
                  <a:lnTo>
                    <a:pt x="211455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135" r="0" b="-8151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11455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2"/>
                </a:lnSpc>
              </a:pPr>
              <a:r>
                <a:rPr lang="en-US" sz="1443">
                  <a:solidFill>
                    <a:srgbClr val="315B4C"/>
                  </a:solidFill>
                  <a:latin typeface="Arial"/>
                  <a:ea typeface="Arial"/>
                  <a:cs typeface="Arial"/>
                  <a:sym typeface="Arial"/>
                </a:rPr>
                <a:t>https://datareportal.com/reports/digital-2026-libya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3957638"/>
            <a:ext cx="3571875" cy="400050"/>
            <a:chOff x="0" y="0"/>
            <a:chExt cx="47625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6250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7625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MISINFORMATION CONTEXT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4414838"/>
            <a:ext cx="15716250" cy="628650"/>
            <a:chOff x="0" y="0"/>
            <a:chExt cx="20955000" cy="838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55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0955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United Nations in Libya, statement on misinformation and inflammatory rhetoric, 1 June 2026.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5072062"/>
            <a:ext cx="15859125" cy="357188"/>
            <a:chOff x="0" y="0"/>
            <a:chExt cx="21145500" cy="476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145500" cy="476250"/>
            </a:xfrm>
            <a:custGeom>
              <a:avLst/>
              <a:gdLst/>
              <a:ahLst/>
              <a:cxnLst/>
              <a:rect r="r" b="b" t="t" l="l"/>
              <a:pathLst>
                <a:path h="476250" w="21145500">
                  <a:moveTo>
                    <a:pt x="0" y="0"/>
                  </a:moveTo>
                  <a:lnTo>
                    <a:pt x="21145500" y="0"/>
                  </a:lnTo>
                  <a:lnTo>
                    <a:pt x="211455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135" r="0" b="-8151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11455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2"/>
                </a:lnSpc>
              </a:pPr>
              <a:r>
                <a:rPr lang="en-US" sz="1443">
                  <a:solidFill>
                    <a:srgbClr val="315B4C"/>
                  </a:solidFill>
                  <a:latin typeface="Arial"/>
                  <a:ea typeface="Arial"/>
                  <a:cs typeface="Arial"/>
                  <a:sym typeface="Arial"/>
                </a:rPr>
                <a:t>https://libya.un.org/en/316507-un-libya-expresses-concern-over-spread-misinformation-and-inflammatory-rhetoric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5700712"/>
            <a:ext cx="3571875" cy="400050"/>
            <a:chOff x="0" y="0"/>
            <a:chExt cx="476250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6250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7625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MENTAL-HEALTH CONTEXT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6157912"/>
            <a:ext cx="15716250" cy="628650"/>
            <a:chOff x="0" y="0"/>
            <a:chExt cx="20955000" cy="838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955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09550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1"/>
                </a:lnSpc>
              </a:pPr>
              <a:r>
                <a:rPr lang="en-US" sz="1668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WHO EMRO, Mental health and psychosocial support (2024 report). The 22.1% figure refers to conflict-affected populations, not a Libya-specific prevalence survey.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8700" y="6815138"/>
            <a:ext cx="15859125" cy="357188"/>
            <a:chOff x="0" y="0"/>
            <a:chExt cx="21145500" cy="476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145500" cy="476250"/>
            </a:xfrm>
            <a:custGeom>
              <a:avLst/>
              <a:gdLst/>
              <a:ahLst/>
              <a:cxnLst/>
              <a:rect r="r" b="b" t="t" l="l"/>
              <a:pathLst>
                <a:path h="476250" w="21145500">
                  <a:moveTo>
                    <a:pt x="0" y="0"/>
                  </a:moveTo>
                  <a:lnTo>
                    <a:pt x="21145500" y="0"/>
                  </a:lnTo>
                  <a:lnTo>
                    <a:pt x="211455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135" r="0" b="-81513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11455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2"/>
                </a:lnSpc>
              </a:pPr>
              <a:r>
                <a:rPr lang="en-US" sz="1443">
                  <a:solidFill>
                    <a:srgbClr val="315B4C"/>
                  </a:solidFill>
                  <a:latin typeface="Arial"/>
                  <a:ea typeface="Arial"/>
                  <a:cs typeface="Arial"/>
                  <a:sym typeface="Arial"/>
                </a:rPr>
                <a:t>https://applications.emro.who.int/docs/9789292741716-eng.pdf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8700" y="7443788"/>
            <a:ext cx="3571875" cy="400050"/>
            <a:chOff x="0" y="0"/>
            <a:chExt cx="4762500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6250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7625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C75A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NATIONAL DATA LIMITATION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8700" y="7900988"/>
            <a:ext cx="15716250" cy="628650"/>
            <a:chOff x="0" y="0"/>
            <a:chExt cx="20955000" cy="838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55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09550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4"/>
                </a:lnSpc>
              </a:pPr>
              <a:r>
                <a:rPr lang="en-US" sz="1803">
                  <a:solidFill>
                    <a:srgbClr val="142B2E"/>
                  </a:solidFill>
                  <a:latin typeface="Arial"/>
                  <a:ea typeface="Arial"/>
                  <a:cs typeface="Arial"/>
                  <a:sym typeface="Arial"/>
                </a:rPr>
                <a:t>WHO Libya country profile: public mental-health research is limited; mental-health data are not routinely collected in national health information systems.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28700" y="8558212"/>
            <a:ext cx="15859125" cy="357188"/>
            <a:chOff x="0" y="0"/>
            <a:chExt cx="21145500" cy="4762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145500" cy="476250"/>
            </a:xfrm>
            <a:custGeom>
              <a:avLst/>
              <a:gdLst/>
              <a:ahLst/>
              <a:cxnLst/>
              <a:rect r="r" b="b" t="t" l="l"/>
              <a:pathLst>
                <a:path h="476250" w="21145500">
                  <a:moveTo>
                    <a:pt x="0" y="0"/>
                  </a:moveTo>
                  <a:lnTo>
                    <a:pt x="21145500" y="0"/>
                  </a:lnTo>
                  <a:lnTo>
                    <a:pt x="211455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135" r="0" b="-8151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11455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2"/>
                </a:lnSpc>
              </a:pPr>
              <a:r>
                <a:rPr lang="en-US" sz="1443">
                  <a:solidFill>
                    <a:srgbClr val="315B4C"/>
                  </a:solidFill>
                  <a:latin typeface="Arial"/>
                  <a:ea typeface="Arial"/>
                  <a:cs typeface="Arial"/>
                  <a:sym typeface="Arial"/>
                </a:rPr>
                <a:t>https://www.who.int/about/accountability/results/who-results-report-2024-2025/region-EMRO/2024/libya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DAHXVjiigrg</dc:identifier>
  <dcterms:modified xsi:type="dcterms:W3CDTF">2011-08-01T06:04:30Z</dcterms:modified>
  <cp:revision>1</cp:revision>
  <dc:title>tawazun</dc:title>
</cp:coreProperties>
</file>