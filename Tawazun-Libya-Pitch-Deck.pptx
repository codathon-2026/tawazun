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10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Tawazun (توازن) means balance. The concept pairs media literacy with emotional self-awareness.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UN in Libya, “UN in Libya expresses concern over the spread of misinformation and inflammatory rhetoric,” 1 June 2026. https://libya.un.org/en/316507-un-libya-expresses-concern-over-spread-misinformation-and-inflammatory-rhetoric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DataReportal, Digital 2026: Libya. Data points are from October 2025 / late 2025 and were published in November 2025. It estimates 6.62 million internet users and 88.5% internet penetration. The report separately estimates 6.70 million social media user identities, but warns these may not represent unique individuals. https://datareportal.com/reports/digital-2026-libya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 EMRO reports that no official national data exist on prevalence of mental-health conditions in Libya. WHO cites an approximately 22.1% estimate for conflict-affected populations such as Libya at a given time. This is contextual, not a Libya-specific prevalence study. Source: WHO EMRO, Mental health and psychosocial support, https://applications.emro.who.int/docs/9789292741716-eng.pdf. WHO also notes that public mental-health research is limited in Libya: https://www.who.int/about/accountability/results/who-results-report-2024-2025/region-EMRO/2024/libya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product promise is reflective and educational. AI should explain signals and possible techniques, not issue a definitive truth verdict or diagnose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user journey for the complete platform. Example claim is fictional. The analyzer flags language and source cues, it does not make a definitive truth judgment. Mood tracking is opt-in. The story companion and practice simulator are product modules that users can choose when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platform has exactly seven product features, numbered 01 to 07. Local review is a cross-cutting design principle, not an eighth feature. The story companion should use locally reviewed stories and Libyan Arabic prompts. Source checking should present evidence and uncertainty rather than claim perfect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Screenshots supplied by the Tawazun team from its Arabic platform prototype. The post depicted in the first screen is a demonstration example; it is not presented as a verified real-world claim. English captions summarize the Arabic UI.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supplied by the Tawazun team from its Arabic prototype. Al-Hakeem is intended as a reflective story companion using locally familiar Libyan Arabic; it is not a mental-health professional and should not diagnose or replace care. English slide text summarizes the Arabic screen.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safety principles: explain observable textual signals; avoid a false precision score; clearly label uncertainty; do not diagnose or offer treatment; minimize retention of sensitive user content; review Arabic and Libyan dialect outputs with local users and experts.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describes the integrated product concept, not a claim of measured effectiveness. The user controls what they share, whether they use mood history, and which support option they choose.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Recommended starting architecture for the complete platform. A single modular API contains all seven product features. Select one Arabic-capable model and one cloud provider at the outset. Additional infrastructure such as Redis, vector search, WhatsApp, multi-model routing, or fine-tuning is optional and should follow a demonstrated need. Privacy and security controls apply across every layer.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pitch asks for support to develop Tawazun as a complete integrated platform, with Libyan users and relevant local reviewers involved throughout.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dates and caveats shown with each source. DataReportal cautions that social media user identities do not necessarily equal unique people. WHO’s 22.1% estimate is for conflict-affected populations and should not be presented as a national Libya prevalence measurement.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B2E"/>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98C0EF-EEE3-4F60-9DE3-8F839DFBEAE6}"/>
              </a:ext>
            </a:extLst>
          </p:cNvPr>
          <p:cNvSpPr>
            <a:spLocks noGrp="1"/>
          </p:cNvSpPr>
          <p:nvPr/>
        </p:nvSpPr>
        <p:spPr>
          <a:xfrm>
            <a:off x="0" y="0"/>
            <a:ext cx="171450" cy="6858000"/>
          </a:xfrm>
          <a:prstGeom prst="rect">
            <a:avLst/>
          </a:prstGeom>
          <a:solidFill>
            <a:srgbClr val="C75A4A"/>
          </a:solidFill>
          <a:ln w="0">
            <a:noFill/>
          </a:ln>
        </p:spPr>
        <p:txBody>
          <a:bodyPr/>
          <a:lstStyle/>
          <a:p>
            <a:endParaRPr lang="ar-LY"/>
          </a:p>
        </p:txBody>
      </p:sp>
      <p:sp>
        <p:nvSpPr>
          <p:cNvPr id="2" name="Rectangle 1">
            <a:extLst>
              <a:ext uri="{FF2B5EF4-FFF2-40B4-BE49-F238E27FC236}">
                <a16:creationId xmlns:a16="http://schemas.microsoft.com/office/drawing/2014/main" id="{50166965-9699-4242-B44A-0A42C8459302}"/>
              </a:ext>
            </a:extLst>
          </p:cNvPr>
          <p:cNvSpPr>
            <a:spLocks noGrp="1"/>
          </p:cNvSpPr>
          <p:nvPr/>
        </p:nvSpPr>
        <p:spPr>
          <a:xfrm>
            <a:off x="742950" y="1047750"/>
            <a:ext cx="9525000" cy="952500"/>
          </a:xfrm>
          <a:prstGeom prst="rect">
            <a:avLst/>
          </a:prstGeom>
          <a:noFill/>
          <a:ln w="0">
            <a:noFill/>
          </a:ln>
        </p:spPr>
        <p:txBody>
          <a:bodyPr anchor="ctr">
            <a:normAutofit fontScale="99123"/>
          </a:bodyPr>
          <a:lstStyle/>
          <a:p>
            <a:pPr algn="l">
              <a:defRPr sz="5700" b="1" i="0">
                <a:solidFill>
                  <a:srgbClr val="FFFFFF"/>
                </a:solidFill>
                <a:latin typeface="Arial"/>
                <a:ea typeface="Arial"/>
                <a:cs typeface="Arial"/>
              </a:defRPr>
            </a:pPr>
            <a:r>
              <a:rPr sz="5700" b="1" i="0">
                <a:solidFill>
                  <a:srgbClr val="FFFFFF"/>
                </a:solidFill>
                <a:latin typeface="Arial"/>
                <a:ea typeface="Arial"/>
                <a:cs typeface="Arial"/>
              </a:rPr>
              <a:t>Tawazun</a:t>
            </a:r>
          </a:p>
        </p:txBody>
      </p:sp>
      <p:sp>
        <p:nvSpPr>
          <p:cNvPr id="3" name="Rectangle 2">
            <a:extLst>
              <a:ext uri="{FF2B5EF4-FFF2-40B4-BE49-F238E27FC236}">
                <a16:creationId xmlns:a16="http://schemas.microsoft.com/office/drawing/2014/main" id="{66105594-25CA-4B6B-9D81-52A1027EE278}"/>
              </a:ext>
            </a:extLst>
          </p:cNvPr>
          <p:cNvSpPr>
            <a:spLocks noGrp="1"/>
          </p:cNvSpPr>
          <p:nvPr/>
        </p:nvSpPr>
        <p:spPr>
          <a:xfrm>
            <a:off x="781050" y="1952625"/>
            <a:ext cx="5715000" cy="457200"/>
          </a:xfrm>
          <a:prstGeom prst="rect">
            <a:avLst/>
          </a:prstGeom>
          <a:noFill/>
          <a:ln w="0">
            <a:noFill/>
          </a:ln>
        </p:spPr>
        <p:txBody>
          <a:bodyPr anchor="ctr">
            <a:normAutofit/>
          </a:bodyPr>
          <a:lstStyle/>
          <a:p>
            <a:pPr algn="l">
              <a:defRPr sz="2400" b="1" i="0">
                <a:solidFill>
                  <a:srgbClr val="B7C78A"/>
                </a:solidFill>
                <a:latin typeface="Arial"/>
                <a:ea typeface="Arial"/>
                <a:cs typeface="Arial"/>
              </a:defRPr>
            </a:pPr>
            <a:r>
              <a:rPr sz="2400" b="1" i="0">
                <a:solidFill>
                  <a:srgbClr val="B7C78A"/>
                </a:solidFill>
                <a:latin typeface="Arial"/>
                <a:ea typeface="Arial"/>
                <a:cs typeface="Arial"/>
              </a:rPr>
              <a:t>توازن</a:t>
            </a:r>
          </a:p>
        </p:txBody>
      </p:sp>
      <p:sp>
        <p:nvSpPr>
          <p:cNvPr id="4" name="Rectangle 3">
            <a:extLst>
              <a:ext uri="{FF2B5EF4-FFF2-40B4-BE49-F238E27FC236}">
                <a16:creationId xmlns:a16="http://schemas.microsoft.com/office/drawing/2014/main" id="{2DE71796-1613-4AFA-AFA5-046482CC6103}"/>
              </a:ext>
            </a:extLst>
          </p:cNvPr>
          <p:cNvSpPr>
            <a:spLocks noGrp="1"/>
          </p:cNvSpPr>
          <p:nvPr/>
        </p:nvSpPr>
        <p:spPr>
          <a:xfrm>
            <a:off x="781050" y="3000375"/>
            <a:ext cx="9048750" cy="590550"/>
          </a:xfrm>
          <a:prstGeom prst="rect">
            <a:avLst/>
          </a:prstGeom>
          <a:noFill/>
          <a:ln w="0">
            <a:noFill/>
          </a:ln>
        </p:spPr>
        <p:txBody>
          <a:bodyPr anchor="ctr">
            <a:normAutofit/>
          </a:bodyPr>
          <a:lstStyle/>
          <a:p>
            <a:pPr algn="l">
              <a:defRPr sz="2700" b="1" i="0">
                <a:solidFill>
                  <a:srgbClr val="FFFFFF"/>
                </a:solidFill>
                <a:latin typeface="Arial"/>
                <a:ea typeface="Arial"/>
                <a:cs typeface="Arial"/>
              </a:defRPr>
            </a:pPr>
            <a:r>
              <a:rPr sz="2700" b="1" i="0">
                <a:solidFill>
                  <a:srgbClr val="FFFFFF"/>
                </a:solidFill>
                <a:latin typeface="Arial"/>
                <a:ea typeface="Arial"/>
                <a:cs typeface="Arial"/>
              </a:rPr>
              <a:t>AI media wellbeing for Libya</a:t>
            </a:r>
          </a:p>
        </p:txBody>
      </p:sp>
      <p:sp>
        <p:nvSpPr>
          <p:cNvPr id="5" name="Rectangle 4">
            <a:extLst>
              <a:ext uri="{FF2B5EF4-FFF2-40B4-BE49-F238E27FC236}">
                <a16:creationId xmlns:a16="http://schemas.microsoft.com/office/drawing/2014/main" id="{D63549BA-E300-45E5-8A43-C9F62AFE93E7}"/>
              </a:ext>
            </a:extLst>
          </p:cNvPr>
          <p:cNvSpPr>
            <a:spLocks noGrp="1"/>
          </p:cNvSpPr>
          <p:nvPr/>
        </p:nvSpPr>
        <p:spPr>
          <a:xfrm>
            <a:off x="781050" y="3857625"/>
            <a:ext cx="8096250" cy="1066800"/>
          </a:xfrm>
          <a:prstGeom prst="rect">
            <a:avLst/>
          </a:prstGeom>
          <a:noFill/>
          <a:ln w="0">
            <a:noFill/>
          </a:ln>
        </p:spPr>
        <p:txBody>
          <a:bodyPr anchor="ctr">
            <a:normAutofit/>
          </a:bodyPr>
          <a:lstStyle/>
          <a:p>
            <a:pPr algn="l">
              <a:defRPr sz="1875" b="0" i="0">
                <a:solidFill>
                  <a:srgbClr val="D5DED7"/>
                </a:solidFill>
                <a:latin typeface="Arial"/>
                <a:ea typeface="Arial"/>
                <a:cs typeface="Arial"/>
              </a:defRPr>
            </a:pPr>
            <a:r>
              <a:rPr sz="1875" b="0" i="0">
                <a:solidFill>
                  <a:srgbClr val="D5DED7"/>
                </a:solidFill>
                <a:latin typeface="Arial"/>
                <a:ea typeface="Arial"/>
                <a:cs typeface="Arial"/>
              </a:rPr>
              <a:t>Tawazun helps people assess online content, understand its emotional impact, and choose how to respond.</a:t>
            </a:r>
          </a:p>
        </p:txBody>
      </p:sp>
      <p:sp>
        <p:nvSpPr>
          <p:cNvPr id="6" name="Rectangle 5">
            <a:extLst>
              <a:ext uri="{FF2B5EF4-FFF2-40B4-BE49-F238E27FC236}">
                <a16:creationId xmlns:a16="http://schemas.microsoft.com/office/drawing/2014/main" id="{8C315586-5C54-410C-9471-5BA494F6004C}"/>
              </a:ext>
            </a:extLst>
          </p:cNvPr>
          <p:cNvSpPr>
            <a:spLocks noGrp="1"/>
          </p:cNvSpPr>
          <p:nvPr/>
        </p:nvSpPr>
        <p:spPr>
          <a:xfrm>
            <a:off x="781050" y="5305425"/>
            <a:ext cx="9525000" cy="304800"/>
          </a:xfrm>
          <a:prstGeom prst="rect">
            <a:avLst/>
          </a:prstGeom>
          <a:noFill/>
          <a:ln w="0">
            <a:noFill/>
          </a:ln>
        </p:spPr>
        <p:txBody>
          <a:bodyPr anchor="ctr">
            <a:normAutofit/>
          </a:bodyPr>
          <a:lstStyle/>
          <a:p>
            <a:pPr algn="l">
              <a:defRPr sz="1350" b="0" i="0">
                <a:solidFill>
                  <a:srgbClr val="FFFFFF"/>
                </a:solidFill>
                <a:latin typeface="Arial"/>
                <a:ea typeface="Arial"/>
                <a:cs typeface="Arial"/>
              </a:defRPr>
            </a:pPr>
            <a:r>
              <a:rPr sz="1350" b="0" i="0">
                <a:solidFill>
                  <a:srgbClr val="FFFFFF"/>
                </a:solidFill>
                <a:latin typeface="Arial"/>
                <a:ea typeface="Arial"/>
                <a:cs typeface="Arial"/>
              </a:rPr>
              <a:t>By: Suliman Hashem, Buthina urayet, Abdulhafiz Al-Sallai</a:t>
            </a:r>
          </a:p>
        </p:txBody>
      </p:sp>
      <p:sp>
        <p:nvSpPr>
          <p:cNvPr id="7" name="Rectangle 6">
            <a:extLst>
              <a:ext uri="{FF2B5EF4-FFF2-40B4-BE49-F238E27FC236}">
                <a16:creationId xmlns:a16="http://schemas.microsoft.com/office/drawing/2014/main" id="{087EBFE7-EA35-46CB-87F7-84D6AA8E062C}"/>
              </a:ext>
            </a:extLst>
          </p:cNvPr>
          <p:cNvSpPr>
            <a:spLocks noGrp="1"/>
          </p:cNvSpPr>
          <p:nvPr/>
        </p:nvSpPr>
        <p:spPr>
          <a:xfrm>
            <a:off x="781050" y="5924550"/>
            <a:ext cx="5905500" cy="247650"/>
          </a:xfrm>
          <a:prstGeom prst="rect">
            <a:avLst/>
          </a:prstGeom>
          <a:noFill/>
          <a:ln w="0">
            <a:noFill/>
          </a:ln>
        </p:spPr>
        <p:txBody>
          <a:bodyPr anchor="ctr">
            <a:normAutofit fontScale="97619"/>
          </a:bodyPr>
          <a:lstStyle/>
          <a:p>
            <a:pPr algn="l">
              <a:defRPr sz="1050" b="1" i="0">
                <a:solidFill>
                  <a:srgbClr val="B7C78A"/>
                </a:solidFill>
                <a:latin typeface="Arial"/>
                <a:ea typeface="Arial"/>
                <a:cs typeface="Arial"/>
              </a:defRPr>
            </a:pPr>
            <a:r>
              <a:rPr sz="1050" b="1" i="0">
                <a:solidFill>
                  <a:srgbClr val="B7C78A"/>
                </a:solidFill>
                <a:latin typeface="Arial"/>
                <a:ea typeface="Arial"/>
                <a:cs typeface="Arial"/>
              </a:rPr>
              <a:t>PROJECT PITCH</a:t>
            </a:r>
          </a:p>
        </p:txBody>
      </p:sp>
    </p:spTree>
    <p:extLst>
      <p:ext uri="{BB962C8B-B14F-4D97-AF65-F5344CB8AC3E}">
        <p14:creationId xmlns:p14="http://schemas.microsoft.com/office/powerpoint/2010/main" val="8976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FF8834-8E48-43B0-B3E8-6558BFBF2912}"/>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25D5A6D6-FC9D-43CC-86BD-97EC2369FDA6}"/>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Online content creates two challenges at once</a:t>
            </a:r>
          </a:p>
        </p:txBody>
      </p:sp>
      <p:sp>
        <p:nvSpPr>
          <p:cNvPr id="3" name="Rectangle 2">
            <a:extLst>
              <a:ext uri="{FF2B5EF4-FFF2-40B4-BE49-F238E27FC236}">
                <a16:creationId xmlns:a16="http://schemas.microsoft.com/office/drawing/2014/main" id="{4FF5413C-6D83-4278-AEC0-0ECBDDE82129}"/>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2A65C643-0950-43A0-901F-939278FC7727}"/>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66912686-519C-49CA-85C0-BD1D6D446C5C}"/>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02</a:t>
            </a:r>
          </a:p>
        </p:txBody>
      </p:sp>
      <p:sp>
        <p:nvSpPr>
          <p:cNvPr id="6" name="Rectangle 5">
            <a:extLst>
              <a:ext uri="{FF2B5EF4-FFF2-40B4-BE49-F238E27FC236}">
                <a16:creationId xmlns:a16="http://schemas.microsoft.com/office/drawing/2014/main" id="{1CC4CDDA-13E1-4348-AD4D-7A7BCA07735F}"/>
              </a:ext>
            </a:extLst>
          </p:cNvPr>
          <p:cNvSpPr>
            <a:spLocks noGrp="1"/>
          </p:cNvSpPr>
          <p:nvPr/>
        </p:nvSpPr>
        <p:spPr>
          <a:xfrm>
            <a:off x="609600" y="1571625"/>
            <a:ext cx="6191250" cy="1295400"/>
          </a:xfrm>
          <a:prstGeom prst="rect">
            <a:avLst/>
          </a:prstGeom>
          <a:noFill/>
          <a:ln w="0">
            <a:noFill/>
          </a:ln>
        </p:spPr>
        <p:txBody>
          <a:bodyPr anchor="ctr">
            <a:normAutofit/>
          </a:bodyPr>
          <a:lstStyle/>
          <a:p>
            <a:pPr algn="l">
              <a:defRPr sz="2550" b="1" i="0">
                <a:solidFill>
                  <a:srgbClr val="142B2E"/>
                </a:solidFill>
                <a:latin typeface="Arial"/>
                <a:ea typeface="Arial"/>
                <a:cs typeface="Arial"/>
              </a:defRPr>
            </a:pPr>
            <a:r>
              <a:rPr sz="2550" b="1" i="0">
                <a:solidFill>
                  <a:srgbClr val="142B2E"/>
                </a:solidFill>
                <a:latin typeface="Arial"/>
                <a:ea typeface="Arial"/>
                <a:cs typeface="Arial"/>
              </a:rPr>
              <a:t>People must judge whether a post is credible while managing how its language makes them feel.</a:t>
            </a:r>
          </a:p>
        </p:txBody>
      </p:sp>
      <p:sp>
        <p:nvSpPr>
          <p:cNvPr id="7" name="Rectangle 6">
            <a:extLst>
              <a:ext uri="{FF2B5EF4-FFF2-40B4-BE49-F238E27FC236}">
                <a16:creationId xmlns:a16="http://schemas.microsoft.com/office/drawing/2014/main" id="{5E9F1A9D-699B-45A2-A5AB-AC8259364BCB}"/>
              </a:ext>
            </a:extLst>
          </p:cNvPr>
          <p:cNvSpPr>
            <a:spLocks noGrp="1"/>
          </p:cNvSpPr>
          <p:nvPr/>
        </p:nvSpPr>
        <p:spPr>
          <a:xfrm>
            <a:off x="609600" y="3067050"/>
            <a:ext cx="6191250" cy="47625"/>
          </a:xfrm>
          <a:prstGeom prst="rect">
            <a:avLst/>
          </a:prstGeom>
          <a:solidFill>
            <a:srgbClr val="C75A4A"/>
          </a:solidFill>
          <a:ln w="0">
            <a:noFill/>
          </a:ln>
        </p:spPr>
        <p:txBody>
          <a:bodyPr/>
          <a:lstStyle/>
          <a:p>
            <a:endParaRPr lang="ar-LY"/>
          </a:p>
        </p:txBody>
      </p:sp>
      <p:sp>
        <p:nvSpPr>
          <p:cNvPr id="8" name="Rectangle 7">
            <a:extLst>
              <a:ext uri="{FF2B5EF4-FFF2-40B4-BE49-F238E27FC236}">
                <a16:creationId xmlns:a16="http://schemas.microsoft.com/office/drawing/2014/main" id="{D82867DA-3E78-4592-A7B7-7AF6721BB59A}"/>
              </a:ext>
            </a:extLst>
          </p:cNvPr>
          <p:cNvSpPr>
            <a:spLocks noGrp="1"/>
          </p:cNvSpPr>
          <p:nvPr/>
        </p:nvSpPr>
        <p:spPr>
          <a:xfrm>
            <a:off x="609600" y="3352800"/>
            <a:ext cx="6048375" cy="876300"/>
          </a:xfrm>
          <a:prstGeom prst="rect">
            <a:avLst/>
          </a:prstGeom>
          <a:noFill/>
          <a:ln w="0">
            <a:noFill/>
          </a:ln>
        </p:spPr>
        <p:txBody>
          <a:bodyPr anchor="ctr">
            <a:normAutofit/>
          </a:bodyPr>
          <a:lstStyle/>
          <a:p>
            <a:pPr algn="l">
              <a:defRPr sz="1875" b="0" i="0">
                <a:solidFill>
                  <a:srgbClr val="677572"/>
                </a:solidFill>
                <a:latin typeface="Arial"/>
                <a:ea typeface="Arial"/>
                <a:cs typeface="Arial"/>
              </a:defRPr>
            </a:pPr>
            <a:r>
              <a:rPr sz="1875" b="0" i="0">
                <a:solidFill>
                  <a:srgbClr val="677572"/>
                </a:solidFill>
                <a:latin typeface="Arial"/>
                <a:ea typeface="Arial"/>
                <a:cs typeface="Arial"/>
              </a:rPr>
              <a:t>Misinformation, inflammatory rhetoric, and hate speech can mix with urgency and emotional pressure.</a:t>
            </a:r>
          </a:p>
        </p:txBody>
      </p:sp>
      <p:sp>
        <p:nvSpPr>
          <p:cNvPr id="9" name="Rectangle 8">
            <a:extLst>
              <a:ext uri="{FF2B5EF4-FFF2-40B4-BE49-F238E27FC236}">
                <a16:creationId xmlns:a16="http://schemas.microsoft.com/office/drawing/2014/main" id="{66E63A82-88AB-464E-A48A-CAC5C472A569}"/>
              </a:ext>
            </a:extLst>
          </p:cNvPr>
          <p:cNvSpPr>
            <a:spLocks noGrp="1"/>
          </p:cNvSpPr>
          <p:nvPr/>
        </p:nvSpPr>
        <p:spPr>
          <a:xfrm>
            <a:off x="7524750" y="1657350"/>
            <a:ext cx="3762375" cy="2076450"/>
          </a:xfrm>
          <a:prstGeom prst="rect">
            <a:avLst/>
          </a:prstGeom>
          <a:noFill/>
          <a:ln w="0">
            <a:noFill/>
          </a:ln>
        </p:spPr>
        <p:txBody>
          <a:bodyPr anchor="ctr">
            <a:normAutofit/>
          </a:bodyPr>
          <a:lstStyle/>
          <a:p>
            <a:pPr algn="l">
              <a:defRPr sz="1725" b="0" i="0">
                <a:solidFill>
                  <a:srgbClr val="142B2E"/>
                </a:solidFill>
                <a:latin typeface="Arial"/>
                <a:ea typeface="Arial"/>
                <a:cs typeface="Arial"/>
              </a:defRPr>
            </a:pPr>
            <a:r>
              <a:rPr sz="1725" b="0" i="0">
                <a:solidFill>
                  <a:srgbClr val="142B2E"/>
                </a:solidFill>
                <a:latin typeface="Arial"/>
                <a:ea typeface="Arial"/>
                <a:cs typeface="Arial"/>
              </a:rPr>
              <a:t>In June 2026, the UN in Libya raised concern about misinformation, disinformation, and inflammatory rhetoric on social media, including content targeting individuals and groups.</a:t>
            </a:r>
          </a:p>
        </p:txBody>
      </p:sp>
      <p:sp>
        <p:nvSpPr>
          <p:cNvPr id="10" name="Rectangle 9">
            <a:extLst>
              <a:ext uri="{FF2B5EF4-FFF2-40B4-BE49-F238E27FC236}">
                <a16:creationId xmlns:a16="http://schemas.microsoft.com/office/drawing/2014/main" id="{13D03652-845D-424B-B63F-72BACDE4904E}"/>
              </a:ext>
            </a:extLst>
          </p:cNvPr>
          <p:cNvSpPr>
            <a:spLocks noGrp="1"/>
          </p:cNvSpPr>
          <p:nvPr/>
        </p:nvSpPr>
        <p:spPr>
          <a:xfrm>
            <a:off x="7524750" y="4095750"/>
            <a:ext cx="3619500" cy="247650"/>
          </a:xfrm>
          <a:prstGeom prst="rect">
            <a:avLst/>
          </a:prstGeom>
          <a:noFill/>
          <a:ln w="0">
            <a:noFill/>
          </a:ln>
        </p:spPr>
        <p:txBody>
          <a:bodyPr anchor="ctr">
            <a:normAutofit fontScale="97619"/>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DESIGN OPPORTUNITY</a:t>
            </a:r>
          </a:p>
        </p:txBody>
      </p:sp>
      <p:sp>
        <p:nvSpPr>
          <p:cNvPr id="11" name="Rectangle 10">
            <a:extLst>
              <a:ext uri="{FF2B5EF4-FFF2-40B4-BE49-F238E27FC236}">
                <a16:creationId xmlns:a16="http://schemas.microsoft.com/office/drawing/2014/main" id="{F92CCCC2-D57D-4CC2-BDA8-9B4EF182FDDB}"/>
              </a:ext>
            </a:extLst>
          </p:cNvPr>
          <p:cNvSpPr>
            <a:spLocks noGrp="1"/>
          </p:cNvSpPr>
          <p:nvPr/>
        </p:nvSpPr>
        <p:spPr>
          <a:xfrm>
            <a:off x="7524750" y="4448175"/>
            <a:ext cx="3810000" cy="990600"/>
          </a:xfrm>
          <a:prstGeom prst="rect">
            <a:avLst/>
          </a:prstGeom>
          <a:noFill/>
          <a:ln w="0">
            <a:noFill/>
          </a:ln>
        </p:spPr>
        <p:txBody>
          <a:bodyPr anchor="ctr">
            <a:normAutofit fontScale="80348"/>
          </a:bodyPr>
          <a:lstStyle/>
          <a:p>
            <a:pPr algn="l">
              <a:defRPr sz="2100" b="1" i="0">
                <a:solidFill>
                  <a:srgbClr val="315B4C"/>
                </a:solidFill>
                <a:latin typeface="Arial"/>
                <a:ea typeface="Arial"/>
                <a:cs typeface="Arial"/>
              </a:defRPr>
            </a:pPr>
            <a:r>
              <a:rPr sz="2100" b="1" i="0">
                <a:solidFill>
                  <a:srgbClr val="315B4C"/>
                </a:solidFill>
                <a:latin typeface="Arial"/>
                <a:ea typeface="Arial"/>
                <a:cs typeface="Arial"/>
              </a:rPr>
              <a:t>Tawazun connects content analysis with emotional self-awareness and practical response guidance.</a:t>
            </a:r>
          </a:p>
        </p:txBody>
      </p:sp>
      <p:sp>
        <p:nvSpPr>
          <p:cNvPr id="12" name="Rectangle 11">
            <a:extLst>
              <a:ext uri="{FF2B5EF4-FFF2-40B4-BE49-F238E27FC236}">
                <a16:creationId xmlns:a16="http://schemas.microsoft.com/office/drawing/2014/main" id="{161237E1-0A73-406A-99F3-4E70B878AC92}"/>
              </a:ext>
            </a:extLst>
          </p:cNvPr>
          <p:cNvSpPr>
            <a:spLocks noGrp="1"/>
          </p:cNvSpPr>
          <p:nvPr/>
        </p:nvSpPr>
        <p:spPr>
          <a:xfrm>
            <a:off x="7524750" y="5667375"/>
            <a:ext cx="4000500" cy="228600"/>
          </a:xfrm>
          <a:prstGeom prst="rect">
            <a:avLst/>
          </a:prstGeom>
          <a:noFill/>
          <a:ln w="0">
            <a:noFill/>
          </a:ln>
        </p:spPr>
        <p:txBody>
          <a:bodyPr anchor="ctr">
            <a:normAutofit fontScale="92308"/>
          </a:bodyPr>
          <a:lstStyle/>
          <a:p>
            <a:pPr algn="l">
              <a:defRPr sz="975" b="0" i="0">
                <a:solidFill>
                  <a:srgbClr val="677572"/>
                </a:solidFill>
                <a:latin typeface="Arial"/>
                <a:ea typeface="Arial"/>
                <a:cs typeface="Arial"/>
              </a:defRPr>
            </a:pPr>
            <a:r>
              <a:rPr sz="975" b="0" i="0">
                <a:solidFill>
                  <a:srgbClr val="677572"/>
                </a:solidFill>
                <a:latin typeface="Arial"/>
                <a:ea typeface="Arial"/>
                <a:cs typeface="Arial"/>
              </a:rPr>
              <a:t>Source: United Nations in Libya, 1 June 2026</a:t>
            </a:r>
          </a:p>
        </p:txBody>
      </p:sp>
    </p:spTree>
    <p:extLst>
      <p:ext uri="{BB962C8B-B14F-4D97-AF65-F5344CB8AC3E}">
        <p14:creationId xmlns:p14="http://schemas.microsoft.com/office/powerpoint/2010/main" val="992707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A4447E-EB91-4F05-8B06-4AFE30F34E64}"/>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72C66411-2A4C-43E8-A590-7168BA2263FB}"/>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Libya’s digital reach makes this a relevant setting</a:t>
            </a:r>
          </a:p>
        </p:txBody>
      </p:sp>
      <p:sp>
        <p:nvSpPr>
          <p:cNvPr id="3" name="Rectangle 2">
            <a:extLst>
              <a:ext uri="{FF2B5EF4-FFF2-40B4-BE49-F238E27FC236}">
                <a16:creationId xmlns:a16="http://schemas.microsoft.com/office/drawing/2014/main" id="{44D5F10E-0841-4D57-879A-0EC2BF93999B}"/>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2CEFE2AE-21C1-43FD-9C7E-DE026C211D06}"/>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94B5C622-0AC9-4477-A155-EAD8D2422075}"/>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03</a:t>
            </a:r>
          </a:p>
        </p:txBody>
      </p:sp>
      <p:sp>
        <p:nvSpPr>
          <p:cNvPr id="6" name="Rectangle 5">
            <a:extLst>
              <a:ext uri="{FF2B5EF4-FFF2-40B4-BE49-F238E27FC236}">
                <a16:creationId xmlns:a16="http://schemas.microsoft.com/office/drawing/2014/main" id="{A8C4719B-CF04-4BF0-9AEE-D204E0B72FD1}"/>
              </a:ext>
            </a:extLst>
          </p:cNvPr>
          <p:cNvSpPr>
            <a:spLocks noGrp="1"/>
          </p:cNvSpPr>
          <p:nvPr/>
        </p:nvSpPr>
        <p:spPr>
          <a:xfrm>
            <a:off x="666750" y="1657350"/>
            <a:ext cx="4381500" cy="1352550"/>
          </a:xfrm>
          <a:prstGeom prst="rect">
            <a:avLst/>
          </a:prstGeom>
          <a:noFill/>
          <a:ln w="0">
            <a:noFill/>
          </a:ln>
        </p:spPr>
        <p:txBody>
          <a:bodyPr anchor="ctr">
            <a:normAutofit/>
          </a:bodyPr>
          <a:lstStyle/>
          <a:p>
            <a:pPr algn="l">
              <a:defRPr sz="6450" b="1" i="0">
                <a:solidFill>
                  <a:srgbClr val="315B4C"/>
                </a:solidFill>
                <a:latin typeface="Arial"/>
                <a:ea typeface="Arial"/>
                <a:cs typeface="Arial"/>
              </a:defRPr>
            </a:pPr>
            <a:r>
              <a:rPr sz="6450" b="1" i="0">
                <a:solidFill>
                  <a:srgbClr val="315B4C"/>
                </a:solidFill>
                <a:latin typeface="Arial"/>
                <a:ea typeface="Arial"/>
                <a:cs typeface="Arial"/>
              </a:rPr>
              <a:t>88.5%</a:t>
            </a:r>
          </a:p>
        </p:txBody>
      </p:sp>
      <p:sp>
        <p:nvSpPr>
          <p:cNvPr id="7" name="Rectangle 6">
            <a:extLst>
              <a:ext uri="{FF2B5EF4-FFF2-40B4-BE49-F238E27FC236}">
                <a16:creationId xmlns:a16="http://schemas.microsoft.com/office/drawing/2014/main" id="{005AB7B2-66D3-461C-B763-DD2F9DD3A821}"/>
              </a:ext>
            </a:extLst>
          </p:cNvPr>
          <p:cNvSpPr>
            <a:spLocks noGrp="1"/>
          </p:cNvSpPr>
          <p:nvPr/>
        </p:nvSpPr>
        <p:spPr>
          <a:xfrm>
            <a:off x="723900" y="3095625"/>
            <a:ext cx="4429125" cy="85725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of Libya’s population used the internet at the end of 2025</a:t>
            </a:r>
          </a:p>
        </p:txBody>
      </p:sp>
      <p:sp>
        <p:nvSpPr>
          <p:cNvPr id="8" name="Rectangle 7">
            <a:extLst>
              <a:ext uri="{FF2B5EF4-FFF2-40B4-BE49-F238E27FC236}">
                <a16:creationId xmlns:a16="http://schemas.microsoft.com/office/drawing/2014/main" id="{C1357225-6E52-47BA-949B-0D22EA4515D5}"/>
              </a:ext>
            </a:extLst>
          </p:cNvPr>
          <p:cNvSpPr>
            <a:spLocks noGrp="1"/>
          </p:cNvSpPr>
          <p:nvPr/>
        </p:nvSpPr>
        <p:spPr>
          <a:xfrm>
            <a:off x="5810250" y="1619250"/>
            <a:ext cx="19050" cy="3714750"/>
          </a:xfrm>
          <a:prstGeom prst="rect">
            <a:avLst/>
          </a:prstGeom>
          <a:solidFill>
            <a:srgbClr val="D8DED3"/>
          </a:solidFill>
          <a:ln w="0">
            <a:noFill/>
          </a:ln>
        </p:spPr>
        <p:txBody>
          <a:bodyPr/>
          <a:lstStyle/>
          <a:p>
            <a:endParaRPr lang="ar-LY"/>
          </a:p>
        </p:txBody>
      </p:sp>
      <p:sp>
        <p:nvSpPr>
          <p:cNvPr id="9" name="Rectangle 8">
            <a:extLst>
              <a:ext uri="{FF2B5EF4-FFF2-40B4-BE49-F238E27FC236}">
                <a16:creationId xmlns:a16="http://schemas.microsoft.com/office/drawing/2014/main" id="{81E90522-F472-4C7F-B126-49C885DAD36B}"/>
              </a:ext>
            </a:extLst>
          </p:cNvPr>
          <p:cNvSpPr>
            <a:spLocks noGrp="1"/>
          </p:cNvSpPr>
          <p:nvPr/>
        </p:nvSpPr>
        <p:spPr>
          <a:xfrm>
            <a:off x="6419850" y="1657350"/>
            <a:ext cx="4572000" cy="1352550"/>
          </a:xfrm>
          <a:prstGeom prst="rect">
            <a:avLst/>
          </a:prstGeom>
          <a:noFill/>
          <a:ln w="0">
            <a:noFill/>
          </a:ln>
        </p:spPr>
        <p:txBody>
          <a:bodyPr anchor="ctr">
            <a:normAutofit/>
          </a:bodyPr>
          <a:lstStyle/>
          <a:p>
            <a:pPr algn="l">
              <a:defRPr sz="5850" b="1" i="0">
                <a:solidFill>
                  <a:srgbClr val="C75A4A"/>
                </a:solidFill>
                <a:latin typeface="Arial"/>
                <a:ea typeface="Arial"/>
                <a:cs typeface="Arial"/>
              </a:defRPr>
            </a:pPr>
            <a:r>
              <a:rPr sz="5850" b="1" i="0">
                <a:solidFill>
                  <a:srgbClr val="C75A4A"/>
                </a:solidFill>
                <a:latin typeface="Arial"/>
                <a:ea typeface="Arial"/>
                <a:cs typeface="Arial"/>
              </a:rPr>
              <a:t>6.62M</a:t>
            </a:r>
          </a:p>
        </p:txBody>
      </p:sp>
      <p:sp>
        <p:nvSpPr>
          <p:cNvPr id="10" name="Rectangle 9">
            <a:extLst>
              <a:ext uri="{FF2B5EF4-FFF2-40B4-BE49-F238E27FC236}">
                <a16:creationId xmlns:a16="http://schemas.microsoft.com/office/drawing/2014/main" id="{62E9C8DA-FB7A-4AF6-B09A-AAFF8FA39562}"/>
              </a:ext>
            </a:extLst>
          </p:cNvPr>
          <p:cNvSpPr>
            <a:spLocks noGrp="1"/>
          </p:cNvSpPr>
          <p:nvPr/>
        </p:nvSpPr>
        <p:spPr>
          <a:xfrm>
            <a:off x="6477000" y="3095625"/>
            <a:ext cx="4381500" cy="85725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estimated internet users in Libya at the end of 2025</a:t>
            </a:r>
          </a:p>
        </p:txBody>
      </p:sp>
      <p:sp>
        <p:nvSpPr>
          <p:cNvPr id="11" name="Rectangle 10">
            <a:extLst>
              <a:ext uri="{FF2B5EF4-FFF2-40B4-BE49-F238E27FC236}">
                <a16:creationId xmlns:a16="http://schemas.microsoft.com/office/drawing/2014/main" id="{209750DE-7695-4519-862B-FBB42F592319}"/>
              </a:ext>
            </a:extLst>
          </p:cNvPr>
          <p:cNvSpPr>
            <a:spLocks noGrp="1"/>
          </p:cNvSpPr>
          <p:nvPr/>
        </p:nvSpPr>
        <p:spPr>
          <a:xfrm>
            <a:off x="6419850" y="4400550"/>
            <a:ext cx="4714875" cy="1066800"/>
          </a:xfrm>
          <a:prstGeom prst="rect">
            <a:avLst/>
          </a:prstGeom>
          <a:noFill/>
          <a:ln w="0">
            <a:noFill/>
          </a:ln>
        </p:spPr>
        <p:txBody>
          <a:bodyPr anchor="ctr">
            <a:normAutofit/>
          </a:bodyPr>
          <a:lstStyle/>
          <a:p>
            <a:pPr algn="l">
              <a:defRPr sz="1650" b="0" i="0">
                <a:solidFill>
                  <a:srgbClr val="677572"/>
                </a:solidFill>
                <a:latin typeface="Arial"/>
                <a:ea typeface="Arial"/>
                <a:cs typeface="Arial"/>
              </a:defRPr>
            </a:pPr>
            <a:r>
              <a:rPr sz="1650" b="0" i="0">
                <a:solidFill>
                  <a:srgbClr val="677572"/>
                </a:solidFill>
                <a:latin typeface="Arial"/>
                <a:ea typeface="Arial"/>
                <a:cs typeface="Arial"/>
              </a:rPr>
              <a:t>Tawazun is designed for the spaces where people already encounter information, with a lightweight mobile-first experience.</a:t>
            </a:r>
          </a:p>
        </p:txBody>
      </p:sp>
      <p:sp>
        <p:nvSpPr>
          <p:cNvPr id="12" name="Rectangle 11">
            <a:extLst>
              <a:ext uri="{FF2B5EF4-FFF2-40B4-BE49-F238E27FC236}">
                <a16:creationId xmlns:a16="http://schemas.microsoft.com/office/drawing/2014/main" id="{BBA59D45-F313-4058-981B-CBAF9572E6DB}"/>
              </a:ext>
            </a:extLst>
          </p:cNvPr>
          <p:cNvSpPr>
            <a:spLocks noGrp="1"/>
          </p:cNvSpPr>
          <p:nvPr/>
        </p:nvSpPr>
        <p:spPr>
          <a:xfrm>
            <a:off x="723900" y="5753100"/>
            <a:ext cx="10477500" cy="285750"/>
          </a:xfrm>
          <a:prstGeom prst="rect">
            <a:avLst/>
          </a:prstGeom>
          <a:noFill/>
          <a:ln w="0">
            <a:noFill/>
          </a:ln>
        </p:spPr>
        <p:txBody>
          <a:bodyPr anchor="ctr">
            <a:normAutofit/>
          </a:bodyPr>
          <a:lstStyle/>
          <a:p>
            <a:pPr algn="l">
              <a:defRPr sz="975" b="0" i="0">
                <a:solidFill>
                  <a:srgbClr val="677572"/>
                </a:solidFill>
                <a:latin typeface="Arial"/>
                <a:ea typeface="Arial"/>
                <a:cs typeface="Arial"/>
              </a:defRPr>
            </a:pPr>
            <a:r>
              <a:rPr sz="975" b="0" i="0">
                <a:solidFill>
                  <a:srgbClr val="677572"/>
                </a:solidFill>
                <a:latin typeface="Arial"/>
                <a:ea typeface="Arial"/>
                <a:cs typeface="Arial"/>
              </a:rPr>
              <a:t>DataReportal / Kepios, Digital 2026: Libya. Social media “user identities” are not necessarily unique people.</a:t>
            </a:r>
          </a:p>
        </p:txBody>
      </p:sp>
    </p:spTree>
    <p:extLst>
      <p:ext uri="{BB962C8B-B14F-4D97-AF65-F5344CB8AC3E}">
        <p14:creationId xmlns:p14="http://schemas.microsoft.com/office/powerpoint/2010/main" val="1751739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E537474-0600-4432-8269-B7921BA0F5D4}"/>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9202428C-B83A-41DC-AF1B-9EF1023FA970}"/>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Mental wellbeing matters, and local data is limited</a:t>
            </a:r>
          </a:p>
        </p:txBody>
      </p:sp>
      <p:sp>
        <p:nvSpPr>
          <p:cNvPr id="3" name="Rectangle 2">
            <a:extLst>
              <a:ext uri="{FF2B5EF4-FFF2-40B4-BE49-F238E27FC236}">
                <a16:creationId xmlns:a16="http://schemas.microsoft.com/office/drawing/2014/main" id="{9D57AD42-D525-4AAB-A1C0-CBDCF2BC035E}"/>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48F6EB5D-6B17-4EA6-8383-1161694A9345}"/>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CD632564-E861-4220-B027-EEF1F1F680C2}"/>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04</a:t>
            </a:r>
          </a:p>
        </p:txBody>
      </p:sp>
      <p:sp>
        <p:nvSpPr>
          <p:cNvPr id="6" name="Rectangle 5">
            <a:extLst>
              <a:ext uri="{FF2B5EF4-FFF2-40B4-BE49-F238E27FC236}">
                <a16:creationId xmlns:a16="http://schemas.microsoft.com/office/drawing/2014/main" id="{A7A6488E-FDFA-4B23-B052-821964BCD1FB}"/>
              </a:ext>
            </a:extLst>
          </p:cNvPr>
          <p:cNvSpPr>
            <a:spLocks noGrp="1"/>
          </p:cNvSpPr>
          <p:nvPr/>
        </p:nvSpPr>
        <p:spPr>
          <a:xfrm>
            <a:off x="685800" y="1619250"/>
            <a:ext cx="4762500" cy="1285875"/>
          </a:xfrm>
          <a:prstGeom prst="rect">
            <a:avLst/>
          </a:prstGeom>
          <a:noFill/>
          <a:ln w="0">
            <a:noFill/>
          </a:ln>
        </p:spPr>
        <p:txBody>
          <a:bodyPr anchor="ctr">
            <a:normAutofit/>
          </a:bodyPr>
          <a:lstStyle/>
          <a:p>
            <a:pPr algn="l">
              <a:defRPr sz="6000" b="1" i="0">
                <a:solidFill>
                  <a:srgbClr val="C75A4A"/>
                </a:solidFill>
                <a:latin typeface="Arial"/>
                <a:ea typeface="Arial"/>
                <a:cs typeface="Arial"/>
              </a:defRPr>
            </a:pPr>
            <a:r>
              <a:rPr sz="6000" b="1" i="0">
                <a:solidFill>
                  <a:srgbClr val="C75A4A"/>
                </a:solidFill>
                <a:latin typeface="Arial"/>
                <a:ea typeface="Arial"/>
                <a:cs typeface="Arial"/>
              </a:rPr>
              <a:t>22.1%</a:t>
            </a:r>
          </a:p>
        </p:txBody>
      </p:sp>
      <p:sp>
        <p:nvSpPr>
          <p:cNvPr id="7" name="Rectangle 6">
            <a:extLst>
              <a:ext uri="{FF2B5EF4-FFF2-40B4-BE49-F238E27FC236}">
                <a16:creationId xmlns:a16="http://schemas.microsoft.com/office/drawing/2014/main" id="{0BDF3689-9DB1-42A1-8301-22FA10F13796}"/>
              </a:ext>
            </a:extLst>
          </p:cNvPr>
          <p:cNvSpPr>
            <a:spLocks noGrp="1"/>
          </p:cNvSpPr>
          <p:nvPr/>
        </p:nvSpPr>
        <p:spPr>
          <a:xfrm>
            <a:off x="723900" y="3000375"/>
            <a:ext cx="4762500" cy="1095375"/>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WHO estimate for mental disorders at a point in time in conflict-affected populations</a:t>
            </a:r>
          </a:p>
        </p:txBody>
      </p:sp>
      <p:sp>
        <p:nvSpPr>
          <p:cNvPr id="8" name="Rectangle 7">
            <a:extLst>
              <a:ext uri="{FF2B5EF4-FFF2-40B4-BE49-F238E27FC236}">
                <a16:creationId xmlns:a16="http://schemas.microsoft.com/office/drawing/2014/main" id="{C0213F98-0C59-4B28-B94F-E7F3FB246BFE}"/>
              </a:ext>
            </a:extLst>
          </p:cNvPr>
          <p:cNvSpPr>
            <a:spLocks noGrp="1"/>
          </p:cNvSpPr>
          <p:nvPr/>
        </p:nvSpPr>
        <p:spPr>
          <a:xfrm>
            <a:off x="6191250" y="1657350"/>
            <a:ext cx="38100" cy="3571875"/>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0FD36D13-FD74-4DD3-88E7-1F1E04FA604A}"/>
              </a:ext>
            </a:extLst>
          </p:cNvPr>
          <p:cNvSpPr>
            <a:spLocks noGrp="1"/>
          </p:cNvSpPr>
          <p:nvPr/>
        </p:nvSpPr>
        <p:spPr>
          <a:xfrm>
            <a:off x="6572250" y="1657350"/>
            <a:ext cx="4572000" cy="419100"/>
          </a:xfrm>
          <a:prstGeom prst="rect">
            <a:avLst/>
          </a:prstGeom>
          <a:noFill/>
          <a:ln w="0">
            <a:noFill/>
          </a:ln>
        </p:spPr>
        <p:txBody>
          <a:bodyPr anchor="ctr">
            <a:normAutofit/>
          </a:bodyPr>
          <a:lstStyle/>
          <a:p>
            <a:pPr algn="l">
              <a:defRPr sz="1650" b="1" i="0">
                <a:solidFill>
                  <a:srgbClr val="315B4C"/>
                </a:solidFill>
                <a:latin typeface="Arial"/>
                <a:ea typeface="Arial"/>
                <a:cs typeface="Arial"/>
              </a:defRPr>
            </a:pPr>
            <a:r>
              <a:rPr sz="1650" b="1" i="0">
                <a:solidFill>
                  <a:srgbClr val="315B4C"/>
                </a:solidFill>
                <a:latin typeface="Arial"/>
                <a:ea typeface="Arial"/>
                <a:cs typeface="Arial"/>
              </a:rPr>
              <a:t>A careful reading</a:t>
            </a:r>
          </a:p>
        </p:txBody>
      </p:sp>
      <p:sp>
        <p:nvSpPr>
          <p:cNvPr id="10" name="Rectangle 9">
            <a:extLst>
              <a:ext uri="{FF2B5EF4-FFF2-40B4-BE49-F238E27FC236}">
                <a16:creationId xmlns:a16="http://schemas.microsoft.com/office/drawing/2014/main" id="{BB25D6B7-CEBF-4EBD-AEE0-672A3082AAEE}"/>
              </a:ext>
            </a:extLst>
          </p:cNvPr>
          <p:cNvSpPr>
            <a:spLocks noGrp="1"/>
          </p:cNvSpPr>
          <p:nvPr/>
        </p:nvSpPr>
        <p:spPr>
          <a:xfrm>
            <a:off x="6572250" y="2171700"/>
            <a:ext cx="4667250" cy="1381125"/>
          </a:xfrm>
          <a:prstGeom prst="rect">
            <a:avLst/>
          </a:prstGeom>
          <a:noFill/>
          <a:ln w="0">
            <a:noFill/>
          </a:ln>
        </p:spPr>
        <p:txBody>
          <a:bodyPr anchor="ctr">
            <a:normAutofit/>
          </a:bodyPr>
          <a:lstStyle/>
          <a:p>
            <a:pPr algn="l">
              <a:defRPr sz="1725" b="0" i="0">
                <a:solidFill>
                  <a:srgbClr val="142B2E"/>
                </a:solidFill>
                <a:latin typeface="Arial"/>
                <a:ea typeface="Arial"/>
                <a:cs typeface="Arial"/>
              </a:defRPr>
            </a:pPr>
            <a:r>
              <a:rPr sz="1725" b="0" i="0">
                <a:solidFill>
                  <a:srgbClr val="142B2E"/>
                </a:solidFill>
                <a:latin typeface="Arial"/>
                <a:ea typeface="Arial"/>
                <a:cs typeface="Arial"/>
              </a:rPr>
              <a:t>This is not a Libya-specific prevalence survey. WHO says no official national prevalence data exist, and public mental-health research remains limited.</a:t>
            </a:r>
          </a:p>
        </p:txBody>
      </p:sp>
      <p:sp>
        <p:nvSpPr>
          <p:cNvPr id="11" name="Rectangle 10">
            <a:extLst>
              <a:ext uri="{FF2B5EF4-FFF2-40B4-BE49-F238E27FC236}">
                <a16:creationId xmlns:a16="http://schemas.microsoft.com/office/drawing/2014/main" id="{BD9C86C7-F81C-4742-841E-70B81C6B990F}"/>
              </a:ext>
            </a:extLst>
          </p:cNvPr>
          <p:cNvSpPr>
            <a:spLocks noGrp="1"/>
          </p:cNvSpPr>
          <p:nvPr/>
        </p:nvSpPr>
        <p:spPr>
          <a:xfrm>
            <a:off x="6572250" y="3790950"/>
            <a:ext cx="4667250" cy="1352550"/>
          </a:xfrm>
          <a:prstGeom prst="rect">
            <a:avLst/>
          </a:prstGeom>
          <a:noFill/>
          <a:ln w="0">
            <a:noFill/>
          </a:ln>
        </p:spPr>
        <p:txBody>
          <a:bodyPr anchor="ctr">
            <a:normAutofit/>
          </a:bodyPr>
          <a:lstStyle/>
          <a:p>
            <a:pPr algn="l">
              <a:defRPr sz="1650" b="0" i="0">
                <a:solidFill>
                  <a:srgbClr val="677572"/>
                </a:solidFill>
                <a:latin typeface="Arial"/>
                <a:ea typeface="Arial"/>
                <a:cs typeface="Arial"/>
              </a:defRPr>
            </a:pPr>
            <a:r>
              <a:rPr sz="1650" b="0" i="0">
                <a:solidFill>
                  <a:srgbClr val="677572"/>
                </a:solidFill>
                <a:latin typeface="Arial"/>
                <a:ea typeface="Arial"/>
                <a:cs typeface="Arial"/>
              </a:rPr>
              <a:t>That gap makes local listening and testing essential. Tawazun starts as a media-wellbeing tool, not a mental-health diagnosis or treatment service.</a:t>
            </a:r>
          </a:p>
        </p:txBody>
      </p:sp>
      <p:sp>
        <p:nvSpPr>
          <p:cNvPr id="12" name="Rectangle 11">
            <a:extLst>
              <a:ext uri="{FF2B5EF4-FFF2-40B4-BE49-F238E27FC236}">
                <a16:creationId xmlns:a16="http://schemas.microsoft.com/office/drawing/2014/main" id="{451BBC18-4496-4B0E-97F0-36F0772986BD}"/>
              </a:ext>
            </a:extLst>
          </p:cNvPr>
          <p:cNvSpPr>
            <a:spLocks noGrp="1"/>
          </p:cNvSpPr>
          <p:nvPr/>
        </p:nvSpPr>
        <p:spPr>
          <a:xfrm>
            <a:off x="723900" y="5753100"/>
            <a:ext cx="10477500" cy="228600"/>
          </a:xfrm>
          <a:prstGeom prst="rect">
            <a:avLst/>
          </a:prstGeom>
          <a:noFill/>
          <a:ln w="0">
            <a:noFill/>
          </a:ln>
        </p:spPr>
        <p:txBody>
          <a:bodyPr anchor="ctr">
            <a:normAutofit fontScale="92308"/>
          </a:bodyPr>
          <a:lstStyle/>
          <a:p>
            <a:pPr algn="l">
              <a:defRPr sz="975" b="0" i="0">
                <a:solidFill>
                  <a:srgbClr val="677572"/>
                </a:solidFill>
                <a:latin typeface="Arial"/>
                <a:ea typeface="Arial"/>
                <a:cs typeface="Arial"/>
              </a:defRPr>
            </a:pPr>
            <a:r>
              <a:rPr sz="975" b="0" i="0">
                <a:solidFill>
                  <a:srgbClr val="677572"/>
                </a:solidFill>
                <a:latin typeface="Arial"/>
                <a:ea typeface="Arial"/>
                <a:cs typeface="Arial"/>
              </a:rPr>
              <a:t>WHO EMRO, Mental health and psychosocial support, 2024 report</a:t>
            </a:r>
          </a:p>
        </p:txBody>
      </p:sp>
    </p:spTree>
    <p:extLst>
      <p:ext uri="{BB962C8B-B14F-4D97-AF65-F5344CB8AC3E}">
        <p14:creationId xmlns:p14="http://schemas.microsoft.com/office/powerpoint/2010/main" val="1010349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33ECC20-553A-496D-8BC3-5B5BCFD9B090}"/>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E788BA65-3719-4CD7-8816-44092AE2108C}"/>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Tawazun is an AI media wellbeing platform for Libya</a:t>
            </a:r>
          </a:p>
        </p:txBody>
      </p:sp>
      <p:sp>
        <p:nvSpPr>
          <p:cNvPr id="3" name="Rectangle 2">
            <a:extLst>
              <a:ext uri="{FF2B5EF4-FFF2-40B4-BE49-F238E27FC236}">
                <a16:creationId xmlns:a16="http://schemas.microsoft.com/office/drawing/2014/main" id="{CC2EF284-1623-4DD7-8B6B-DC8929E46CFB}"/>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E5512A38-5F92-4E79-B2BD-E5AC4C78EA71}"/>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7A632DD8-BCA2-4B1A-B4B1-06399C9F43FD}"/>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05</a:t>
            </a:r>
          </a:p>
        </p:txBody>
      </p:sp>
      <p:sp>
        <p:nvSpPr>
          <p:cNvPr id="6" name="Rectangle 5">
            <a:extLst>
              <a:ext uri="{FF2B5EF4-FFF2-40B4-BE49-F238E27FC236}">
                <a16:creationId xmlns:a16="http://schemas.microsoft.com/office/drawing/2014/main" id="{E6C61648-1D60-4EDF-88FC-83915E3CBA24}"/>
              </a:ext>
            </a:extLst>
          </p:cNvPr>
          <p:cNvSpPr>
            <a:spLocks noGrp="1"/>
          </p:cNvSpPr>
          <p:nvPr/>
        </p:nvSpPr>
        <p:spPr>
          <a:xfrm>
            <a:off x="609600" y="1504950"/>
            <a:ext cx="10096500" cy="514350"/>
          </a:xfrm>
          <a:prstGeom prst="rect">
            <a:avLst/>
          </a:prstGeom>
          <a:noFill/>
          <a:ln w="0">
            <a:noFill/>
          </a:ln>
        </p:spPr>
        <p:txBody>
          <a:bodyPr anchor="ctr">
            <a:normAutofit fontScale="94670"/>
          </a:bodyPr>
          <a:lstStyle/>
          <a:p>
            <a:pPr algn="l">
              <a:defRPr sz="2100" b="0" i="0">
                <a:solidFill>
                  <a:srgbClr val="677572"/>
                </a:solidFill>
                <a:latin typeface="Arial"/>
                <a:ea typeface="Arial"/>
                <a:cs typeface="Arial"/>
              </a:defRPr>
            </a:pPr>
            <a:r>
              <a:rPr sz="2100" b="0" i="0">
                <a:solidFill>
                  <a:srgbClr val="677572"/>
                </a:solidFill>
                <a:latin typeface="Arial"/>
                <a:ea typeface="Arial"/>
                <a:cs typeface="Arial"/>
              </a:rPr>
              <a:t>It helps users assess a post, understand how it affects them, and decide how to respond.</a:t>
            </a:r>
          </a:p>
        </p:txBody>
      </p:sp>
      <p:sp>
        <p:nvSpPr>
          <p:cNvPr id="7" name="Rectangle 6">
            <a:extLst>
              <a:ext uri="{FF2B5EF4-FFF2-40B4-BE49-F238E27FC236}">
                <a16:creationId xmlns:a16="http://schemas.microsoft.com/office/drawing/2014/main" id="{EE64821E-36A8-46A5-BBA9-244C851A8D91}"/>
              </a:ext>
            </a:extLst>
          </p:cNvPr>
          <p:cNvSpPr>
            <a:spLocks noGrp="1"/>
          </p:cNvSpPr>
          <p:nvPr/>
        </p:nvSpPr>
        <p:spPr>
          <a:xfrm>
            <a:off x="742950" y="2400300"/>
            <a:ext cx="1238250" cy="685800"/>
          </a:xfrm>
          <a:prstGeom prst="rect">
            <a:avLst/>
          </a:prstGeom>
          <a:noFill/>
          <a:ln w="0">
            <a:noFill/>
          </a:ln>
        </p:spPr>
        <p:txBody>
          <a:bodyPr anchor="ctr">
            <a:normAutofit/>
          </a:bodyPr>
          <a:lstStyle/>
          <a:p>
            <a:pPr algn="l">
              <a:defRPr sz="3150" b="1" i="0">
                <a:solidFill>
                  <a:srgbClr val="315B4C"/>
                </a:solidFill>
                <a:latin typeface="Arial"/>
                <a:ea typeface="Arial"/>
                <a:cs typeface="Arial"/>
              </a:defRPr>
            </a:pPr>
            <a:r>
              <a:rPr sz="3150" b="1" i="0">
                <a:solidFill>
                  <a:srgbClr val="315B4C"/>
                </a:solidFill>
                <a:latin typeface="Arial"/>
                <a:ea typeface="Arial"/>
                <a:cs typeface="Arial"/>
              </a:rPr>
              <a:t>01</a:t>
            </a:r>
          </a:p>
        </p:txBody>
      </p:sp>
      <p:sp>
        <p:nvSpPr>
          <p:cNvPr id="8" name="Rectangle 7">
            <a:extLst>
              <a:ext uri="{FF2B5EF4-FFF2-40B4-BE49-F238E27FC236}">
                <a16:creationId xmlns:a16="http://schemas.microsoft.com/office/drawing/2014/main" id="{5D3BDAC4-D458-47D2-BCD6-2313BA9C5A12}"/>
              </a:ext>
            </a:extLst>
          </p:cNvPr>
          <p:cNvSpPr>
            <a:spLocks noGrp="1"/>
          </p:cNvSpPr>
          <p:nvPr/>
        </p:nvSpPr>
        <p:spPr>
          <a:xfrm>
            <a:off x="742950" y="3219450"/>
            <a:ext cx="2952750" cy="38100"/>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243F9C4D-36B9-41E1-8C7F-4D263FEBB5DA}"/>
              </a:ext>
            </a:extLst>
          </p:cNvPr>
          <p:cNvSpPr>
            <a:spLocks noGrp="1"/>
          </p:cNvSpPr>
          <p:nvPr/>
        </p:nvSpPr>
        <p:spPr>
          <a:xfrm>
            <a:off x="742950" y="3476625"/>
            <a:ext cx="3048000" cy="495300"/>
          </a:xfrm>
          <a:prstGeom prst="rect">
            <a:avLst/>
          </a:prstGeom>
          <a:noFill/>
          <a:ln w="0">
            <a:noFill/>
          </a:ln>
        </p:spPr>
        <p:txBody>
          <a:bodyPr anchor="ctr">
            <a:normAutofit/>
          </a:bodyPr>
          <a:lstStyle/>
          <a:p>
            <a:pPr algn="l">
              <a:defRPr sz="2025" b="1" i="0">
                <a:solidFill>
                  <a:srgbClr val="142B2E"/>
                </a:solidFill>
                <a:latin typeface="Arial"/>
                <a:ea typeface="Arial"/>
                <a:cs typeface="Arial"/>
              </a:defRPr>
            </a:pPr>
            <a:r>
              <a:rPr sz="2025" b="1" i="0">
                <a:solidFill>
                  <a:srgbClr val="142B2E"/>
                </a:solidFill>
                <a:latin typeface="Arial"/>
                <a:ea typeface="Arial"/>
                <a:cs typeface="Arial"/>
              </a:rPr>
              <a:t>Read the post</a:t>
            </a:r>
          </a:p>
        </p:txBody>
      </p:sp>
      <p:sp>
        <p:nvSpPr>
          <p:cNvPr id="10" name="Rectangle 9">
            <a:extLst>
              <a:ext uri="{FF2B5EF4-FFF2-40B4-BE49-F238E27FC236}">
                <a16:creationId xmlns:a16="http://schemas.microsoft.com/office/drawing/2014/main" id="{FE0AE5B5-DB08-4353-8686-CCA8E8F62BF8}"/>
              </a:ext>
            </a:extLst>
          </p:cNvPr>
          <p:cNvSpPr>
            <a:spLocks noGrp="1"/>
          </p:cNvSpPr>
          <p:nvPr/>
        </p:nvSpPr>
        <p:spPr>
          <a:xfrm>
            <a:off x="742950" y="4076700"/>
            <a:ext cx="3048000" cy="1047750"/>
          </a:xfrm>
          <a:prstGeom prst="rect">
            <a:avLst/>
          </a:prstGeom>
          <a:noFill/>
          <a:ln w="0">
            <a:noFill/>
          </a:ln>
        </p:spPr>
        <p:txBody>
          <a:bodyPr anchor="ctr">
            <a:normAutofit/>
          </a:bodyPr>
          <a:lstStyle/>
          <a:p>
            <a:pPr algn="l">
              <a:defRPr sz="1575" b="0" i="0">
                <a:solidFill>
                  <a:srgbClr val="677572"/>
                </a:solidFill>
                <a:latin typeface="Arial"/>
                <a:ea typeface="Arial"/>
                <a:cs typeface="Arial"/>
              </a:defRPr>
            </a:pPr>
            <a:r>
              <a:rPr sz="1575" b="0" i="0">
                <a:solidFill>
                  <a:srgbClr val="677572"/>
                </a:solidFill>
                <a:latin typeface="Arial"/>
                <a:ea typeface="Arial"/>
                <a:cs typeface="Arial"/>
              </a:rPr>
              <a:t>Spot loaded language, unsupported claims, urgency, or targeting.</a:t>
            </a:r>
          </a:p>
        </p:txBody>
      </p:sp>
      <p:sp>
        <p:nvSpPr>
          <p:cNvPr id="11" name="Rectangle 10">
            <a:extLst>
              <a:ext uri="{FF2B5EF4-FFF2-40B4-BE49-F238E27FC236}">
                <a16:creationId xmlns:a16="http://schemas.microsoft.com/office/drawing/2014/main" id="{EA18F499-145F-44B0-B94C-6B622F48A034}"/>
              </a:ext>
            </a:extLst>
          </p:cNvPr>
          <p:cNvSpPr>
            <a:spLocks noGrp="1"/>
          </p:cNvSpPr>
          <p:nvPr/>
        </p:nvSpPr>
        <p:spPr>
          <a:xfrm>
            <a:off x="4457700" y="2400300"/>
            <a:ext cx="1238250" cy="685800"/>
          </a:xfrm>
          <a:prstGeom prst="rect">
            <a:avLst/>
          </a:prstGeom>
          <a:noFill/>
          <a:ln w="0">
            <a:noFill/>
          </a:ln>
        </p:spPr>
        <p:txBody>
          <a:bodyPr anchor="ctr">
            <a:normAutofit/>
          </a:bodyPr>
          <a:lstStyle/>
          <a:p>
            <a:pPr algn="l">
              <a:defRPr sz="3150" b="1" i="0">
                <a:solidFill>
                  <a:srgbClr val="C75A4A"/>
                </a:solidFill>
                <a:latin typeface="Arial"/>
                <a:ea typeface="Arial"/>
                <a:cs typeface="Arial"/>
              </a:defRPr>
            </a:pPr>
            <a:r>
              <a:rPr sz="3150" b="1" i="0">
                <a:solidFill>
                  <a:srgbClr val="C75A4A"/>
                </a:solidFill>
                <a:latin typeface="Arial"/>
                <a:ea typeface="Arial"/>
                <a:cs typeface="Arial"/>
              </a:rPr>
              <a:t>02</a:t>
            </a:r>
          </a:p>
        </p:txBody>
      </p:sp>
      <p:sp>
        <p:nvSpPr>
          <p:cNvPr id="12" name="Rectangle 11">
            <a:extLst>
              <a:ext uri="{FF2B5EF4-FFF2-40B4-BE49-F238E27FC236}">
                <a16:creationId xmlns:a16="http://schemas.microsoft.com/office/drawing/2014/main" id="{50DF5285-2D82-46F7-A221-22588136CF19}"/>
              </a:ext>
            </a:extLst>
          </p:cNvPr>
          <p:cNvSpPr>
            <a:spLocks noGrp="1"/>
          </p:cNvSpPr>
          <p:nvPr/>
        </p:nvSpPr>
        <p:spPr>
          <a:xfrm>
            <a:off x="4457700" y="3219450"/>
            <a:ext cx="2952750" cy="38100"/>
          </a:xfrm>
          <a:prstGeom prst="rect">
            <a:avLst/>
          </a:prstGeom>
          <a:solidFill>
            <a:srgbClr val="C75A4A"/>
          </a:solidFill>
          <a:ln w="0">
            <a:noFill/>
          </a:ln>
        </p:spPr>
        <p:txBody>
          <a:bodyPr/>
          <a:lstStyle/>
          <a:p>
            <a:endParaRPr lang="ar-LY"/>
          </a:p>
        </p:txBody>
      </p:sp>
      <p:sp>
        <p:nvSpPr>
          <p:cNvPr id="13" name="Rectangle 12">
            <a:extLst>
              <a:ext uri="{FF2B5EF4-FFF2-40B4-BE49-F238E27FC236}">
                <a16:creationId xmlns:a16="http://schemas.microsoft.com/office/drawing/2014/main" id="{B532FE33-4FAF-4FC7-91DC-C6A856891A0E}"/>
              </a:ext>
            </a:extLst>
          </p:cNvPr>
          <p:cNvSpPr>
            <a:spLocks noGrp="1"/>
          </p:cNvSpPr>
          <p:nvPr/>
        </p:nvSpPr>
        <p:spPr>
          <a:xfrm>
            <a:off x="4457700" y="3476625"/>
            <a:ext cx="3048000" cy="495300"/>
          </a:xfrm>
          <a:prstGeom prst="rect">
            <a:avLst/>
          </a:prstGeom>
          <a:noFill/>
          <a:ln w="0">
            <a:noFill/>
          </a:ln>
        </p:spPr>
        <p:txBody>
          <a:bodyPr anchor="ctr">
            <a:normAutofit/>
          </a:bodyPr>
          <a:lstStyle/>
          <a:p>
            <a:pPr algn="l">
              <a:defRPr sz="2025" b="1" i="0">
                <a:solidFill>
                  <a:srgbClr val="142B2E"/>
                </a:solidFill>
                <a:latin typeface="Arial"/>
                <a:ea typeface="Arial"/>
                <a:cs typeface="Arial"/>
              </a:defRPr>
            </a:pPr>
            <a:r>
              <a:rPr sz="2025" b="1" i="0">
                <a:solidFill>
                  <a:srgbClr val="142B2E"/>
                </a:solidFill>
                <a:latin typeface="Arial"/>
                <a:ea typeface="Arial"/>
                <a:cs typeface="Arial"/>
              </a:rPr>
              <a:t>Notice the impact</a:t>
            </a:r>
          </a:p>
        </p:txBody>
      </p:sp>
      <p:sp>
        <p:nvSpPr>
          <p:cNvPr id="14" name="Rectangle 13">
            <a:extLst>
              <a:ext uri="{FF2B5EF4-FFF2-40B4-BE49-F238E27FC236}">
                <a16:creationId xmlns:a16="http://schemas.microsoft.com/office/drawing/2014/main" id="{11586B16-526B-4391-81C1-2919E1338733}"/>
              </a:ext>
            </a:extLst>
          </p:cNvPr>
          <p:cNvSpPr>
            <a:spLocks noGrp="1"/>
          </p:cNvSpPr>
          <p:nvPr/>
        </p:nvSpPr>
        <p:spPr>
          <a:xfrm>
            <a:off x="4457700" y="4076700"/>
            <a:ext cx="3048000" cy="1047750"/>
          </a:xfrm>
          <a:prstGeom prst="rect">
            <a:avLst/>
          </a:prstGeom>
          <a:noFill/>
          <a:ln w="0">
            <a:noFill/>
          </a:ln>
        </p:spPr>
        <p:txBody>
          <a:bodyPr anchor="ctr">
            <a:normAutofit/>
          </a:bodyPr>
          <a:lstStyle/>
          <a:p>
            <a:pPr algn="l">
              <a:defRPr sz="1575" b="0" i="0">
                <a:solidFill>
                  <a:srgbClr val="677572"/>
                </a:solidFill>
                <a:latin typeface="Arial"/>
                <a:ea typeface="Arial"/>
                <a:cs typeface="Arial"/>
              </a:defRPr>
            </a:pPr>
            <a:r>
              <a:rPr sz="1575" b="0" i="0">
                <a:solidFill>
                  <a:srgbClr val="677572"/>
                </a:solidFill>
                <a:latin typeface="Arial"/>
                <a:ea typeface="Arial"/>
                <a:cs typeface="Arial"/>
              </a:rPr>
              <a:t>Name the feeling the content brought up, without judgment.</a:t>
            </a:r>
          </a:p>
        </p:txBody>
      </p:sp>
      <p:sp>
        <p:nvSpPr>
          <p:cNvPr id="15" name="Rectangle 14">
            <a:extLst>
              <a:ext uri="{FF2B5EF4-FFF2-40B4-BE49-F238E27FC236}">
                <a16:creationId xmlns:a16="http://schemas.microsoft.com/office/drawing/2014/main" id="{D55B634B-2961-468E-BDC5-FD2E0DA9FA10}"/>
              </a:ext>
            </a:extLst>
          </p:cNvPr>
          <p:cNvSpPr>
            <a:spLocks noGrp="1"/>
          </p:cNvSpPr>
          <p:nvPr/>
        </p:nvSpPr>
        <p:spPr>
          <a:xfrm>
            <a:off x="8172450" y="2400300"/>
            <a:ext cx="1238250" cy="685800"/>
          </a:xfrm>
          <a:prstGeom prst="rect">
            <a:avLst/>
          </a:prstGeom>
          <a:noFill/>
          <a:ln w="0">
            <a:noFill/>
          </a:ln>
        </p:spPr>
        <p:txBody>
          <a:bodyPr anchor="ctr">
            <a:normAutofit/>
          </a:bodyPr>
          <a:lstStyle/>
          <a:p>
            <a:pPr algn="l">
              <a:defRPr sz="3150" b="1" i="0">
                <a:solidFill>
                  <a:srgbClr val="315B4C"/>
                </a:solidFill>
                <a:latin typeface="Arial"/>
                <a:ea typeface="Arial"/>
                <a:cs typeface="Arial"/>
              </a:defRPr>
            </a:pPr>
            <a:r>
              <a:rPr sz="3150" b="1" i="0">
                <a:solidFill>
                  <a:srgbClr val="315B4C"/>
                </a:solidFill>
                <a:latin typeface="Arial"/>
                <a:ea typeface="Arial"/>
                <a:cs typeface="Arial"/>
              </a:rPr>
              <a:t>03</a:t>
            </a:r>
          </a:p>
        </p:txBody>
      </p:sp>
      <p:sp>
        <p:nvSpPr>
          <p:cNvPr id="16" name="Rectangle 15">
            <a:extLst>
              <a:ext uri="{FF2B5EF4-FFF2-40B4-BE49-F238E27FC236}">
                <a16:creationId xmlns:a16="http://schemas.microsoft.com/office/drawing/2014/main" id="{BDD544D8-F20E-459B-A483-EB4C918CE76F}"/>
              </a:ext>
            </a:extLst>
          </p:cNvPr>
          <p:cNvSpPr>
            <a:spLocks noGrp="1"/>
          </p:cNvSpPr>
          <p:nvPr/>
        </p:nvSpPr>
        <p:spPr>
          <a:xfrm>
            <a:off x="8172450" y="3219450"/>
            <a:ext cx="2952750" cy="38100"/>
          </a:xfrm>
          <a:prstGeom prst="rect">
            <a:avLst/>
          </a:prstGeom>
          <a:solidFill>
            <a:srgbClr val="B7C78A"/>
          </a:solidFill>
          <a:ln w="0">
            <a:noFill/>
          </a:ln>
        </p:spPr>
        <p:txBody>
          <a:bodyPr/>
          <a:lstStyle/>
          <a:p>
            <a:endParaRPr lang="ar-LY"/>
          </a:p>
        </p:txBody>
      </p:sp>
      <p:sp>
        <p:nvSpPr>
          <p:cNvPr id="17" name="Rectangle 16">
            <a:extLst>
              <a:ext uri="{FF2B5EF4-FFF2-40B4-BE49-F238E27FC236}">
                <a16:creationId xmlns:a16="http://schemas.microsoft.com/office/drawing/2014/main" id="{18E836B9-882B-4E10-906A-D8C343EDACC4}"/>
              </a:ext>
            </a:extLst>
          </p:cNvPr>
          <p:cNvSpPr>
            <a:spLocks noGrp="1"/>
          </p:cNvSpPr>
          <p:nvPr/>
        </p:nvSpPr>
        <p:spPr>
          <a:xfrm>
            <a:off x="8172450" y="3476625"/>
            <a:ext cx="3048000" cy="495300"/>
          </a:xfrm>
          <a:prstGeom prst="rect">
            <a:avLst/>
          </a:prstGeom>
          <a:noFill/>
          <a:ln w="0">
            <a:noFill/>
          </a:ln>
        </p:spPr>
        <p:txBody>
          <a:bodyPr anchor="ctr">
            <a:normAutofit/>
          </a:bodyPr>
          <a:lstStyle/>
          <a:p>
            <a:pPr algn="l">
              <a:defRPr sz="2025" b="1" i="0">
                <a:solidFill>
                  <a:srgbClr val="142B2E"/>
                </a:solidFill>
                <a:latin typeface="Arial"/>
                <a:ea typeface="Arial"/>
                <a:cs typeface="Arial"/>
              </a:defRPr>
            </a:pPr>
            <a:r>
              <a:rPr sz="2025" b="1" i="0">
                <a:solidFill>
                  <a:srgbClr val="142B2E"/>
                </a:solidFill>
                <a:latin typeface="Arial"/>
                <a:ea typeface="Arial"/>
                <a:cs typeface="Arial"/>
              </a:rPr>
              <a:t>Choose a response</a:t>
            </a:r>
          </a:p>
        </p:txBody>
      </p:sp>
      <p:sp>
        <p:nvSpPr>
          <p:cNvPr id="18" name="Rectangle 17">
            <a:extLst>
              <a:ext uri="{FF2B5EF4-FFF2-40B4-BE49-F238E27FC236}">
                <a16:creationId xmlns:a16="http://schemas.microsoft.com/office/drawing/2014/main" id="{EAC134B8-3217-465A-878C-2B71AB3D7C08}"/>
              </a:ext>
            </a:extLst>
          </p:cNvPr>
          <p:cNvSpPr>
            <a:spLocks noGrp="1"/>
          </p:cNvSpPr>
          <p:nvPr/>
        </p:nvSpPr>
        <p:spPr>
          <a:xfrm>
            <a:off x="8172450" y="4076700"/>
            <a:ext cx="3048000" cy="1047750"/>
          </a:xfrm>
          <a:prstGeom prst="rect">
            <a:avLst/>
          </a:prstGeom>
          <a:noFill/>
          <a:ln w="0">
            <a:noFill/>
          </a:ln>
        </p:spPr>
        <p:txBody>
          <a:bodyPr anchor="ctr">
            <a:normAutofit/>
          </a:bodyPr>
          <a:lstStyle/>
          <a:p>
            <a:pPr algn="l">
              <a:defRPr sz="1575" b="0" i="0">
                <a:solidFill>
                  <a:srgbClr val="677572"/>
                </a:solidFill>
                <a:latin typeface="Arial"/>
                <a:ea typeface="Arial"/>
                <a:cs typeface="Arial"/>
              </a:defRPr>
            </a:pPr>
            <a:r>
              <a:rPr sz="1575" b="0" i="0">
                <a:solidFill>
                  <a:srgbClr val="677572"/>
                </a:solidFill>
                <a:latin typeface="Arial"/>
                <a:ea typeface="Arial"/>
                <a:cs typeface="Arial"/>
              </a:rPr>
              <a:t>Pause, check a source, try a grounding prompt, or disengage.</a:t>
            </a:r>
          </a:p>
        </p:txBody>
      </p:sp>
    </p:spTree>
    <p:extLst>
      <p:ext uri="{BB962C8B-B14F-4D97-AF65-F5344CB8AC3E}">
        <p14:creationId xmlns:p14="http://schemas.microsoft.com/office/powerpoint/2010/main" val="1869654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563C968-6B12-4091-B494-1C9301F6702B}"/>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A4864207-4DF4-4F56-9A9A-464D3C99EF1C}"/>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How the complete Tawazun experience works</a:t>
            </a:r>
          </a:p>
        </p:txBody>
      </p:sp>
      <p:sp>
        <p:nvSpPr>
          <p:cNvPr id="3" name="Rectangle 2">
            <a:extLst>
              <a:ext uri="{FF2B5EF4-FFF2-40B4-BE49-F238E27FC236}">
                <a16:creationId xmlns:a16="http://schemas.microsoft.com/office/drawing/2014/main" id="{556DC1C7-2F38-410A-B7E9-EF174EDB6D0D}"/>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FF7A0F04-EF5C-4678-8802-BD8030FF9385}"/>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A1D880E1-231F-49CB-BD84-56C5775B5680}"/>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06</a:t>
            </a:r>
          </a:p>
        </p:txBody>
      </p:sp>
      <p:sp>
        <p:nvSpPr>
          <p:cNvPr id="6" name="Rectangle 5">
            <a:extLst>
              <a:ext uri="{FF2B5EF4-FFF2-40B4-BE49-F238E27FC236}">
                <a16:creationId xmlns:a16="http://schemas.microsoft.com/office/drawing/2014/main" id="{53A17EE4-2818-48BC-A7BF-3A4FF4147536}"/>
              </a:ext>
            </a:extLst>
          </p:cNvPr>
          <p:cNvSpPr>
            <a:spLocks noGrp="1"/>
          </p:cNvSpPr>
          <p:nvPr/>
        </p:nvSpPr>
        <p:spPr>
          <a:xfrm>
            <a:off x="685800" y="1428750"/>
            <a:ext cx="10477500" cy="495300"/>
          </a:xfrm>
          <a:prstGeom prst="rect">
            <a:avLst/>
          </a:prstGeom>
          <a:noFill/>
          <a:ln w="0">
            <a:noFill/>
          </a:ln>
        </p:spPr>
        <p:txBody>
          <a:bodyPr anchor="ctr">
            <a:normAutofit/>
          </a:bodyPr>
          <a:lstStyle/>
          <a:p>
            <a:pPr algn="l">
              <a:defRPr sz="1800" b="0" i="0">
                <a:solidFill>
                  <a:srgbClr val="677572"/>
                </a:solidFill>
                <a:latin typeface="Arial"/>
                <a:ea typeface="Arial"/>
                <a:cs typeface="Arial"/>
              </a:defRPr>
            </a:pPr>
            <a:r>
              <a:rPr sz="1800" b="0" i="0">
                <a:solidFill>
                  <a:srgbClr val="677572"/>
                </a:solidFill>
                <a:latin typeface="Arial"/>
                <a:ea typeface="Arial"/>
                <a:cs typeface="Arial"/>
              </a:rPr>
              <a:t>Example: a user sees an alarming claim about a local service and feels worried.</a:t>
            </a:r>
          </a:p>
        </p:txBody>
      </p:sp>
      <p:sp>
        <p:nvSpPr>
          <p:cNvPr id="7" name="Rectangle 6">
            <a:extLst>
              <a:ext uri="{FF2B5EF4-FFF2-40B4-BE49-F238E27FC236}">
                <a16:creationId xmlns:a16="http://schemas.microsoft.com/office/drawing/2014/main" id="{63A611AD-FFC8-4A51-B8E8-0C075D0DCBC3}"/>
              </a:ext>
            </a:extLst>
          </p:cNvPr>
          <p:cNvSpPr>
            <a:spLocks noGrp="1"/>
          </p:cNvSpPr>
          <p:nvPr/>
        </p:nvSpPr>
        <p:spPr>
          <a:xfrm>
            <a:off x="685800" y="2381250"/>
            <a:ext cx="609600" cy="514350"/>
          </a:xfrm>
          <a:prstGeom prst="rect">
            <a:avLst/>
          </a:prstGeom>
          <a:noFill/>
          <a:ln w="0">
            <a:noFill/>
          </a:ln>
        </p:spPr>
        <p:txBody>
          <a:bodyPr anchor="ctr">
            <a:normAutofit/>
          </a:bodyPr>
          <a:lstStyle/>
          <a:p>
            <a:pPr algn="l">
              <a:defRPr sz="2400" b="1" i="0">
                <a:solidFill>
                  <a:srgbClr val="315B4C"/>
                </a:solidFill>
                <a:latin typeface="Arial"/>
                <a:ea typeface="Arial"/>
                <a:cs typeface="Arial"/>
              </a:defRPr>
            </a:pPr>
            <a:r>
              <a:rPr sz="2400" b="1" i="0">
                <a:solidFill>
                  <a:srgbClr val="315B4C"/>
                </a:solidFill>
                <a:latin typeface="Arial"/>
                <a:ea typeface="Arial"/>
                <a:cs typeface="Arial"/>
              </a:rPr>
              <a:t>01</a:t>
            </a:r>
          </a:p>
        </p:txBody>
      </p:sp>
      <p:sp>
        <p:nvSpPr>
          <p:cNvPr id="8" name="Rectangle 7">
            <a:extLst>
              <a:ext uri="{FF2B5EF4-FFF2-40B4-BE49-F238E27FC236}">
                <a16:creationId xmlns:a16="http://schemas.microsoft.com/office/drawing/2014/main" id="{08503659-459A-45A4-BE78-D75AAFEEEA54}"/>
              </a:ext>
            </a:extLst>
          </p:cNvPr>
          <p:cNvSpPr>
            <a:spLocks noGrp="1"/>
          </p:cNvSpPr>
          <p:nvPr/>
        </p:nvSpPr>
        <p:spPr>
          <a:xfrm>
            <a:off x="685800" y="3038475"/>
            <a:ext cx="2266950" cy="38100"/>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3DEAB851-4720-498F-A3DD-D1A2F0306376}"/>
              </a:ext>
            </a:extLst>
          </p:cNvPr>
          <p:cNvSpPr>
            <a:spLocks noGrp="1"/>
          </p:cNvSpPr>
          <p:nvPr/>
        </p:nvSpPr>
        <p:spPr>
          <a:xfrm>
            <a:off x="685800" y="3267075"/>
            <a:ext cx="2333625" cy="41910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Share</a:t>
            </a:r>
          </a:p>
        </p:txBody>
      </p:sp>
      <p:sp>
        <p:nvSpPr>
          <p:cNvPr id="10" name="Rectangle 9">
            <a:extLst>
              <a:ext uri="{FF2B5EF4-FFF2-40B4-BE49-F238E27FC236}">
                <a16:creationId xmlns:a16="http://schemas.microsoft.com/office/drawing/2014/main" id="{C53425AB-5719-4EF2-A47D-5DF8E85B414D}"/>
              </a:ext>
            </a:extLst>
          </p:cNvPr>
          <p:cNvSpPr>
            <a:spLocks noGrp="1"/>
          </p:cNvSpPr>
          <p:nvPr/>
        </p:nvSpPr>
        <p:spPr>
          <a:xfrm>
            <a:off x="685800" y="3790950"/>
            <a:ext cx="2305050" cy="1524000"/>
          </a:xfrm>
          <a:prstGeom prst="rect">
            <a:avLst/>
          </a:prstGeom>
          <a:noFill/>
          <a:ln w="0">
            <a:noFill/>
          </a:ln>
        </p:spPr>
        <p:txBody>
          <a:bodyPr anchor="ctr">
            <a:normAutofit/>
          </a:bodyPr>
          <a:lstStyle/>
          <a:p>
            <a:pPr algn="l">
              <a:defRPr sz="1500" b="0" i="0">
                <a:solidFill>
                  <a:srgbClr val="677572"/>
                </a:solidFill>
                <a:latin typeface="Arial"/>
                <a:ea typeface="Arial"/>
                <a:cs typeface="Arial"/>
              </a:defRPr>
            </a:pPr>
            <a:r>
              <a:rPr sz="1500" b="0" i="0">
                <a:solidFill>
                  <a:srgbClr val="677572"/>
                </a:solidFill>
                <a:latin typeface="Arial"/>
                <a:ea typeface="Arial"/>
                <a:cs typeface="Arial"/>
              </a:rPr>
              <a:t>The user shares a post and selects how it made them feel.</a:t>
            </a:r>
          </a:p>
        </p:txBody>
      </p:sp>
      <p:sp>
        <p:nvSpPr>
          <p:cNvPr id="11" name="Rectangle 10">
            <a:extLst>
              <a:ext uri="{FF2B5EF4-FFF2-40B4-BE49-F238E27FC236}">
                <a16:creationId xmlns:a16="http://schemas.microsoft.com/office/drawing/2014/main" id="{E074164F-F8D2-47C0-BF40-8442B50E583B}"/>
              </a:ext>
            </a:extLst>
          </p:cNvPr>
          <p:cNvSpPr>
            <a:spLocks noGrp="1"/>
          </p:cNvSpPr>
          <p:nvPr/>
        </p:nvSpPr>
        <p:spPr>
          <a:xfrm>
            <a:off x="3429000" y="2381250"/>
            <a:ext cx="609600" cy="514350"/>
          </a:xfrm>
          <a:prstGeom prst="rect">
            <a:avLst/>
          </a:prstGeom>
          <a:noFill/>
          <a:ln w="0">
            <a:noFill/>
          </a:ln>
        </p:spPr>
        <p:txBody>
          <a:bodyPr anchor="ctr">
            <a:normAutofit/>
          </a:bodyPr>
          <a:lstStyle/>
          <a:p>
            <a:pPr algn="l">
              <a:defRPr sz="2400" b="1" i="0">
                <a:solidFill>
                  <a:srgbClr val="C75A4A"/>
                </a:solidFill>
                <a:latin typeface="Arial"/>
                <a:ea typeface="Arial"/>
                <a:cs typeface="Arial"/>
              </a:defRPr>
            </a:pPr>
            <a:r>
              <a:rPr sz="2400" b="1" i="0">
                <a:solidFill>
                  <a:srgbClr val="C75A4A"/>
                </a:solidFill>
                <a:latin typeface="Arial"/>
                <a:ea typeface="Arial"/>
                <a:cs typeface="Arial"/>
              </a:rPr>
              <a:t>02</a:t>
            </a:r>
          </a:p>
        </p:txBody>
      </p:sp>
      <p:sp>
        <p:nvSpPr>
          <p:cNvPr id="12" name="Rectangle 11">
            <a:extLst>
              <a:ext uri="{FF2B5EF4-FFF2-40B4-BE49-F238E27FC236}">
                <a16:creationId xmlns:a16="http://schemas.microsoft.com/office/drawing/2014/main" id="{7DCB83D6-E864-4AA9-866C-2EA6B60781D8}"/>
              </a:ext>
            </a:extLst>
          </p:cNvPr>
          <p:cNvSpPr>
            <a:spLocks noGrp="1"/>
          </p:cNvSpPr>
          <p:nvPr/>
        </p:nvSpPr>
        <p:spPr>
          <a:xfrm>
            <a:off x="3429000" y="3038475"/>
            <a:ext cx="2266950" cy="38100"/>
          </a:xfrm>
          <a:prstGeom prst="rect">
            <a:avLst/>
          </a:prstGeom>
          <a:solidFill>
            <a:srgbClr val="C75A4A"/>
          </a:solidFill>
          <a:ln w="0">
            <a:noFill/>
          </a:ln>
        </p:spPr>
        <p:txBody>
          <a:bodyPr/>
          <a:lstStyle/>
          <a:p>
            <a:endParaRPr lang="ar-LY"/>
          </a:p>
        </p:txBody>
      </p:sp>
      <p:sp>
        <p:nvSpPr>
          <p:cNvPr id="13" name="Rectangle 12">
            <a:extLst>
              <a:ext uri="{FF2B5EF4-FFF2-40B4-BE49-F238E27FC236}">
                <a16:creationId xmlns:a16="http://schemas.microsoft.com/office/drawing/2014/main" id="{862E4120-2589-483B-BC00-22748F2D4838}"/>
              </a:ext>
            </a:extLst>
          </p:cNvPr>
          <p:cNvSpPr>
            <a:spLocks noGrp="1"/>
          </p:cNvSpPr>
          <p:nvPr/>
        </p:nvSpPr>
        <p:spPr>
          <a:xfrm>
            <a:off x="3429000" y="3267075"/>
            <a:ext cx="2333625" cy="41910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Understand</a:t>
            </a:r>
          </a:p>
        </p:txBody>
      </p:sp>
      <p:sp>
        <p:nvSpPr>
          <p:cNvPr id="14" name="Rectangle 13">
            <a:extLst>
              <a:ext uri="{FF2B5EF4-FFF2-40B4-BE49-F238E27FC236}">
                <a16:creationId xmlns:a16="http://schemas.microsoft.com/office/drawing/2014/main" id="{A3ABF4F1-FF70-409D-8690-BE2D31EAB2BE}"/>
              </a:ext>
            </a:extLst>
          </p:cNvPr>
          <p:cNvSpPr>
            <a:spLocks noGrp="1"/>
          </p:cNvSpPr>
          <p:nvPr/>
        </p:nvSpPr>
        <p:spPr>
          <a:xfrm>
            <a:off x="3429000" y="3790950"/>
            <a:ext cx="2305050" cy="1524000"/>
          </a:xfrm>
          <a:prstGeom prst="rect">
            <a:avLst/>
          </a:prstGeom>
          <a:noFill/>
          <a:ln w="0">
            <a:noFill/>
          </a:ln>
        </p:spPr>
        <p:txBody>
          <a:bodyPr anchor="ctr">
            <a:normAutofit/>
          </a:bodyPr>
          <a:lstStyle/>
          <a:p>
            <a:pPr algn="l">
              <a:defRPr sz="1500" b="0" i="0">
                <a:solidFill>
                  <a:srgbClr val="677572"/>
                </a:solidFill>
                <a:latin typeface="Arial"/>
                <a:ea typeface="Arial"/>
                <a:cs typeface="Arial"/>
              </a:defRPr>
            </a:pPr>
            <a:r>
              <a:rPr sz="1500" b="0" i="0">
                <a:solidFill>
                  <a:srgbClr val="677572"/>
                </a:solidFill>
                <a:latin typeface="Arial"/>
                <a:ea typeface="Arial"/>
                <a:cs typeface="Arial"/>
              </a:rPr>
              <a:t>AI explains urgency, emotional language, and source cues. It labels uncertainty.</a:t>
            </a:r>
          </a:p>
        </p:txBody>
      </p:sp>
      <p:sp>
        <p:nvSpPr>
          <p:cNvPr id="15" name="Rectangle 14">
            <a:extLst>
              <a:ext uri="{FF2B5EF4-FFF2-40B4-BE49-F238E27FC236}">
                <a16:creationId xmlns:a16="http://schemas.microsoft.com/office/drawing/2014/main" id="{577CFE07-AB6E-4690-973C-197E98B9FD6D}"/>
              </a:ext>
            </a:extLst>
          </p:cNvPr>
          <p:cNvSpPr>
            <a:spLocks noGrp="1"/>
          </p:cNvSpPr>
          <p:nvPr/>
        </p:nvSpPr>
        <p:spPr>
          <a:xfrm>
            <a:off x="6172200" y="2381250"/>
            <a:ext cx="609600" cy="514350"/>
          </a:xfrm>
          <a:prstGeom prst="rect">
            <a:avLst/>
          </a:prstGeom>
          <a:noFill/>
          <a:ln w="0">
            <a:noFill/>
          </a:ln>
        </p:spPr>
        <p:txBody>
          <a:bodyPr anchor="ctr">
            <a:normAutofit/>
          </a:bodyPr>
          <a:lstStyle/>
          <a:p>
            <a:pPr algn="l">
              <a:defRPr sz="2400" b="1" i="0">
                <a:solidFill>
                  <a:srgbClr val="315B4C"/>
                </a:solidFill>
                <a:latin typeface="Arial"/>
                <a:ea typeface="Arial"/>
                <a:cs typeface="Arial"/>
              </a:defRPr>
            </a:pPr>
            <a:r>
              <a:rPr sz="2400" b="1" i="0">
                <a:solidFill>
                  <a:srgbClr val="315B4C"/>
                </a:solidFill>
                <a:latin typeface="Arial"/>
                <a:ea typeface="Arial"/>
                <a:cs typeface="Arial"/>
              </a:rPr>
              <a:t>03</a:t>
            </a:r>
          </a:p>
        </p:txBody>
      </p:sp>
      <p:sp>
        <p:nvSpPr>
          <p:cNvPr id="16" name="Rectangle 15">
            <a:extLst>
              <a:ext uri="{FF2B5EF4-FFF2-40B4-BE49-F238E27FC236}">
                <a16:creationId xmlns:a16="http://schemas.microsoft.com/office/drawing/2014/main" id="{5FFE3E7D-D3C3-46E6-91F5-D97E93BC1F3B}"/>
              </a:ext>
            </a:extLst>
          </p:cNvPr>
          <p:cNvSpPr>
            <a:spLocks noGrp="1"/>
          </p:cNvSpPr>
          <p:nvPr/>
        </p:nvSpPr>
        <p:spPr>
          <a:xfrm>
            <a:off x="6172200" y="3038475"/>
            <a:ext cx="2266950" cy="38100"/>
          </a:xfrm>
          <a:prstGeom prst="rect">
            <a:avLst/>
          </a:prstGeom>
          <a:solidFill>
            <a:srgbClr val="B7C78A"/>
          </a:solidFill>
          <a:ln w="0">
            <a:noFill/>
          </a:ln>
        </p:spPr>
        <p:txBody>
          <a:bodyPr/>
          <a:lstStyle/>
          <a:p>
            <a:endParaRPr lang="ar-LY"/>
          </a:p>
        </p:txBody>
      </p:sp>
      <p:sp>
        <p:nvSpPr>
          <p:cNvPr id="17" name="Rectangle 16">
            <a:extLst>
              <a:ext uri="{FF2B5EF4-FFF2-40B4-BE49-F238E27FC236}">
                <a16:creationId xmlns:a16="http://schemas.microsoft.com/office/drawing/2014/main" id="{67017785-0DEF-4FC8-8920-CF0AFC7ED72C}"/>
              </a:ext>
            </a:extLst>
          </p:cNvPr>
          <p:cNvSpPr>
            <a:spLocks noGrp="1"/>
          </p:cNvSpPr>
          <p:nvPr/>
        </p:nvSpPr>
        <p:spPr>
          <a:xfrm>
            <a:off x="6172200" y="3267075"/>
            <a:ext cx="2333625" cy="41910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Check in</a:t>
            </a:r>
          </a:p>
        </p:txBody>
      </p:sp>
      <p:sp>
        <p:nvSpPr>
          <p:cNvPr id="18" name="Rectangle 17">
            <a:extLst>
              <a:ext uri="{FF2B5EF4-FFF2-40B4-BE49-F238E27FC236}">
                <a16:creationId xmlns:a16="http://schemas.microsoft.com/office/drawing/2014/main" id="{992C1E9A-CEB2-465C-BCD0-B6F8A09EF580}"/>
              </a:ext>
            </a:extLst>
          </p:cNvPr>
          <p:cNvSpPr>
            <a:spLocks noGrp="1"/>
          </p:cNvSpPr>
          <p:nvPr/>
        </p:nvSpPr>
        <p:spPr>
          <a:xfrm>
            <a:off x="6172200" y="3790950"/>
            <a:ext cx="2305050" cy="1524000"/>
          </a:xfrm>
          <a:prstGeom prst="rect">
            <a:avLst/>
          </a:prstGeom>
          <a:noFill/>
          <a:ln w="0">
            <a:noFill/>
          </a:ln>
        </p:spPr>
        <p:txBody>
          <a:bodyPr anchor="ctr">
            <a:normAutofit/>
          </a:bodyPr>
          <a:lstStyle/>
          <a:p>
            <a:pPr algn="l">
              <a:defRPr sz="1500" b="0" i="0">
                <a:solidFill>
                  <a:srgbClr val="677572"/>
                </a:solidFill>
                <a:latin typeface="Arial"/>
                <a:ea typeface="Arial"/>
                <a:cs typeface="Arial"/>
              </a:defRPr>
            </a:pPr>
            <a:r>
              <a:rPr sz="1500" b="0" i="0">
                <a:solidFill>
                  <a:srgbClr val="677572"/>
                </a:solidFill>
                <a:latin typeface="Arial"/>
                <a:ea typeface="Arial"/>
                <a:cs typeface="Arial"/>
              </a:rPr>
              <a:t>The user can track mood patterns and try a calming prompt or practice example.</a:t>
            </a:r>
          </a:p>
        </p:txBody>
      </p:sp>
      <p:sp>
        <p:nvSpPr>
          <p:cNvPr id="19" name="Rectangle 18">
            <a:extLst>
              <a:ext uri="{FF2B5EF4-FFF2-40B4-BE49-F238E27FC236}">
                <a16:creationId xmlns:a16="http://schemas.microsoft.com/office/drawing/2014/main" id="{83796EF8-C1FB-4B8E-A5D0-9645F8D79194}"/>
              </a:ext>
            </a:extLst>
          </p:cNvPr>
          <p:cNvSpPr>
            <a:spLocks noGrp="1"/>
          </p:cNvSpPr>
          <p:nvPr/>
        </p:nvSpPr>
        <p:spPr>
          <a:xfrm>
            <a:off x="8915400" y="2381250"/>
            <a:ext cx="609600" cy="514350"/>
          </a:xfrm>
          <a:prstGeom prst="rect">
            <a:avLst/>
          </a:prstGeom>
          <a:noFill/>
          <a:ln w="0">
            <a:noFill/>
          </a:ln>
        </p:spPr>
        <p:txBody>
          <a:bodyPr anchor="ctr">
            <a:normAutofit/>
          </a:bodyPr>
          <a:lstStyle/>
          <a:p>
            <a:pPr algn="l">
              <a:defRPr sz="2400" b="1" i="0">
                <a:solidFill>
                  <a:srgbClr val="315B4C"/>
                </a:solidFill>
                <a:latin typeface="Arial"/>
                <a:ea typeface="Arial"/>
                <a:cs typeface="Arial"/>
              </a:defRPr>
            </a:pPr>
            <a:r>
              <a:rPr sz="2400" b="1" i="0">
                <a:solidFill>
                  <a:srgbClr val="315B4C"/>
                </a:solidFill>
                <a:latin typeface="Arial"/>
                <a:ea typeface="Arial"/>
                <a:cs typeface="Arial"/>
              </a:rPr>
              <a:t>04</a:t>
            </a:r>
          </a:p>
        </p:txBody>
      </p:sp>
      <p:sp>
        <p:nvSpPr>
          <p:cNvPr id="20" name="Rectangle 19">
            <a:extLst>
              <a:ext uri="{FF2B5EF4-FFF2-40B4-BE49-F238E27FC236}">
                <a16:creationId xmlns:a16="http://schemas.microsoft.com/office/drawing/2014/main" id="{DCAF9076-3797-4B13-BCD5-8A51BBD71D00}"/>
              </a:ext>
            </a:extLst>
          </p:cNvPr>
          <p:cNvSpPr>
            <a:spLocks noGrp="1"/>
          </p:cNvSpPr>
          <p:nvPr/>
        </p:nvSpPr>
        <p:spPr>
          <a:xfrm>
            <a:off x="8915400" y="3038475"/>
            <a:ext cx="2266950" cy="38100"/>
          </a:xfrm>
          <a:prstGeom prst="rect">
            <a:avLst/>
          </a:prstGeom>
          <a:solidFill>
            <a:srgbClr val="B7C78A"/>
          </a:solidFill>
          <a:ln w="0">
            <a:noFill/>
          </a:ln>
        </p:spPr>
        <p:txBody>
          <a:bodyPr/>
          <a:lstStyle/>
          <a:p>
            <a:endParaRPr lang="ar-LY"/>
          </a:p>
        </p:txBody>
      </p:sp>
      <p:sp>
        <p:nvSpPr>
          <p:cNvPr id="21" name="Rectangle 20">
            <a:extLst>
              <a:ext uri="{FF2B5EF4-FFF2-40B4-BE49-F238E27FC236}">
                <a16:creationId xmlns:a16="http://schemas.microsoft.com/office/drawing/2014/main" id="{A342AA91-BA0A-4F47-8782-194899FE743E}"/>
              </a:ext>
            </a:extLst>
          </p:cNvPr>
          <p:cNvSpPr>
            <a:spLocks noGrp="1"/>
          </p:cNvSpPr>
          <p:nvPr/>
        </p:nvSpPr>
        <p:spPr>
          <a:xfrm>
            <a:off x="8915400" y="3267075"/>
            <a:ext cx="2333625" cy="419100"/>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Choose</a:t>
            </a:r>
          </a:p>
        </p:txBody>
      </p:sp>
      <p:sp>
        <p:nvSpPr>
          <p:cNvPr id="22" name="Rectangle 21">
            <a:extLst>
              <a:ext uri="{FF2B5EF4-FFF2-40B4-BE49-F238E27FC236}">
                <a16:creationId xmlns:a16="http://schemas.microsoft.com/office/drawing/2014/main" id="{C07DA4FD-8D72-45B6-830C-1BCA14B72722}"/>
              </a:ext>
            </a:extLst>
          </p:cNvPr>
          <p:cNvSpPr>
            <a:spLocks noGrp="1"/>
          </p:cNvSpPr>
          <p:nvPr/>
        </p:nvSpPr>
        <p:spPr>
          <a:xfrm>
            <a:off x="8915400" y="3790950"/>
            <a:ext cx="2305050" cy="1524000"/>
          </a:xfrm>
          <a:prstGeom prst="rect">
            <a:avLst/>
          </a:prstGeom>
          <a:noFill/>
          <a:ln w="0">
            <a:noFill/>
          </a:ln>
        </p:spPr>
        <p:txBody>
          <a:bodyPr anchor="ctr">
            <a:normAutofit/>
          </a:bodyPr>
          <a:lstStyle/>
          <a:p>
            <a:pPr algn="l">
              <a:defRPr sz="1500" b="0" i="0">
                <a:solidFill>
                  <a:srgbClr val="677572"/>
                </a:solidFill>
                <a:latin typeface="Arial"/>
                <a:ea typeface="Arial"/>
                <a:cs typeface="Arial"/>
              </a:defRPr>
            </a:pPr>
            <a:r>
              <a:rPr sz="1500" b="0" i="0">
                <a:solidFill>
                  <a:srgbClr val="677572"/>
                </a:solidFill>
                <a:latin typeface="Arial"/>
                <a:ea typeface="Arial"/>
                <a:cs typeface="Arial"/>
              </a:rPr>
              <a:t>The source guide and response coach offer options. The story companion adds Libyan Arabic support.</a:t>
            </a:r>
          </a:p>
        </p:txBody>
      </p:sp>
      <p:sp>
        <p:nvSpPr>
          <p:cNvPr id="23" name="Rectangle 22">
            <a:extLst>
              <a:ext uri="{FF2B5EF4-FFF2-40B4-BE49-F238E27FC236}">
                <a16:creationId xmlns:a16="http://schemas.microsoft.com/office/drawing/2014/main" id="{C1974C77-5E65-4C38-BA45-C1640E53A56A}"/>
              </a:ext>
            </a:extLst>
          </p:cNvPr>
          <p:cNvSpPr>
            <a:spLocks noGrp="1"/>
          </p:cNvSpPr>
          <p:nvPr/>
        </p:nvSpPr>
        <p:spPr>
          <a:xfrm>
            <a:off x="685800" y="5619750"/>
            <a:ext cx="10477500" cy="342900"/>
          </a:xfrm>
          <a:prstGeom prst="rect">
            <a:avLst/>
          </a:prstGeom>
          <a:noFill/>
          <a:ln w="0">
            <a:noFill/>
          </a:ln>
        </p:spPr>
        <p:txBody>
          <a:bodyPr anchor="ctr">
            <a:normAutofit/>
          </a:bodyPr>
          <a:lstStyle/>
          <a:p>
            <a:pPr algn="l">
              <a:defRPr sz="1500" b="1" i="0">
                <a:solidFill>
                  <a:srgbClr val="315B4C"/>
                </a:solidFill>
                <a:latin typeface="Arial"/>
                <a:ea typeface="Arial"/>
                <a:cs typeface="Arial"/>
              </a:defRPr>
            </a:pPr>
            <a:r>
              <a:rPr sz="1500" b="1" i="0">
                <a:solidFill>
                  <a:srgbClr val="315B4C"/>
                </a:solidFill>
                <a:latin typeface="Arial"/>
                <a:ea typeface="Arial"/>
                <a:cs typeface="Arial"/>
              </a:rPr>
              <a:t>The user stays in control at every step.</a:t>
            </a:r>
          </a:p>
        </p:txBody>
      </p:sp>
    </p:spTree>
    <p:extLst>
      <p:ext uri="{BB962C8B-B14F-4D97-AF65-F5344CB8AC3E}">
        <p14:creationId xmlns:p14="http://schemas.microsoft.com/office/powerpoint/2010/main" val="1928990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F7933BB-B8D9-4D80-BFC9-6D4F9E05A63F}"/>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F9B80E69-0EE9-4301-8867-430C599A2BD8}"/>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Seven features, one connected platform</a:t>
            </a:r>
          </a:p>
        </p:txBody>
      </p:sp>
      <p:sp>
        <p:nvSpPr>
          <p:cNvPr id="3" name="Rectangle 2">
            <a:extLst>
              <a:ext uri="{FF2B5EF4-FFF2-40B4-BE49-F238E27FC236}">
                <a16:creationId xmlns:a16="http://schemas.microsoft.com/office/drawing/2014/main" id="{12BB759A-787C-485A-9F19-6C30DFB878A2}"/>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866E93A8-C705-45B8-8253-B3C403891C16}"/>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FF02C4A3-AAFB-447C-8092-17776349801F}"/>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07</a:t>
            </a:r>
          </a:p>
        </p:txBody>
      </p:sp>
      <p:sp>
        <p:nvSpPr>
          <p:cNvPr id="6" name="Rectangle 5">
            <a:extLst>
              <a:ext uri="{FF2B5EF4-FFF2-40B4-BE49-F238E27FC236}">
                <a16:creationId xmlns:a16="http://schemas.microsoft.com/office/drawing/2014/main" id="{EF5E7077-7F16-45B6-B71C-D7694EF3DF94}"/>
              </a:ext>
            </a:extLst>
          </p:cNvPr>
          <p:cNvSpPr>
            <a:spLocks noGrp="1"/>
          </p:cNvSpPr>
          <p:nvPr/>
        </p:nvSpPr>
        <p:spPr>
          <a:xfrm>
            <a:off x="609600" y="1447800"/>
            <a:ext cx="10287000" cy="476250"/>
          </a:xfrm>
          <a:prstGeom prst="rect">
            <a:avLst/>
          </a:prstGeom>
          <a:noFill/>
          <a:ln w="0">
            <a:noFill/>
          </a:ln>
        </p:spPr>
        <p:txBody>
          <a:bodyPr anchor="ctr">
            <a:normAutofit/>
          </a:bodyPr>
          <a:lstStyle/>
          <a:p>
            <a:pPr algn="l">
              <a:defRPr sz="1875" b="0" i="0">
                <a:solidFill>
                  <a:srgbClr val="677572"/>
                </a:solidFill>
                <a:latin typeface="Arial"/>
                <a:ea typeface="Arial"/>
                <a:cs typeface="Arial"/>
              </a:defRPr>
            </a:pPr>
            <a:r>
              <a:rPr sz="1875" b="0" i="0">
                <a:solidFill>
                  <a:srgbClr val="677572"/>
                </a:solidFill>
                <a:latin typeface="Arial"/>
                <a:ea typeface="Arial"/>
                <a:cs typeface="Arial"/>
              </a:rPr>
              <a:t>Each feature supports the same goal: informed responses with greater emotional awareness.</a:t>
            </a:r>
          </a:p>
        </p:txBody>
      </p:sp>
      <p:sp>
        <p:nvSpPr>
          <p:cNvPr id="7" name="Rectangle 6">
            <a:extLst>
              <a:ext uri="{FF2B5EF4-FFF2-40B4-BE49-F238E27FC236}">
                <a16:creationId xmlns:a16="http://schemas.microsoft.com/office/drawing/2014/main" id="{6FC91A6A-C02B-4BB3-BE45-7708BDB784BC}"/>
              </a:ext>
            </a:extLst>
          </p:cNvPr>
          <p:cNvSpPr>
            <a:spLocks noGrp="1"/>
          </p:cNvSpPr>
          <p:nvPr/>
        </p:nvSpPr>
        <p:spPr>
          <a:xfrm>
            <a:off x="685800" y="2209800"/>
            <a:ext cx="3143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UNDERSTAND CONTENT</a:t>
            </a:r>
          </a:p>
        </p:txBody>
      </p:sp>
      <p:sp>
        <p:nvSpPr>
          <p:cNvPr id="8" name="Rectangle 7">
            <a:extLst>
              <a:ext uri="{FF2B5EF4-FFF2-40B4-BE49-F238E27FC236}">
                <a16:creationId xmlns:a16="http://schemas.microsoft.com/office/drawing/2014/main" id="{72FCE968-7806-4794-BBF0-0C6FFB8BA052}"/>
              </a:ext>
            </a:extLst>
          </p:cNvPr>
          <p:cNvSpPr>
            <a:spLocks noGrp="1"/>
          </p:cNvSpPr>
          <p:nvPr/>
        </p:nvSpPr>
        <p:spPr>
          <a:xfrm>
            <a:off x="685800" y="26860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01  Misinformation detector</a:t>
            </a:r>
          </a:p>
        </p:txBody>
      </p:sp>
      <p:sp>
        <p:nvSpPr>
          <p:cNvPr id="9" name="Rectangle 8">
            <a:extLst>
              <a:ext uri="{FF2B5EF4-FFF2-40B4-BE49-F238E27FC236}">
                <a16:creationId xmlns:a16="http://schemas.microsoft.com/office/drawing/2014/main" id="{464F5BEB-C20C-49D1-BE5C-1A2B8662CD88}"/>
              </a:ext>
            </a:extLst>
          </p:cNvPr>
          <p:cNvSpPr>
            <a:spLocks noGrp="1"/>
          </p:cNvSpPr>
          <p:nvPr/>
        </p:nvSpPr>
        <p:spPr>
          <a:xfrm>
            <a:off x="685800" y="31146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Explains claim and persuasion signals with uncertainty.</a:t>
            </a:r>
          </a:p>
        </p:txBody>
      </p:sp>
      <p:sp>
        <p:nvSpPr>
          <p:cNvPr id="10" name="Rectangle 9">
            <a:extLst>
              <a:ext uri="{FF2B5EF4-FFF2-40B4-BE49-F238E27FC236}">
                <a16:creationId xmlns:a16="http://schemas.microsoft.com/office/drawing/2014/main" id="{1AA57251-C13B-4CE9-857E-6325C0EDE186}"/>
              </a:ext>
            </a:extLst>
          </p:cNvPr>
          <p:cNvSpPr>
            <a:spLocks noGrp="1"/>
          </p:cNvSpPr>
          <p:nvPr/>
        </p:nvSpPr>
        <p:spPr>
          <a:xfrm>
            <a:off x="685800" y="3600450"/>
            <a:ext cx="3048000" cy="9525"/>
          </a:xfrm>
          <a:prstGeom prst="rect">
            <a:avLst/>
          </a:prstGeom>
          <a:solidFill>
            <a:srgbClr val="D8DED3"/>
          </a:solidFill>
          <a:ln w="0">
            <a:noFill/>
          </a:ln>
        </p:spPr>
        <p:txBody>
          <a:bodyPr/>
          <a:lstStyle/>
          <a:p>
            <a:endParaRPr lang="ar-LY"/>
          </a:p>
        </p:txBody>
      </p:sp>
      <p:sp>
        <p:nvSpPr>
          <p:cNvPr id="11" name="Rectangle 10">
            <a:extLst>
              <a:ext uri="{FF2B5EF4-FFF2-40B4-BE49-F238E27FC236}">
                <a16:creationId xmlns:a16="http://schemas.microsoft.com/office/drawing/2014/main" id="{4F24AAA9-F033-48D7-88A9-8A2048DED9E1}"/>
              </a:ext>
            </a:extLst>
          </p:cNvPr>
          <p:cNvSpPr>
            <a:spLocks noGrp="1"/>
          </p:cNvSpPr>
          <p:nvPr/>
        </p:nvSpPr>
        <p:spPr>
          <a:xfrm>
            <a:off x="685800" y="36766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02  Source checker</a:t>
            </a:r>
          </a:p>
        </p:txBody>
      </p:sp>
      <p:sp>
        <p:nvSpPr>
          <p:cNvPr id="12" name="Rectangle 11">
            <a:extLst>
              <a:ext uri="{FF2B5EF4-FFF2-40B4-BE49-F238E27FC236}">
                <a16:creationId xmlns:a16="http://schemas.microsoft.com/office/drawing/2014/main" id="{0142B865-D05D-4F5C-8E43-8C65F01E805F}"/>
              </a:ext>
            </a:extLst>
          </p:cNvPr>
          <p:cNvSpPr>
            <a:spLocks noGrp="1"/>
          </p:cNvSpPr>
          <p:nvPr/>
        </p:nvSpPr>
        <p:spPr>
          <a:xfrm>
            <a:off x="685800" y="41052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Surfaces source cues and points to trusted references.</a:t>
            </a:r>
          </a:p>
        </p:txBody>
      </p:sp>
      <p:sp>
        <p:nvSpPr>
          <p:cNvPr id="13" name="Rectangle 12">
            <a:extLst>
              <a:ext uri="{FF2B5EF4-FFF2-40B4-BE49-F238E27FC236}">
                <a16:creationId xmlns:a16="http://schemas.microsoft.com/office/drawing/2014/main" id="{73411294-69D6-4453-8E6C-6D88FE4D74C0}"/>
              </a:ext>
            </a:extLst>
          </p:cNvPr>
          <p:cNvSpPr>
            <a:spLocks noGrp="1"/>
          </p:cNvSpPr>
          <p:nvPr/>
        </p:nvSpPr>
        <p:spPr>
          <a:xfrm>
            <a:off x="685800" y="4591050"/>
            <a:ext cx="3048000" cy="9525"/>
          </a:xfrm>
          <a:prstGeom prst="rect">
            <a:avLst/>
          </a:prstGeom>
          <a:solidFill>
            <a:srgbClr val="D8DED3"/>
          </a:solidFill>
          <a:ln w="0">
            <a:noFill/>
          </a:ln>
        </p:spPr>
        <p:txBody>
          <a:bodyPr/>
          <a:lstStyle/>
          <a:p>
            <a:endParaRPr lang="ar-LY"/>
          </a:p>
        </p:txBody>
      </p:sp>
      <p:sp>
        <p:nvSpPr>
          <p:cNvPr id="14" name="Rectangle 13">
            <a:extLst>
              <a:ext uri="{FF2B5EF4-FFF2-40B4-BE49-F238E27FC236}">
                <a16:creationId xmlns:a16="http://schemas.microsoft.com/office/drawing/2014/main" id="{04BE7DA0-EFDC-4DCA-9531-BC03BB8CEB77}"/>
              </a:ext>
            </a:extLst>
          </p:cNvPr>
          <p:cNvSpPr>
            <a:spLocks noGrp="1"/>
          </p:cNvSpPr>
          <p:nvPr/>
        </p:nvSpPr>
        <p:spPr>
          <a:xfrm>
            <a:off x="685800" y="46672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03  Post simulator</a:t>
            </a:r>
          </a:p>
        </p:txBody>
      </p:sp>
      <p:sp>
        <p:nvSpPr>
          <p:cNvPr id="15" name="Rectangle 14">
            <a:extLst>
              <a:ext uri="{FF2B5EF4-FFF2-40B4-BE49-F238E27FC236}">
                <a16:creationId xmlns:a16="http://schemas.microsoft.com/office/drawing/2014/main" id="{3B688F44-51EB-4892-9E17-BAB9BFDEF3E7}"/>
              </a:ext>
            </a:extLst>
          </p:cNvPr>
          <p:cNvSpPr>
            <a:spLocks noGrp="1"/>
          </p:cNvSpPr>
          <p:nvPr/>
        </p:nvSpPr>
        <p:spPr>
          <a:xfrm>
            <a:off x="685800" y="50958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Lets users practice spotting misleading techniques.</a:t>
            </a:r>
          </a:p>
        </p:txBody>
      </p:sp>
      <p:sp>
        <p:nvSpPr>
          <p:cNvPr id="16" name="Rectangle 15">
            <a:extLst>
              <a:ext uri="{FF2B5EF4-FFF2-40B4-BE49-F238E27FC236}">
                <a16:creationId xmlns:a16="http://schemas.microsoft.com/office/drawing/2014/main" id="{07F8D86D-2611-4E95-8249-A0125296AAA4}"/>
              </a:ext>
            </a:extLst>
          </p:cNvPr>
          <p:cNvSpPr>
            <a:spLocks noGrp="1"/>
          </p:cNvSpPr>
          <p:nvPr/>
        </p:nvSpPr>
        <p:spPr>
          <a:xfrm>
            <a:off x="685800" y="5581650"/>
            <a:ext cx="3048000" cy="9525"/>
          </a:xfrm>
          <a:prstGeom prst="rect">
            <a:avLst/>
          </a:prstGeom>
          <a:solidFill>
            <a:srgbClr val="D8DED3"/>
          </a:solidFill>
          <a:ln w="0">
            <a:noFill/>
          </a:ln>
        </p:spPr>
        <p:txBody>
          <a:bodyPr/>
          <a:lstStyle/>
          <a:p>
            <a:endParaRPr lang="ar-LY"/>
          </a:p>
        </p:txBody>
      </p:sp>
      <p:sp>
        <p:nvSpPr>
          <p:cNvPr id="17" name="Rectangle 16">
            <a:extLst>
              <a:ext uri="{FF2B5EF4-FFF2-40B4-BE49-F238E27FC236}">
                <a16:creationId xmlns:a16="http://schemas.microsoft.com/office/drawing/2014/main" id="{CC2E2A1A-DC65-43AB-9726-BF1D96ABE677}"/>
              </a:ext>
            </a:extLst>
          </p:cNvPr>
          <p:cNvSpPr>
            <a:spLocks noGrp="1"/>
          </p:cNvSpPr>
          <p:nvPr/>
        </p:nvSpPr>
        <p:spPr>
          <a:xfrm>
            <a:off x="4495800" y="2209800"/>
            <a:ext cx="3143250" cy="266700"/>
          </a:xfrm>
          <a:prstGeom prst="rect">
            <a:avLst/>
          </a:prstGeom>
          <a:noFill/>
          <a:ln w="0">
            <a:noFill/>
          </a:ln>
        </p:spPr>
        <p:txBody>
          <a:bodyPr anchor="ctr">
            <a:normAutofit/>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NOTICE AND RESPOND</a:t>
            </a:r>
          </a:p>
        </p:txBody>
      </p:sp>
      <p:sp>
        <p:nvSpPr>
          <p:cNvPr id="18" name="Rectangle 17">
            <a:extLst>
              <a:ext uri="{FF2B5EF4-FFF2-40B4-BE49-F238E27FC236}">
                <a16:creationId xmlns:a16="http://schemas.microsoft.com/office/drawing/2014/main" id="{765BB094-CF67-4196-957B-37B207C49201}"/>
              </a:ext>
            </a:extLst>
          </p:cNvPr>
          <p:cNvSpPr>
            <a:spLocks noGrp="1"/>
          </p:cNvSpPr>
          <p:nvPr/>
        </p:nvSpPr>
        <p:spPr>
          <a:xfrm>
            <a:off x="4495800" y="2686050"/>
            <a:ext cx="3143250" cy="419100"/>
          </a:xfrm>
          <a:prstGeom prst="rect">
            <a:avLst/>
          </a:prstGeom>
          <a:noFill/>
          <a:ln w="0">
            <a:noFill/>
          </a:ln>
        </p:spPr>
        <p:txBody>
          <a:bodyPr anchor="ctr">
            <a:normAutofit fontScale="96122"/>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04  Psychological impact analyzer</a:t>
            </a:r>
          </a:p>
        </p:txBody>
      </p:sp>
      <p:sp>
        <p:nvSpPr>
          <p:cNvPr id="19" name="Rectangle 18">
            <a:extLst>
              <a:ext uri="{FF2B5EF4-FFF2-40B4-BE49-F238E27FC236}">
                <a16:creationId xmlns:a16="http://schemas.microsoft.com/office/drawing/2014/main" id="{6411429B-D0FA-4931-8A7D-CBE2124BCB5D}"/>
              </a:ext>
            </a:extLst>
          </p:cNvPr>
          <p:cNvSpPr>
            <a:spLocks noGrp="1"/>
          </p:cNvSpPr>
          <p:nvPr/>
        </p:nvSpPr>
        <p:spPr>
          <a:xfrm>
            <a:off x="4495800" y="31146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Connects content with user-reported feelings.</a:t>
            </a:r>
          </a:p>
        </p:txBody>
      </p:sp>
      <p:sp>
        <p:nvSpPr>
          <p:cNvPr id="20" name="Rectangle 19">
            <a:extLst>
              <a:ext uri="{FF2B5EF4-FFF2-40B4-BE49-F238E27FC236}">
                <a16:creationId xmlns:a16="http://schemas.microsoft.com/office/drawing/2014/main" id="{0ECB2B02-E7B9-44F5-ADE7-DFAFCB8B1973}"/>
              </a:ext>
            </a:extLst>
          </p:cNvPr>
          <p:cNvSpPr>
            <a:spLocks noGrp="1"/>
          </p:cNvSpPr>
          <p:nvPr/>
        </p:nvSpPr>
        <p:spPr>
          <a:xfrm>
            <a:off x="4495800" y="3600450"/>
            <a:ext cx="3048000" cy="9525"/>
          </a:xfrm>
          <a:prstGeom prst="rect">
            <a:avLst/>
          </a:prstGeom>
          <a:solidFill>
            <a:srgbClr val="D8DED3"/>
          </a:solidFill>
          <a:ln w="0">
            <a:noFill/>
          </a:ln>
        </p:spPr>
        <p:txBody>
          <a:bodyPr/>
          <a:lstStyle/>
          <a:p>
            <a:endParaRPr lang="ar-LY"/>
          </a:p>
        </p:txBody>
      </p:sp>
      <p:sp>
        <p:nvSpPr>
          <p:cNvPr id="21" name="Rectangle 20">
            <a:extLst>
              <a:ext uri="{FF2B5EF4-FFF2-40B4-BE49-F238E27FC236}">
                <a16:creationId xmlns:a16="http://schemas.microsoft.com/office/drawing/2014/main" id="{73CEC590-2F21-47FC-9D92-BA956F2B0F29}"/>
              </a:ext>
            </a:extLst>
          </p:cNvPr>
          <p:cNvSpPr>
            <a:spLocks noGrp="1"/>
          </p:cNvSpPr>
          <p:nvPr/>
        </p:nvSpPr>
        <p:spPr>
          <a:xfrm>
            <a:off x="4495800" y="36766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05  Mood and media tracker</a:t>
            </a:r>
          </a:p>
        </p:txBody>
      </p:sp>
      <p:sp>
        <p:nvSpPr>
          <p:cNvPr id="22" name="Rectangle 21">
            <a:extLst>
              <a:ext uri="{FF2B5EF4-FFF2-40B4-BE49-F238E27FC236}">
                <a16:creationId xmlns:a16="http://schemas.microsoft.com/office/drawing/2014/main" id="{767185FD-5745-4009-8865-EA809DB9EA21}"/>
              </a:ext>
            </a:extLst>
          </p:cNvPr>
          <p:cNvSpPr>
            <a:spLocks noGrp="1"/>
          </p:cNvSpPr>
          <p:nvPr/>
        </p:nvSpPr>
        <p:spPr>
          <a:xfrm>
            <a:off x="4495800" y="41052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Shows opt-in patterns and suggests a media break.</a:t>
            </a:r>
          </a:p>
        </p:txBody>
      </p:sp>
      <p:sp>
        <p:nvSpPr>
          <p:cNvPr id="23" name="Rectangle 22">
            <a:extLst>
              <a:ext uri="{FF2B5EF4-FFF2-40B4-BE49-F238E27FC236}">
                <a16:creationId xmlns:a16="http://schemas.microsoft.com/office/drawing/2014/main" id="{F60114A4-0743-4A5B-968B-F903B049F410}"/>
              </a:ext>
            </a:extLst>
          </p:cNvPr>
          <p:cNvSpPr>
            <a:spLocks noGrp="1"/>
          </p:cNvSpPr>
          <p:nvPr/>
        </p:nvSpPr>
        <p:spPr>
          <a:xfrm>
            <a:off x="4495800" y="4591050"/>
            <a:ext cx="3048000" cy="9525"/>
          </a:xfrm>
          <a:prstGeom prst="rect">
            <a:avLst/>
          </a:prstGeom>
          <a:solidFill>
            <a:srgbClr val="D8DED3"/>
          </a:solidFill>
          <a:ln w="0">
            <a:noFill/>
          </a:ln>
        </p:spPr>
        <p:txBody>
          <a:bodyPr/>
          <a:lstStyle/>
          <a:p>
            <a:endParaRPr lang="ar-LY"/>
          </a:p>
        </p:txBody>
      </p:sp>
      <p:sp>
        <p:nvSpPr>
          <p:cNvPr id="24" name="Rectangle 23">
            <a:extLst>
              <a:ext uri="{FF2B5EF4-FFF2-40B4-BE49-F238E27FC236}">
                <a16:creationId xmlns:a16="http://schemas.microsoft.com/office/drawing/2014/main" id="{BA856773-1C50-4326-B4A8-DED547406761}"/>
              </a:ext>
            </a:extLst>
          </p:cNvPr>
          <p:cNvSpPr>
            <a:spLocks noGrp="1"/>
          </p:cNvSpPr>
          <p:nvPr/>
        </p:nvSpPr>
        <p:spPr>
          <a:xfrm>
            <a:off x="4495800" y="4667250"/>
            <a:ext cx="3143250" cy="419100"/>
          </a:xfrm>
          <a:prstGeom prst="rect">
            <a:avLst/>
          </a:prstGeom>
          <a:noFill/>
          <a:ln w="0">
            <a:noFill/>
          </a:ln>
        </p:spPr>
        <p:txBody>
          <a:bodyPr anchor="ctr">
            <a:normAutofit/>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06  Hate-speech response coach</a:t>
            </a:r>
          </a:p>
        </p:txBody>
      </p:sp>
      <p:sp>
        <p:nvSpPr>
          <p:cNvPr id="25" name="Rectangle 24">
            <a:extLst>
              <a:ext uri="{FF2B5EF4-FFF2-40B4-BE49-F238E27FC236}">
                <a16:creationId xmlns:a16="http://schemas.microsoft.com/office/drawing/2014/main" id="{023A5046-1556-4B23-A04A-AC9A54DA02D2}"/>
              </a:ext>
            </a:extLst>
          </p:cNvPr>
          <p:cNvSpPr>
            <a:spLocks noGrp="1"/>
          </p:cNvSpPr>
          <p:nvPr/>
        </p:nvSpPr>
        <p:spPr>
          <a:xfrm>
            <a:off x="4495800" y="50958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Offers ways to respond calmly or disengage.</a:t>
            </a:r>
          </a:p>
        </p:txBody>
      </p:sp>
      <p:sp>
        <p:nvSpPr>
          <p:cNvPr id="26" name="Rectangle 25">
            <a:extLst>
              <a:ext uri="{FF2B5EF4-FFF2-40B4-BE49-F238E27FC236}">
                <a16:creationId xmlns:a16="http://schemas.microsoft.com/office/drawing/2014/main" id="{50D7479D-FA08-4658-975E-D88A3C11A3ED}"/>
              </a:ext>
            </a:extLst>
          </p:cNvPr>
          <p:cNvSpPr>
            <a:spLocks noGrp="1"/>
          </p:cNvSpPr>
          <p:nvPr/>
        </p:nvSpPr>
        <p:spPr>
          <a:xfrm>
            <a:off x="4495800" y="5581650"/>
            <a:ext cx="3048000" cy="9525"/>
          </a:xfrm>
          <a:prstGeom prst="rect">
            <a:avLst/>
          </a:prstGeom>
          <a:solidFill>
            <a:srgbClr val="D8DED3"/>
          </a:solidFill>
          <a:ln w="0">
            <a:noFill/>
          </a:ln>
        </p:spPr>
        <p:txBody>
          <a:bodyPr/>
          <a:lstStyle/>
          <a:p>
            <a:endParaRPr lang="ar-LY"/>
          </a:p>
        </p:txBody>
      </p:sp>
      <p:sp>
        <p:nvSpPr>
          <p:cNvPr id="27" name="Rectangle 26">
            <a:extLst>
              <a:ext uri="{FF2B5EF4-FFF2-40B4-BE49-F238E27FC236}">
                <a16:creationId xmlns:a16="http://schemas.microsoft.com/office/drawing/2014/main" id="{B4F4EAD7-DA7F-425D-B3C5-68DF7DCDD51C}"/>
              </a:ext>
            </a:extLst>
          </p:cNvPr>
          <p:cNvSpPr>
            <a:spLocks noGrp="1"/>
          </p:cNvSpPr>
          <p:nvPr/>
        </p:nvSpPr>
        <p:spPr>
          <a:xfrm>
            <a:off x="8305800" y="2209800"/>
            <a:ext cx="3143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LIBYAN ARABIC SUPPORT</a:t>
            </a:r>
          </a:p>
        </p:txBody>
      </p:sp>
      <p:sp>
        <p:nvSpPr>
          <p:cNvPr id="28" name="Rectangle 27">
            <a:extLst>
              <a:ext uri="{FF2B5EF4-FFF2-40B4-BE49-F238E27FC236}">
                <a16:creationId xmlns:a16="http://schemas.microsoft.com/office/drawing/2014/main" id="{2DC233A8-9883-4122-827E-9B51EE3D2F94}"/>
              </a:ext>
            </a:extLst>
          </p:cNvPr>
          <p:cNvSpPr>
            <a:spLocks noGrp="1"/>
          </p:cNvSpPr>
          <p:nvPr/>
        </p:nvSpPr>
        <p:spPr>
          <a:xfrm>
            <a:off x="8305800" y="2686050"/>
            <a:ext cx="3143250" cy="419100"/>
          </a:xfrm>
          <a:prstGeom prst="rect">
            <a:avLst/>
          </a:prstGeom>
          <a:noFill/>
          <a:ln w="0">
            <a:noFill/>
          </a:ln>
        </p:spPr>
        <p:txBody>
          <a:bodyPr anchor="ctr">
            <a:normAutofit fontScale="93662"/>
          </a:bodyPr>
          <a:lstStyle/>
          <a:p>
            <a:pPr algn="l">
              <a:defRPr sz="1500" b="1" i="0">
                <a:solidFill>
                  <a:srgbClr val="142B2E"/>
                </a:solidFill>
                <a:latin typeface="Arial"/>
                <a:ea typeface="Arial"/>
                <a:cs typeface="Arial"/>
              </a:defRPr>
            </a:pPr>
            <a:r>
              <a:rPr sz="1500" b="1" i="0">
                <a:solidFill>
                  <a:srgbClr val="142B2E"/>
                </a:solidFill>
                <a:latin typeface="Arial"/>
                <a:ea typeface="Arial"/>
                <a:cs typeface="Arial"/>
              </a:rPr>
              <a:t>07  Story companion, “Al-Hakeem”</a:t>
            </a:r>
          </a:p>
        </p:txBody>
      </p:sp>
      <p:sp>
        <p:nvSpPr>
          <p:cNvPr id="29" name="Rectangle 28">
            <a:extLst>
              <a:ext uri="{FF2B5EF4-FFF2-40B4-BE49-F238E27FC236}">
                <a16:creationId xmlns:a16="http://schemas.microsoft.com/office/drawing/2014/main" id="{5939E5F8-5F44-4D28-8204-A23F2CB85557}"/>
              </a:ext>
            </a:extLst>
          </p:cNvPr>
          <p:cNvSpPr>
            <a:spLocks noGrp="1"/>
          </p:cNvSpPr>
          <p:nvPr/>
        </p:nvSpPr>
        <p:spPr>
          <a:xfrm>
            <a:off x="8305800" y="3114675"/>
            <a:ext cx="3143250" cy="514350"/>
          </a:xfrm>
          <a:prstGeom prst="rect">
            <a:avLst/>
          </a:prstGeom>
          <a:noFill/>
          <a:ln w="0">
            <a:noFill/>
          </a:ln>
        </p:spPr>
        <p:txBody>
          <a:bodyPr anchor="ctr">
            <a:normAutofit/>
          </a:bodyPr>
          <a:lstStyle/>
          <a:p>
            <a:pPr algn="l">
              <a:defRPr sz="1275" b="0" i="0">
                <a:solidFill>
                  <a:srgbClr val="677572"/>
                </a:solidFill>
                <a:latin typeface="Arial"/>
                <a:ea typeface="Arial"/>
                <a:cs typeface="Arial"/>
              </a:defRPr>
            </a:pPr>
            <a:r>
              <a:rPr sz="1275" b="0" i="0">
                <a:solidFill>
                  <a:srgbClr val="677572"/>
                </a:solidFill>
                <a:latin typeface="Arial"/>
                <a:ea typeface="Arial"/>
                <a:cs typeface="Arial"/>
              </a:rPr>
              <a:t>Uses reviewed Libyan Arabic stories for reflection.</a:t>
            </a:r>
          </a:p>
        </p:txBody>
      </p:sp>
      <p:sp>
        <p:nvSpPr>
          <p:cNvPr id="30" name="Rectangle 29">
            <a:extLst>
              <a:ext uri="{FF2B5EF4-FFF2-40B4-BE49-F238E27FC236}">
                <a16:creationId xmlns:a16="http://schemas.microsoft.com/office/drawing/2014/main" id="{E211C173-E7FF-4D74-80C3-C0A50E0D9E27}"/>
              </a:ext>
            </a:extLst>
          </p:cNvPr>
          <p:cNvSpPr>
            <a:spLocks noGrp="1"/>
          </p:cNvSpPr>
          <p:nvPr/>
        </p:nvSpPr>
        <p:spPr>
          <a:xfrm>
            <a:off x="8305800" y="3600450"/>
            <a:ext cx="3048000" cy="9525"/>
          </a:xfrm>
          <a:prstGeom prst="rect">
            <a:avLst/>
          </a:prstGeom>
          <a:solidFill>
            <a:srgbClr val="D8DED3"/>
          </a:solidFill>
          <a:ln w="0">
            <a:noFill/>
          </a:ln>
        </p:spPr>
        <p:txBody>
          <a:bodyPr/>
          <a:lstStyle/>
          <a:p>
            <a:endParaRPr lang="ar-LY"/>
          </a:p>
        </p:txBody>
      </p:sp>
      <p:sp>
        <p:nvSpPr>
          <p:cNvPr id="31" name="Rectangle 30">
            <a:extLst>
              <a:ext uri="{FF2B5EF4-FFF2-40B4-BE49-F238E27FC236}">
                <a16:creationId xmlns:a16="http://schemas.microsoft.com/office/drawing/2014/main" id="{5BCEC866-467B-416B-90B3-CD28747A2C6F}"/>
              </a:ext>
            </a:extLst>
          </p:cNvPr>
          <p:cNvSpPr>
            <a:spLocks noGrp="1"/>
          </p:cNvSpPr>
          <p:nvPr/>
        </p:nvSpPr>
        <p:spPr>
          <a:xfrm>
            <a:off x="685800" y="5810250"/>
            <a:ext cx="10382250" cy="247650"/>
          </a:xfrm>
          <a:prstGeom prst="rect">
            <a:avLst/>
          </a:prstGeom>
          <a:noFill/>
          <a:ln w="0">
            <a:noFill/>
          </a:ln>
        </p:spPr>
        <p:txBody>
          <a:bodyPr anchor="ctr">
            <a:normAutofit fontScale="85417"/>
          </a:bodyPr>
          <a:lstStyle/>
          <a:p>
            <a:pPr algn="l">
              <a:defRPr sz="1200" b="0" i="1">
                <a:solidFill>
                  <a:srgbClr val="677572"/>
                </a:solidFill>
                <a:latin typeface="Arial"/>
                <a:ea typeface="Arial"/>
                <a:cs typeface="Arial"/>
              </a:defRPr>
            </a:pPr>
            <a:r>
              <a:rPr sz="1200" b="0" i="1">
                <a:solidFill>
                  <a:srgbClr val="677572"/>
                </a:solidFill>
                <a:latin typeface="Arial"/>
                <a:ea typeface="Arial"/>
                <a:cs typeface="Arial"/>
              </a:rPr>
              <a:t>Local reviewers guide language, examples, and resources across all seven features.</a:t>
            </a:r>
          </a:p>
        </p:txBody>
      </p:sp>
    </p:spTree>
    <p:extLst>
      <p:ext uri="{BB962C8B-B14F-4D97-AF65-F5344CB8AC3E}">
        <p14:creationId xmlns:p14="http://schemas.microsoft.com/office/powerpoint/2010/main" val="406647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B65C96A-6B67-4CDB-B7BD-B03DB83A468F}"/>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5D7894BE-37C3-47FE-A68D-FDD955FC82B2}"/>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Tawazun prototype screens</a:t>
            </a:r>
          </a:p>
        </p:txBody>
      </p:sp>
      <p:sp>
        <p:nvSpPr>
          <p:cNvPr id="3" name="Rectangle 2">
            <a:extLst>
              <a:ext uri="{FF2B5EF4-FFF2-40B4-BE49-F238E27FC236}">
                <a16:creationId xmlns:a16="http://schemas.microsoft.com/office/drawing/2014/main" id="{3DD413EE-FD04-4713-BCE3-3155F72AA229}"/>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162AAF26-0422-45CD-B634-2B34115E2CE8}"/>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F04B7BC7-9AC0-4C03-9934-990160A106A7}"/>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08</a:t>
            </a:r>
          </a:p>
        </p:txBody>
      </p:sp>
      <p:sp>
        <p:nvSpPr>
          <p:cNvPr id="6" name="Rectangle 5">
            <a:extLst>
              <a:ext uri="{FF2B5EF4-FFF2-40B4-BE49-F238E27FC236}">
                <a16:creationId xmlns:a16="http://schemas.microsoft.com/office/drawing/2014/main" id="{4BF870CF-2E36-4D03-9AC0-06DFDBB9E4CA}"/>
              </a:ext>
            </a:extLst>
          </p:cNvPr>
          <p:cNvSpPr>
            <a:spLocks noGrp="1"/>
          </p:cNvSpPr>
          <p:nvPr/>
        </p:nvSpPr>
        <p:spPr>
          <a:xfrm>
            <a:off x="685800" y="1390650"/>
            <a:ext cx="10668000" cy="400050"/>
          </a:xfrm>
          <a:prstGeom prst="rect">
            <a:avLst/>
          </a:prstGeom>
          <a:noFill/>
          <a:ln w="0">
            <a:noFill/>
          </a:ln>
        </p:spPr>
        <p:txBody>
          <a:bodyPr anchor="ctr">
            <a:normAutofit/>
          </a:bodyPr>
          <a:lstStyle/>
          <a:p>
            <a:pPr algn="l">
              <a:defRPr sz="1575" b="0" i="0">
                <a:solidFill>
                  <a:srgbClr val="677572"/>
                </a:solidFill>
                <a:latin typeface="Arial"/>
                <a:ea typeface="Arial"/>
                <a:cs typeface="Arial"/>
              </a:defRPr>
            </a:pPr>
            <a:r>
              <a:rPr sz="1575" b="0" i="0">
                <a:solidFill>
                  <a:srgbClr val="677572"/>
                </a:solidFill>
                <a:latin typeface="Arial"/>
                <a:ea typeface="Arial"/>
                <a:cs typeface="Arial"/>
              </a:rPr>
              <a:t>Three Arabic interface screens show the core user journey. The post shown is a demo.</a:t>
            </a:r>
          </a:p>
        </p:txBody>
      </p:sp>
      <p:pic>
        <p:nvPicPr>
          <p:cNvPr id="23" name="Picture 22"/>
          <p:cNvPicPr>
            <a:picLocks noChangeAspect="1"/>
          </p:cNvPicPr>
          <p:nvPr/>
        </p:nvPicPr>
        <p:blipFill>
          <a:blip r:embed="rId3"/>
          <a:stretch/>
        </p:blipFill>
        <p:spPr>
          <a:xfrm>
            <a:off x="688084" y="1981200"/>
            <a:ext cx="3272031" cy="1952625"/>
          </a:xfrm>
          <a:prstGeom prst="rect">
            <a:avLst/>
          </a:prstGeom>
        </p:spPr>
      </p:pic>
      <p:pic>
        <p:nvPicPr>
          <p:cNvPr id="24" name="Picture 23"/>
          <p:cNvPicPr>
            <a:picLocks noChangeAspect="1"/>
          </p:cNvPicPr>
          <p:nvPr/>
        </p:nvPicPr>
        <p:blipFill>
          <a:blip r:embed="rId4"/>
          <a:stretch/>
        </p:blipFill>
        <p:spPr>
          <a:xfrm>
            <a:off x="4481748" y="2133600"/>
            <a:ext cx="3228504" cy="1438275"/>
          </a:xfrm>
          <a:prstGeom prst="rect">
            <a:avLst/>
          </a:prstGeom>
        </p:spPr>
      </p:pic>
      <p:pic>
        <p:nvPicPr>
          <p:cNvPr id="25" name="Picture 24"/>
          <p:cNvPicPr>
            <a:picLocks noChangeAspect="1"/>
          </p:cNvPicPr>
          <p:nvPr/>
        </p:nvPicPr>
        <p:blipFill>
          <a:blip r:embed="rId5"/>
          <a:stretch/>
        </p:blipFill>
        <p:spPr>
          <a:xfrm>
            <a:off x="8300763" y="1981200"/>
            <a:ext cx="3134273" cy="1952625"/>
          </a:xfrm>
          <a:prstGeom prst="rect">
            <a:avLst/>
          </a:prstGeom>
        </p:spPr>
      </p:pic>
      <p:sp>
        <p:nvSpPr>
          <p:cNvPr id="10" name="Rectangle 9">
            <a:extLst>
              <a:ext uri="{FF2B5EF4-FFF2-40B4-BE49-F238E27FC236}">
                <a16:creationId xmlns:a16="http://schemas.microsoft.com/office/drawing/2014/main" id="{34ECBD36-A3AF-40D4-AC88-AA54EFADDADB}"/>
              </a:ext>
            </a:extLst>
          </p:cNvPr>
          <p:cNvSpPr>
            <a:spLocks noGrp="1"/>
          </p:cNvSpPr>
          <p:nvPr/>
        </p:nvSpPr>
        <p:spPr>
          <a:xfrm>
            <a:off x="685800" y="4229100"/>
            <a:ext cx="3276600" cy="266700"/>
          </a:xfrm>
          <a:prstGeom prst="rect">
            <a:avLst/>
          </a:prstGeom>
          <a:noFill/>
          <a:ln w="0">
            <a:noFill/>
          </a:ln>
        </p:spPr>
        <p:txBody>
          <a:bodyPr anchor="ctr">
            <a:normAutofit/>
          </a:bodyPr>
          <a:lstStyle/>
          <a:p>
            <a:pPr algn="l">
              <a:defRPr sz="1125" b="1" i="0">
                <a:solidFill>
                  <a:srgbClr val="315B4C"/>
                </a:solidFill>
                <a:latin typeface="Arial"/>
                <a:ea typeface="Arial"/>
                <a:cs typeface="Arial"/>
              </a:defRPr>
            </a:pPr>
            <a:r>
              <a:rPr sz="1125" b="1" i="0">
                <a:solidFill>
                  <a:srgbClr val="315B4C"/>
                </a:solidFill>
                <a:latin typeface="Arial"/>
                <a:ea typeface="Arial"/>
                <a:cs typeface="Arial"/>
              </a:rPr>
              <a:t>01  SHARE A POST</a:t>
            </a:r>
          </a:p>
        </p:txBody>
      </p:sp>
      <p:sp>
        <p:nvSpPr>
          <p:cNvPr id="11" name="Rectangle 10">
            <a:extLst>
              <a:ext uri="{FF2B5EF4-FFF2-40B4-BE49-F238E27FC236}">
                <a16:creationId xmlns:a16="http://schemas.microsoft.com/office/drawing/2014/main" id="{F92EA972-889F-4290-8137-57D8858B768C}"/>
              </a:ext>
            </a:extLst>
          </p:cNvPr>
          <p:cNvSpPr>
            <a:spLocks noGrp="1"/>
          </p:cNvSpPr>
          <p:nvPr/>
        </p:nvSpPr>
        <p:spPr>
          <a:xfrm>
            <a:off x="685800" y="4552950"/>
            <a:ext cx="3276600" cy="59055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Submit a post or link</a:t>
            </a:r>
          </a:p>
        </p:txBody>
      </p:sp>
      <p:sp>
        <p:nvSpPr>
          <p:cNvPr id="12" name="Rectangle 11">
            <a:extLst>
              <a:ext uri="{FF2B5EF4-FFF2-40B4-BE49-F238E27FC236}">
                <a16:creationId xmlns:a16="http://schemas.microsoft.com/office/drawing/2014/main" id="{2F2E663F-A626-4700-9C2A-0DD3183D9903}"/>
              </a:ext>
            </a:extLst>
          </p:cNvPr>
          <p:cNvSpPr>
            <a:spLocks noGrp="1"/>
          </p:cNvSpPr>
          <p:nvPr/>
        </p:nvSpPr>
        <p:spPr>
          <a:xfrm>
            <a:off x="4457700" y="4229100"/>
            <a:ext cx="3276600" cy="266700"/>
          </a:xfrm>
          <a:prstGeom prst="rect">
            <a:avLst/>
          </a:prstGeom>
          <a:noFill/>
          <a:ln w="0">
            <a:noFill/>
          </a:ln>
        </p:spPr>
        <p:txBody>
          <a:bodyPr anchor="ctr">
            <a:normAutofit/>
          </a:bodyPr>
          <a:lstStyle/>
          <a:p>
            <a:pPr algn="l">
              <a:defRPr sz="1125" b="1" i="0">
                <a:solidFill>
                  <a:srgbClr val="C75A4A"/>
                </a:solidFill>
                <a:latin typeface="Arial"/>
                <a:ea typeface="Arial"/>
                <a:cs typeface="Arial"/>
              </a:defRPr>
            </a:pPr>
            <a:r>
              <a:rPr sz="1125" b="1" i="0">
                <a:solidFill>
                  <a:srgbClr val="C75A4A"/>
                </a:solidFill>
                <a:latin typeface="Arial"/>
                <a:ea typeface="Arial"/>
                <a:cs typeface="Arial"/>
              </a:rPr>
              <a:t>02  UNDERSTAND IT</a:t>
            </a:r>
          </a:p>
        </p:txBody>
      </p:sp>
      <p:sp>
        <p:nvSpPr>
          <p:cNvPr id="13" name="Rectangle 12">
            <a:extLst>
              <a:ext uri="{FF2B5EF4-FFF2-40B4-BE49-F238E27FC236}">
                <a16:creationId xmlns:a16="http://schemas.microsoft.com/office/drawing/2014/main" id="{B26AE239-4F1E-46B2-A89D-925E2670FAC2}"/>
              </a:ext>
            </a:extLst>
          </p:cNvPr>
          <p:cNvSpPr>
            <a:spLocks noGrp="1"/>
          </p:cNvSpPr>
          <p:nvPr/>
        </p:nvSpPr>
        <p:spPr>
          <a:xfrm>
            <a:off x="4457700" y="4552950"/>
            <a:ext cx="3276600" cy="59055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Review language and source cues</a:t>
            </a:r>
          </a:p>
        </p:txBody>
      </p:sp>
      <p:sp>
        <p:nvSpPr>
          <p:cNvPr id="14" name="Rectangle 13">
            <a:extLst>
              <a:ext uri="{FF2B5EF4-FFF2-40B4-BE49-F238E27FC236}">
                <a16:creationId xmlns:a16="http://schemas.microsoft.com/office/drawing/2014/main" id="{C8C6CFB7-7D93-4B03-96ED-B4E14283C1A3}"/>
              </a:ext>
            </a:extLst>
          </p:cNvPr>
          <p:cNvSpPr>
            <a:spLocks noGrp="1"/>
          </p:cNvSpPr>
          <p:nvPr/>
        </p:nvSpPr>
        <p:spPr>
          <a:xfrm>
            <a:off x="8229600" y="4229100"/>
            <a:ext cx="3276600" cy="266700"/>
          </a:xfrm>
          <a:prstGeom prst="rect">
            <a:avLst/>
          </a:prstGeom>
          <a:noFill/>
          <a:ln w="0">
            <a:noFill/>
          </a:ln>
        </p:spPr>
        <p:txBody>
          <a:bodyPr anchor="ctr">
            <a:normAutofit/>
          </a:bodyPr>
          <a:lstStyle/>
          <a:p>
            <a:pPr algn="l">
              <a:defRPr sz="1125" b="1" i="0">
                <a:solidFill>
                  <a:srgbClr val="315B4C"/>
                </a:solidFill>
                <a:latin typeface="Arial"/>
                <a:ea typeface="Arial"/>
                <a:cs typeface="Arial"/>
              </a:defRPr>
            </a:pPr>
            <a:r>
              <a:rPr sz="1125" b="1" i="0">
                <a:solidFill>
                  <a:srgbClr val="315B4C"/>
                </a:solidFill>
                <a:latin typeface="Arial"/>
                <a:ea typeface="Arial"/>
                <a:cs typeface="Arial"/>
              </a:rPr>
              <a:t>03  CHECK IN</a:t>
            </a:r>
          </a:p>
        </p:txBody>
      </p:sp>
      <p:sp>
        <p:nvSpPr>
          <p:cNvPr id="15" name="Rectangle 14">
            <a:extLst>
              <a:ext uri="{FF2B5EF4-FFF2-40B4-BE49-F238E27FC236}">
                <a16:creationId xmlns:a16="http://schemas.microsoft.com/office/drawing/2014/main" id="{74A6082F-1772-45AF-811C-A9A309AB3C90}"/>
              </a:ext>
            </a:extLst>
          </p:cNvPr>
          <p:cNvSpPr>
            <a:spLocks noGrp="1"/>
          </p:cNvSpPr>
          <p:nvPr/>
        </p:nvSpPr>
        <p:spPr>
          <a:xfrm>
            <a:off x="8229600" y="4552950"/>
            <a:ext cx="3276600" cy="59055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Name a feeling and choose a next step</a:t>
            </a:r>
          </a:p>
        </p:txBody>
      </p:sp>
      <p:sp>
        <p:nvSpPr>
          <p:cNvPr id="16" name="Rectangle 15">
            <a:extLst>
              <a:ext uri="{FF2B5EF4-FFF2-40B4-BE49-F238E27FC236}">
                <a16:creationId xmlns:a16="http://schemas.microsoft.com/office/drawing/2014/main" id="{E177ED69-C630-4830-A51E-22D6969960FA}"/>
              </a:ext>
            </a:extLst>
          </p:cNvPr>
          <p:cNvSpPr>
            <a:spLocks noGrp="1"/>
          </p:cNvSpPr>
          <p:nvPr/>
        </p:nvSpPr>
        <p:spPr>
          <a:xfrm>
            <a:off x="685800" y="5600700"/>
            <a:ext cx="10668000" cy="285750"/>
          </a:xfrm>
          <a:prstGeom prst="rect">
            <a:avLst/>
          </a:prstGeom>
          <a:noFill/>
          <a:ln w="0">
            <a:noFill/>
          </a:ln>
        </p:spPr>
        <p:txBody>
          <a:bodyPr anchor="ctr">
            <a:normAutofit/>
          </a:bodyPr>
          <a:lstStyle/>
          <a:p>
            <a:pPr algn="l">
              <a:defRPr sz="1200" b="0" i="1">
                <a:solidFill>
                  <a:srgbClr val="677572"/>
                </a:solidFill>
                <a:latin typeface="Arial"/>
                <a:ea typeface="Arial"/>
                <a:cs typeface="Arial"/>
              </a:defRPr>
            </a:pPr>
            <a:r>
              <a:rPr sz="1200" b="0" i="1">
                <a:solidFill>
                  <a:srgbClr val="677572"/>
                </a:solidFill>
                <a:latin typeface="Arial"/>
                <a:ea typeface="Arial"/>
                <a:cs typeface="Arial"/>
              </a:rPr>
              <a:t>A product prototype, not a claim that the example post is true.</a:t>
            </a:r>
          </a:p>
        </p:txBody>
      </p:sp>
    </p:spTree>
    <p:extLst>
      <p:ext uri="{BB962C8B-B14F-4D97-AF65-F5344CB8AC3E}">
        <p14:creationId xmlns:p14="http://schemas.microsoft.com/office/powerpoint/2010/main" val="427204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7F053F4-116F-4F59-A8B6-5E49EABF8DA3}"/>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ABF94803-77E6-43E9-8B60-6C9D24361657}"/>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Al-Hakeem: a Libyan Arabic story companion</a:t>
            </a:r>
          </a:p>
        </p:txBody>
      </p:sp>
      <p:sp>
        <p:nvSpPr>
          <p:cNvPr id="3" name="Rectangle 2">
            <a:extLst>
              <a:ext uri="{FF2B5EF4-FFF2-40B4-BE49-F238E27FC236}">
                <a16:creationId xmlns:a16="http://schemas.microsoft.com/office/drawing/2014/main" id="{20A0FDBC-7B71-4464-958C-46E016ABC0CA}"/>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522B1138-8100-450F-A0ED-130D244C26A6}"/>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12204125-4743-4FEA-9DE0-6415CC7FD110}"/>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09</a:t>
            </a:r>
          </a:p>
        </p:txBody>
      </p:sp>
      <p:sp>
        <p:nvSpPr>
          <p:cNvPr id="6" name="Rectangle 5">
            <a:extLst>
              <a:ext uri="{FF2B5EF4-FFF2-40B4-BE49-F238E27FC236}">
                <a16:creationId xmlns:a16="http://schemas.microsoft.com/office/drawing/2014/main" id="{34EBD5EE-8382-4662-8C58-F30E1A2C2990}"/>
              </a:ext>
            </a:extLst>
          </p:cNvPr>
          <p:cNvSpPr>
            <a:spLocks noGrp="1"/>
          </p:cNvSpPr>
          <p:nvPr/>
        </p:nvSpPr>
        <p:spPr>
          <a:xfrm>
            <a:off x="685800" y="1409700"/>
            <a:ext cx="10668000" cy="400050"/>
          </a:xfrm>
          <a:prstGeom prst="rect">
            <a:avLst/>
          </a:prstGeom>
          <a:noFill/>
          <a:ln w="0">
            <a:noFill/>
          </a:ln>
        </p:spPr>
        <p:txBody>
          <a:bodyPr anchor="ctr">
            <a:normAutofit/>
          </a:bodyPr>
          <a:lstStyle/>
          <a:p>
            <a:pPr algn="l">
              <a:defRPr sz="1650" b="0" i="0">
                <a:solidFill>
                  <a:srgbClr val="677572"/>
                </a:solidFill>
                <a:latin typeface="Arial"/>
                <a:ea typeface="Arial"/>
                <a:cs typeface="Arial"/>
              </a:defRPr>
            </a:pPr>
            <a:r>
              <a:rPr sz="1650" b="0" i="0">
                <a:solidFill>
                  <a:srgbClr val="677572"/>
                </a:solidFill>
                <a:latin typeface="Arial"/>
                <a:ea typeface="Arial"/>
                <a:cs typeface="Arial"/>
              </a:rPr>
              <a:t>A familiar, nonjudgmental way to reflect when something is weighing on the user.</a:t>
            </a:r>
          </a:p>
        </p:txBody>
      </p:sp>
      <p:pic>
        <p:nvPicPr>
          <p:cNvPr id="23" name="Picture 22"/>
          <p:cNvPicPr>
            <a:picLocks noChangeAspect="1"/>
          </p:cNvPicPr>
          <p:nvPr/>
        </p:nvPicPr>
        <p:blipFill>
          <a:blip r:embed="rId3"/>
          <a:stretch/>
        </p:blipFill>
        <p:spPr>
          <a:xfrm>
            <a:off x="1196510" y="2095500"/>
            <a:ext cx="4884079" cy="3028950"/>
          </a:xfrm>
          <a:prstGeom prst="rect">
            <a:avLst/>
          </a:prstGeom>
        </p:spPr>
      </p:pic>
      <p:sp>
        <p:nvSpPr>
          <p:cNvPr id="8" name="Rectangle 7">
            <a:extLst>
              <a:ext uri="{FF2B5EF4-FFF2-40B4-BE49-F238E27FC236}">
                <a16:creationId xmlns:a16="http://schemas.microsoft.com/office/drawing/2014/main" id="{B90F4379-9CAB-43A1-870F-5B055F2F16F0}"/>
              </a:ext>
            </a:extLst>
          </p:cNvPr>
          <p:cNvSpPr>
            <a:spLocks noGrp="1"/>
          </p:cNvSpPr>
          <p:nvPr/>
        </p:nvSpPr>
        <p:spPr>
          <a:xfrm>
            <a:off x="7239000" y="2247900"/>
            <a:ext cx="552450" cy="400050"/>
          </a:xfrm>
          <a:prstGeom prst="rect">
            <a:avLst/>
          </a:prstGeom>
          <a:noFill/>
          <a:ln w="0">
            <a:noFill/>
          </a:ln>
        </p:spPr>
        <p:txBody>
          <a:bodyPr anchor="ctr">
            <a:normAutofit/>
          </a:bodyPr>
          <a:lstStyle/>
          <a:p>
            <a:pPr algn="l">
              <a:defRPr sz="1800" b="1" i="0">
                <a:solidFill>
                  <a:srgbClr val="315B4C"/>
                </a:solidFill>
                <a:latin typeface="Arial"/>
                <a:ea typeface="Arial"/>
                <a:cs typeface="Arial"/>
              </a:defRPr>
            </a:pPr>
            <a:r>
              <a:rPr sz="1800" b="1" i="0">
                <a:solidFill>
                  <a:srgbClr val="315B4C"/>
                </a:solidFill>
                <a:latin typeface="Arial"/>
                <a:ea typeface="Arial"/>
                <a:cs typeface="Arial"/>
              </a:rPr>
              <a:t>01</a:t>
            </a:r>
          </a:p>
        </p:txBody>
      </p:sp>
      <p:sp>
        <p:nvSpPr>
          <p:cNvPr id="9" name="Rectangle 8">
            <a:extLst>
              <a:ext uri="{FF2B5EF4-FFF2-40B4-BE49-F238E27FC236}">
                <a16:creationId xmlns:a16="http://schemas.microsoft.com/office/drawing/2014/main" id="{CD38DC63-7A06-459B-801D-629BDCF7653B}"/>
              </a:ext>
            </a:extLst>
          </p:cNvPr>
          <p:cNvSpPr>
            <a:spLocks noGrp="1"/>
          </p:cNvSpPr>
          <p:nvPr/>
        </p:nvSpPr>
        <p:spPr>
          <a:xfrm>
            <a:off x="7848600" y="2228850"/>
            <a:ext cx="3238500" cy="685800"/>
          </a:xfrm>
          <a:prstGeom prst="rect">
            <a:avLst/>
          </a:prstGeom>
          <a:noFill/>
          <a:ln w="0">
            <a:noFill/>
          </a:ln>
        </p:spPr>
        <p:txBody>
          <a:bodyPr anchor="ctr">
            <a:normAutofit/>
          </a:bodyPr>
          <a:lstStyle/>
          <a:p>
            <a:pPr algn="l">
              <a:defRPr sz="1575" b="0" i="0">
                <a:solidFill>
                  <a:srgbClr val="142B2E"/>
                </a:solidFill>
                <a:latin typeface="Arial"/>
                <a:ea typeface="Arial"/>
                <a:cs typeface="Arial"/>
              </a:defRPr>
            </a:pPr>
            <a:r>
              <a:rPr sz="1575" b="0" i="0">
                <a:solidFill>
                  <a:srgbClr val="142B2E"/>
                </a:solidFill>
                <a:latin typeface="Arial"/>
                <a:ea typeface="Arial"/>
                <a:cs typeface="Arial"/>
              </a:rPr>
              <a:t>The user shares what is worrying them.</a:t>
            </a:r>
          </a:p>
        </p:txBody>
      </p:sp>
      <p:sp>
        <p:nvSpPr>
          <p:cNvPr id="10" name="Rectangle 9">
            <a:extLst>
              <a:ext uri="{FF2B5EF4-FFF2-40B4-BE49-F238E27FC236}">
                <a16:creationId xmlns:a16="http://schemas.microsoft.com/office/drawing/2014/main" id="{A5AD7BA9-B6F3-49F3-8A9B-FEB7248D25C3}"/>
              </a:ext>
            </a:extLst>
          </p:cNvPr>
          <p:cNvSpPr>
            <a:spLocks noGrp="1"/>
          </p:cNvSpPr>
          <p:nvPr/>
        </p:nvSpPr>
        <p:spPr>
          <a:xfrm>
            <a:off x="7848600" y="2876550"/>
            <a:ext cx="3143250" cy="9525"/>
          </a:xfrm>
          <a:prstGeom prst="rect">
            <a:avLst/>
          </a:prstGeom>
          <a:solidFill>
            <a:srgbClr val="D8DED3"/>
          </a:solidFill>
          <a:ln w="0">
            <a:noFill/>
          </a:ln>
        </p:spPr>
        <p:txBody>
          <a:bodyPr/>
          <a:lstStyle/>
          <a:p>
            <a:endParaRPr lang="ar-LY"/>
          </a:p>
        </p:txBody>
      </p:sp>
      <p:sp>
        <p:nvSpPr>
          <p:cNvPr id="11" name="Rectangle 10">
            <a:extLst>
              <a:ext uri="{FF2B5EF4-FFF2-40B4-BE49-F238E27FC236}">
                <a16:creationId xmlns:a16="http://schemas.microsoft.com/office/drawing/2014/main" id="{5B078606-4F62-4540-9035-21DFAFAB6AF0}"/>
              </a:ext>
            </a:extLst>
          </p:cNvPr>
          <p:cNvSpPr>
            <a:spLocks noGrp="1"/>
          </p:cNvSpPr>
          <p:nvPr/>
        </p:nvSpPr>
        <p:spPr>
          <a:xfrm>
            <a:off x="7239000" y="3314700"/>
            <a:ext cx="552450" cy="400050"/>
          </a:xfrm>
          <a:prstGeom prst="rect">
            <a:avLst/>
          </a:prstGeom>
          <a:noFill/>
          <a:ln w="0">
            <a:noFill/>
          </a:ln>
        </p:spPr>
        <p:txBody>
          <a:bodyPr anchor="ctr">
            <a:normAutofit/>
          </a:bodyPr>
          <a:lstStyle/>
          <a:p>
            <a:pPr algn="l">
              <a:defRPr sz="1800" b="1" i="0">
                <a:solidFill>
                  <a:srgbClr val="C75A4A"/>
                </a:solidFill>
                <a:latin typeface="Arial"/>
                <a:ea typeface="Arial"/>
                <a:cs typeface="Arial"/>
              </a:defRPr>
            </a:pPr>
            <a:r>
              <a:rPr sz="1800" b="1" i="0">
                <a:solidFill>
                  <a:srgbClr val="C75A4A"/>
                </a:solidFill>
                <a:latin typeface="Arial"/>
                <a:ea typeface="Arial"/>
                <a:cs typeface="Arial"/>
              </a:rPr>
              <a:t>02</a:t>
            </a:r>
          </a:p>
        </p:txBody>
      </p:sp>
      <p:sp>
        <p:nvSpPr>
          <p:cNvPr id="12" name="Rectangle 11">
            <a:extLst>
              <a:ext uri="{FF2B5EF4-FFF2-40B4-BE49-F238E27FC236}">
                <a16:creationId xmlns:a16="http://schemas.microsoft.com/office/drawing/2014/main" id="{43223D78-4197-4834-9CA8-BB754E1ADDD5}"/>
              </a:ext>
            </a:extLst>
          </p:cNvPr>
          <p:cNvSpPr>
            <a:spLocks noGrp="1"/>
          </p:cNvSpPr>
          <p:nvPr/>
        </p:nvSpPr>
        <p:spPr>
          <a:xfrm>
            <a:off x="7848600" y="3295650"/>
            <a:ext cx="3238500" cy="685800"/>
          </a:xfrm>
          <a:prstGeom prst="rect">
            <a:avLst/>
          </a:prstGeom>
          <a:noFill/>
          <a:ln w="0">
            <a:noFill/>
          </a:ln>
        </p:spPr>
        <p:txBody>
          <a:bodyPr anchor="ctr">
            <a:normAutofit/>
          </a:bodyPr>
          <a:lstStyle/>
          <a:p>
            <a:pPr algn="l">
              <a:defRPr sz="1575" b="0" i="0">
                <a:solidFill>
                  <a:srgbClr val="142B2E"/>
                </a:solidFill>
                <a:latin typeface="Arial"/>
                <a:ea typeface="Arial"/>
                <a:cs typeface="Arial"/>
              </a:defRPr>
            </a:pPr>
            <a:r>
              <a:rPr sz="1575" b="0" i="0">
                <a:solidFill>
                  <a:srgbClr val="142B2E"/>
                </a:solidFill>
                <a:latin typeface="Arial"/>
                <a:ea typeface="Arial"/>
                <a:cs typeface="Arial"/>
              </a:rPr>
              <a:t>Al-Hakeem responds with a familiar Libyan story.</a:t>
            </a:r>
          </a:p>
        </p:txBody>
      </p:sp>
      <p:sp>
        <p:nvSpPr>
          <p:cNvPr id="13" name="Rectangle 12">
            <a:extLst>
              <a:ext uri="{FF2B5EF4-FFF2-40B4-BE49-F238E27FC236}">
                <a16:creationId xmlns:a16="http://schemas.microsoft.com/office/drawing/2014/main" id="{A1902798-9C7F-4E77-A37C-0E77F0711DCA}"/>
              </a:ext>
            </a:extLst>
          </p:cNvPr>
          <p:cNvSpPr>
            <a:spLocks noGrp="1"/>
          </p:cNvSpPr>
          <p:nvPr/>
        </p:nvSpPr>
        <p:spPr>
          <a:xfrm>
            <a:off x="7848600" y="3943350"/>
            <a:ext cx="3143250" cy="9525"/>
          </a:xfrm>
          <a:prstGeom prst="rect">
            <a:avLst/>
          </a:prstGeom>
          <a:solidFill>
            <a:srgbClr val="D8DED3"/>
          </a:solidFill>
          <a:ln w="0">
            <a:noFill/>
          </a:ln>
        </p:spPr>
        <p:txBody>
          <a:bodyPr/>
          <a:lstStyle/>
          <a:p>
            <a:endParaRPr lang="ar-LY"/>
          </a:p>
        </p:txBody>
      </p:sp>
      <p:sp>
        <p:nvSpPr>
          <p:cNvPr id="14" name="Rectangle 13">
            <a:extLst>
              <a:ext uri="{FF2B5EF4-FFF2-40B4-BE49-F238E27FC236}">
                <a16:creationId xmlns:a16="http://schemas.microsoft.com/office/drawing/2014/main" id="{23DE97EB-058A-49B1-8937-5A8542A428D5}"/>
              </a:ext>
            </a:extLst>
          </p:cNvPr>
          <p:cNvSpPr>
            <a:spLocks noGrp="1"/>
          </p:cNvSpPr>
          <p:nvPr/>
        </p:nvSpPr>
        <p:spPr>
          <a:xfrm>
            <a:off x="7239000" y="4381500"/>
            <a:ext cx="552450" cy="400050"/>
          </a:xfrm>
          <a:prstGeom prst="rect">
            <a:avLst/>
          </a:prstGeom>
          <a:noFill/>
          <a:ln w="0">
            <a:noFill/>
          </a:ln>
        </p:spPr>
        <p:txBody>
          <a:bodyPr anchor="ctr">
            <a:normAutofit/>
          </a:bodyPr>
          <a:lstStyle/>
          <a:p>
            <a:pPr algn="l">
              <a:defRPr sz="1800" b="1" i="0">
                <a:solidFill>
                  <a:srgbClr val="315B4C"/>
                </a:solidFill>
                <a:latin typeface="Arial"/>
                <a:ea typeface="Arial"/>
                <a:cs typeface="Arial"/>
              </a:defRPr>
            </a:pPr>
            <a:r>
              <a:rPr sz="1800" b="1" i="0">
                <a:solidFill>
                  <a:srgbClr val="315B4C"/>
                </a:solidFill>
                <a:latin typeface="Arial"/>
                <a:ea typeface="Arial"/>
                <a:cs typeface="Arial"/>
              </a:rPr>
              <a:t>03</a:t>
            </a:r>
          </a:p>
        </p:txBody>
      </p:sp>
      <p:sp>
        <p:nvSpPr>
          <p:cNvPr id="15" name="Rectangle 14">
            <a:extLst>
              <a:ext uri="{FF2B5EF4-FFF2-40B4-BE49-F238E27FC236}">
                <a16:creationId xmlns:a16="http://schemas.microsoft.com/office/drawing/2014/main" id="{77C390A6-3EF6-40F2-A1B0-575F73E13B76}"/>
              </a:ext>
            </a:extLst>
          </p:cNvPr>
          <p:cNvSpPr>
            <a:spLocks noGrp="1"/>
          </p:cNvSpPr>
          <p:nvPr/>
        </p:nvSpPr>
        <p:spPr>
          <a:xfrm>
            <a:off x="7848600" y="4362450"/>
            <a:ext cx="3238500" cy="685800"/>
          </a:xfrm>
          <a:prstGeom prst="rect">
            <a:avLst/>
          </a:prstGeom>
          <a:noFill/>
          <a:ln w="0">
            <a:noFill/>
          </a:ln>
        </p:spPr>
        <p:txBody>
          <a:bodyPr anchor="ctr">
            <a:normAutofit/>
          </a:bodyPr>
          <a:lstStyle/>
          <a:p>
            <a:pPr algn="l">
              <a:defRPr sz="1575" b="0" i="0">
                <a:solidFill>
                  <a:srgbClr val="142B2E"/>
                </a:solidFill>
                <a:latin typeface="Arial"/>
                <a:ea typeface="Arial"/>
                <a:cs typeface="Arial"/>
              </a:defRPr>
            </a:pPr>
            <a:r>
              <a:rPr sz="1575" b="0" i="0">
                <a:solidFill>
                  <a:srgbClr val="142B2E"/>
                </a:solidFill>
                <a:latin typeface="Arial"/>
                <a:ea typeface="Arial"/>
                <a:cs typeface="Arial"/>
              </a:rPr>
              <a:t>The user reflects on a takeaway at their own pace.</a:t>
            </a:r>
          </a:p>
        </p:txBody>
      </p:sp>
      <p:sp>
        <p:nvSpPr>
          <p:cNvPr id="16" name="Rectangle 15">
            <a:extLst>
              <a:ext uri="{FF2B5EF4-FFF2-40B4-BE49-F238E27FC236}">
                <a16:creationId xmlns:a16="http://schemas.microsoft.com/office/drawing/2014/main" id="{5BA2F7CE-4C1A-48FA-A97A-C65C27085237}"/>
              </a:ext>
            </a:extLst>
          </p:cNvPr>
          <p:cNvSpPr>
            <a:spLocks noGrp="1"/>
          </p:cNvSpPr>
          <p:nvPr/>
        </p:nvSpPr>
        <p:spPr>
          <a:xfrm>
            <a:off x="7239000" y="5562600"/>
            <a:ext cx="3905250" cy="419100"/>
          </a:xfrm>
          <a:prstGeom prst="rect">
            <a:avLst/>
          </a:prstGeom>
          <a:noFill/>
          <a:ln w="0">
            <a:noFill/>
          </a:ln>
        </p:spPr>
        <p:txBody>
          <a:bodyPr anchor="ctr">
            <a:normAutofit fontScale="79630"/>
          </a:bodyPr>
          <a:lstStyle/>
          <a:p>
            <a:pPr algn="l">
              <a:defRPr sz="1350" b="1" i="0">
                <a:solidFill>
                  <a:srgbClr val="315B4C"/>
                </a:solidFill>
                <a:latin typeface="Arial"/>
                <a:ea typeface="Arial"/>
                <a:cs typeface="Arial"/>
              </a:defRPr>
            </a:pPr>
            <a:r>
              <a:rPr sz="1350" b="1" i="0">
                <a:solidFill>
                  <a:srgbClr val="315B4C"/>
                </a:solidFill>
                <a:latin typeface="Arial"/>
                <a:ea typeface="Arial"/>
                <a:cs typeface="Arial"/>
              </a:rPr>
              <a:t>The companion offers reflection, not diagnosis or treatment.</a:t>
            </a:r>
          </a:p>
        </p:txBody>
      </p:sp>
    </p:spTree>
    <p:extLst>
      <p:ext uri="{BB962C8B-B14F-4D97-AF65-F5344CB8AC3E}">
        <p14:creationId xmlns:p14="http://schemas.microsoft.com/office/powerpoint/2010/main" val="849166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B2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39AE8F3-7359-4F28-A89F-2F4DCF993B3D}"/>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B7C78A"/>
                </a:solidFill>
                <a:latin typeface="Arial"/>
                <a:ea typeface="Arial"/>
                <a:cs typeface="Arial"/>
              </a:defRPr>
            </a:pPr>
            <a:r>
              <a:rPr sz="975" b="1" i="0">
                <a:solidFill>
                  <a:srgbClr val="B7C78A"/>
                </a:solidFill>
                <a:latin typeface="Arial"/>
                <a:ea typeface="Arial"/>
                <a:cs typeface="Arial"/>
              </a:rPr>
              <a:t>TAWAZUN  /  MEDIA WELLBEING</a:t>
            </a:r>
          </a:p>
        </p:txBody>
      </p:sp>
      <p:sp>
        <p:nvSpPr>
          <p:cNvPr id="2" name="Rectangle 1">
            <a:extLst>
              <a:ext uri="{FF2B5EF4-FFF2-40B4-BE49-F238E27FC236}">
                <a16:creationId xmlns:a16="http://schemas.microsoft.com/office/drawing/2014/main" id="{47C10260-0E7F-46FB-8585-12ED2A2A5B1D}"/>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FFFFFF"/>
                </a:solidFill>
                <a:latin typeface="Arial"/>
                <a:ea typeface="Arial"/>
                <a:cs typeface="Arial"/>
              </a:defRPr>
            </a:pPr>
            <a:r>
              <a:rPr sz="2850" b="1" i="0">
                <a:solidFill>
                  <a:srgbClr val="FFFFFF"/>
                </a:solidFill>
                <a:latin typeface="Arial"/>
                <a:ea typeface="Arial"/>
                <a:cs typeface="Arial"/>
              </a:rPr>
              <a:t>AI’s role and safety boundaries</a:t>
            </a:r>
          </a:p>
        </p:txBody>
      </p:sp>
      <p:sp>
        <p:nvSpPr>
          <p:cNvPr id="3" name="Rectangle 2">
            <a:extLst>
              <a:ext uri="{FF2B5EF4-FFF2-40B4-BE49-F238E27FC236}">
                <a16:creationId xmlns:a16="http://schemas.microsoft.com/office/drawing/2014/main" id="{C1E012E3-E98F-4822-884E-7A05CBB5C0A5}"/>
              </a:ext>
            </a:extLst>
          </p:cNvPr>
          <p:cNvSpPr>
            <a:spLocks noGrp="1"/>
          </p:cNvSpPr>
          <p:nvPr/>
        </p:nvSpPr>
        <p:spPr>
          <a:xfrm>
            <a:off x="609600" y="6334125"/>
            <a:ext cx="10972800" cy="9525"/>
          </a:xfrm>
          <a:prstGeom prst="rect">
            <a:avLst/>
          </a:prstGeom>
          <a:solidFill>
            <a:srgbClr val="48605B"/>
          </a:solidFill>
          <a:ln w="0">
            <a:noFill/>
          </a:ln>
        </p:spPr>
        <p:txBody>
          <a:bodyPr/>
          <a:lstStyle/>
          <a:p>
            <a:endParaRPr lang="ar-LY"/>
          </a:p>
        </p:txBody>
      </p:sp>
      <p:sp>
        <p:nvSpPr>
          <p:cNvPr id="4" name="Rectangle 3">
            <a:extLst>
              <a:ext uri="{FF2B5EF4-FFF2-40B4-BE49-F238E27FC236}">
                <a16:creationId xmlns:a16="http://schemas.microsoft.com/office/drawing/2014/main" id="{E3F3C74A-40CD-4C51-868B-7A95AD1638C9}"/>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C5D0C8"/>
                </a:solidFill>
                <a:latin typeface="Arial"/>
                <a:ea typeface="Arial"/>
                <a:cs typeface="Arial"/>
              </a:defRPr>
            </a:pPr>
            <a:r>
              <a:rPr sz="900" b="1" i="0">
                <a:solidFill>
                  <a:srgbClr val="C5D0C8"/>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83B026DB-CEAB-44C0-83B5-74B79B2E2085}"/>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C5D0C8"/>
                </a:solidFill>
                <a:latin typeface="Arial"/>
                <a:ea typeface="Arial"/>
                <a:cs typeface="Arial"/>
              </a:defRPr>
            </a:pPr>
            <a:r>
              <a:rPr sz="900" b="1" i="0">
                <a:solidFill>
                  <a:srgbClr val="C5D0C8"/>
                </a:solidFill>
                <a:latin typeface="Arial"/>
                <a:ea typeface="Arial"/>
                <a:cs typeface="Arial"/>
              </a:rPr>
              <a:t>10</a:t>
            </a:r>
          </a:p>
        </p:txBody>
      </p:sp>
      <p:sp>
        <p:nvSpPr>
          <p:cNvPr id="6" name="Rectangle 5">
            <a:extLst>
              <a:ext uri="{FF2B5EF4-FFF2-40B4-BE49-F238E27FC236}">
                <a16:creationId xmlns:a16="http://schemas.microsoft.com/office/drawing/2014/main" id="{FB6A76FB-033B-4077-A466-047E8A5EE5D9}"/>
              </a:ext>
            </a:extLst>
          </p:cNvPr>
          <p:cNvSpPr>
            <a:spLocks noGrp="1"/>
          </p:cNvSpPr>
          <p:nvPr/>
        </p:nvSpPr>
        <p:spPr>
          <a:xfrm>
            <a:off x="685800" y="1571625"/>
            <a:ext cx="4000500" cy="400050"/>
          </a:xfrm>
          <a:prstGeom prst="rect">
            <a:avLst/>
          </a:prstGeom>
          <a:noFill/>
          <a:ln w="0">
            <a:noFill/>
          </a:ln>
        </p:spPr>
        <p:txBody>
          <a:bodyPr anchor="ctr">
            <a:normAutofit/>
          </a:bodyPr>
          <a:lstStyle/>
          <a:p>
            <a:pPr algn="l">
              <a:defRPr sz="1500" b="1" i="0">
                <a:solidFill>
                  <a:srgbClr val="B7C78A"/>
                </a:solidFill>
                <a:latin typeface="Arial"/>
                <a:ea typeface="Arial"/>
                <a:cs typeface="Arial"/>
              </a:defRPr>
            </a:pPr>
            <a:r>
              <a:rPr sz="1500" b="1" i="0">
                <a:solidFill>
                  <a:srgbClr val="B7C78A"/>
                </a:solidFill>
                <a:latin typeface="Arial"/>
                <a:ea typeface="Arial"/>
                <a:cs typeface="Arial"/>
              </a:rPr>
              <a:t>AI can</a:t>
            </a:r>
          </a:p>
        </p:txBody>
      </p:sp>
      <p:sp>
        <p:nvSpPr>
          <p:cNvPr id="7" name="Rectangle 6">
            <a:extLst>
              <a:ext uri="{FF2B5EF4-FFF2-40B4-BE49-F238E27FC236}">
                <a16:creationId xmlns:a16="http://schemas.microsoft.com/office/drawing/2014/main" id="{680827B8-E034-484A-8164-49BB2D5FC3FF}"/>
              </a:ext>
            </a:extLst>
          </p:cNvPr>
          <p:cNvSpPr>
            <a:spLocks noGrp="1"/>
          </p:cNvSpPr>
          <p:nvPr/>
        </p:nvSpPr>
        <p:spPr>
          <a:xfrm>
            <a:off x="685800" y="2114550"/>
            <a:ext cx="4667250" cy="2238375"/>
          </a:xfrm>
          <a:prstGeom prst="rect">
            <a:avLst/>
          </a:prstGeom>
          <a:noFill/>
          <a:ln w="0">
            <a:noFill/>
          </a:ln>
        </p:spPr>
        <p:txBody>
          <a:bodyPr anchor="ctr">
            <a:normAutofit/>
          </a:bodyPr>
          <a:lstStyle/>
          <a:p>
            <a:pPr algn="l">
              <a:defRPr sz="1875" b="0" i="0">
                <a:solidFill>
                  <a:srgbClr val="FFFFFF"/>
                </a:solidFill>
                <a:latin typeface="Arial"/>
                <a:ea typeface="Arial"/>
                <a:cs typeface="Arial"/>
              </a:defRPr>
            </a:pPr>
            <a:r>
              <a:rPr sz="1875" b="0" i="0">
                <a:solidFill>
                  <a:srgbClr val="FFFFFF"/>
                </a:solidFill>
                <a:latin typeface="Arial"/>
                <a:ea typeface="Arial"/>
                <a:cs typeface="Arial"/>
              </a:rPr>
              <a:t>Explain emotional or persuasive techniques in plain language.</a:t>
            </a:r>
          </a:p>
          <a:p>
            <a:pPr algn="l">
              <a:defRPr sz="1875" b="0" i="0">
                <a:solidFill>
                  <a:srgbClr val="FFFFFF"/>
                </a:solidFill>
                <a:latin typeface="Arial"/>
                <a:ea typeface="Arial"/>
                <a:cs typeface="Arial"/>
              </a:defRPr>
            </a:pPr>
            <a:r>
              <a:rPr sz="1875" b="0" i="0">
                <a:solidFill>
                  <a:srgbClr val="FFFFFF"/>
                </a:solidFill>
                <a:latin typeface="Arial"/>
                <a:ea typeface="Arial"/>
                <a:cs typeface="Arial"/>
              </a:rPr>
              <a:t>Reflect the feeling a user chooses to share.</a:t>
            </a:r>
          </a:p>
          <a:p>
            <a:pPr algn="l">
              <a:defRPr sz="1875" b="0" i="0">
                <a:solidFill>
                  <a:srgbClr val="FFFFFF"/>
                </a:solidFill>
                <a:latin typeface="Arial"/>
                <a:ea typeface="Arial"/>
                <a:cs typeface="Arial"/>
              </a:defRPr>
            </a:pPr>
            <a:r>
              <a:rPr sz="1875" b="0" i="0">
                <a:solidFill>
                  <a:srgbClr val="FFFFFF"/>
                </a:solidFill>
                <a:latin typeface="Arial"/>
                <a:ea typeface="Arial"/>
                <a:cs typeface="Arial"/>
              </a:rPr>
              <a:t>Suggest a reviewed activity or source-checking step.</a:t>
            </a:r>
          </a:p>
        </p:txBody>
      </p:sp>
      <p:sp>
        <p:nvSpPr>
          <p:cNvPr id="8" name="Rectangle 7">
            <a:extLst>
              <a:ext uri="{FF2B5EF4-FFF2-40B4-BE49-F238E27FC236}">
                <a16:creationId xmlns:a16="http://schemas.microsoft.com/office/drawing/2014/main" id="{B00E616C-BCE5-4AAF-A379-0E280C1F7DB7}"/>
              </a:ext>
            </a:extLst>
          </p:cNvPr>
          <p:cNvSpPr>
            <a:spLocks noGrp="1"/>
          </p:cNvSpPr>
          <p:nvPr/>
        </p:nvSpPr>
        <p:spPr>
          <a:xfrm>
            <a:off x="5924550" y="1581150"/>
            <a:ext cx="28575" cy="3476625"/>
          </a:xfrm>
          <a:prstGeom prst="rect">
            <a:avLst/>
          </a:prstGeom>
          <a:solidFill>
            <a:srgbClr val="48605B"/>
          </a:solidFill>
          <a:ln w="0">
            <a:noFill/>
          </a:ln>
        </p:spPr>
        <p:txBody>
          <a:bodyPr/>
          <a:lstStyle/>
          <a:p>
            <a:endParaRPr lang="ar-LY"/>
          </a:p>
        </p:txBody>
      </p:sp>
      <p:sp>
        <p:nvSpPr>
          <p:cNvPr id="9" name="Rectangle 8">
            <a:extLst>
              <a:ext uri="{FF2B5EF4-FFF2-40B4-BE49-F238E27FC236}">
                <a16:creationId xmlns:a16="http://schemas.microsoft.com/office/drawing/2014/main" id="{6277A15E-F7CC-4300-80F9-A864D03A9F8E}"/>
              </a:ext>
            </a:extLst>
          </p:cNvPr>
          <p:cNvSpPr>
            <a:spLocks noGrp="1"/>
          </p:cNvSpPr>
          <p:nvPr/>
        </p:nvSpPr>
        <p:spPr>
          <a:xfrm>
            <a:off x="6496050" y="1571625"/>
            <a:ext cx="4762500" cy="400050"/>
          </a:xfrm>
          <a:prstGeom prst="rect">
            <a:avLst/>
          </a:prstGeom>
          <a:noFill/>
          <a:ln w="0">
            <a:noFill/>
          </a:ln>
        </p:spPr>
        <p:txBody>
          <a:bodyPr anchor="ctr">
            <a:normAutofit/>
          </a:bodyPr>
          <a:lstStyle/>
          <a:p>
            <a:pPr algn="l">
              <a:defRPr sz="1500" b="1" i="0">
                <a:solidFill>
                  <a:srgbClr val="B7C78A"/>
                </a:solidFill>
                <a:latin typeface="Arial"/>
                <a:ea typeface="Arial"/>
                <a:cs typeface="Arial"/>
              </a:defRPr>
            </a:pPr>
            <a:r>
              <a:rPr sz="1500" b="1" i="0">
                <a:solidFill>
                  <a:srgbClr val="B7C78A"/>
                </a:solidFill>
                <a:latin typeface="Arial"/>
                <a:ea typeface="Arial"/>
                <a:cs typeface="Arial"/>
              </a:rPr>
              <a:t>The product should</a:t>
            </a:r>
          </a:p>
        </p:txBody>
      </p:sp>
      <p:sp>
        <p:nvSpPr>
          <p:cNvPr id="10" name="Rectangle 9">
            <a:extLst>
              <a:ext uri="{FF2B5EF4-FFF2-40B4-BE49-F238E27FC236}">
                <a16:creationId xmlns:a16="http://schemas.microsoft.com/office/drawing/2014/main" id="{57D82999-E486-4081-975E-68948EC88B92}"/>
              </a:ext>
            </a:extLst>
          </p:cNvPr>
          <p:cNvSpPr>
            <a:spLocks noGrp="1"/>
          </p:cNvSpPr>
          <p:nvPr/>
        </p:nvSpPr>
        <p:spPr>
          <a:xfrm>
            <a:off x="6496050" y="2114550"/>
            <a:ext cx="4857750" cy="2238375"/>
          </a:xfrm>
          <a:prstGeom prst="rect">
            <a:avLst/>
          </a:prstGeom>
          <a:noFill/>
          <a:ln w="0">
            <a:noFill/>
          </a:ln>
        </p:spPr>
        <p:txBody>
          <a:bodyPr anchor="ctr">
            <a:normAutofit/>
          </a:bodyPr>
          <a:lstStyle/>
          <a:p>
            <a:pPr algn="l">
              <a:defRPr sz="1875" b="0" i="0">
                <a:solidFill>
                  <a:srgbClr val="FFFFFF"/>
                </a:solidFill>
                <a:latin typeface="Arial"/>
                <a:ea typeface="Arial"/>
                <a:cs typeface="Arial"/>
              </a:defRPr>
            </a:pPr>
            <a:r>
              <a:rPr sz="1875" b="0" i="0">
                <a:solidFill>
                  <a:srgbClr val="FFFFFF"/>
                </a:solidFill>
                <a:latin typeface="Arial"/>
                <a:ea typeface="Arial"/>
                <a:cs typeface="Arial"/>
              </a:rPr>
              <a:t>Show uncertainty and explain why a signal was flagged.</a:t>
            </a:r>
          </a:p>
          <a:p>
            <a:pPr algn="l">
              <a:defRPr sz="1875" b="0" i="0">
                <a:solidFill>
                  <a:srgbClr val="FFFFFF"/>
                </a:solidFill>
                <a:latin typeface="Arial"/>
                <a:ea typeface="Arial"/>
                <a:cs typeface="Arial"/>
              </a:defRPr>
            </a:pPr>
            <a:r>
              <a:rPr sz="1875" b="0" i="0">
                <a:solidFill>
                  <a:srgbClr val="FFFFFF"/>
                </a:solidFill>
                <a:latin typeface="Arial"/>
                <a:ea typeface="Arial"/>
                <a:cs typeface="Arial"/>
              </a:rPr>
              <a:t>Avoid political judgments, diagnoses, or certainty scores.</a:t>
            </a:r>
          </a:p>
          <a:p>
            <a:pPr algn="l">
              <a:defRPr sz="1875" b="0" i="0">
                <a:solidFill>
                  <a:srgbClr val="FFFFFF"/>
                </a:solidFill>
                <a:latin typeface="Arial"/>
                <a:ea typeface="Arial"/>
                <a:cs typeface="Arial"/>
              </a:defRPr>
            </a:pPr>
            <a:r>
              <a:rPr sz="1875" b="0" i="0">
                <a:solidFill>
                  <a:srgbClr val="FFFFFF"/>
                </a:solidFill>
                <a:latin typeface="Arial"/>
                <a:ea typeface="Arial"/>
                <a:cs typeface="Arial"/>
              </a:rPr>
              <a:t>Minimize data collection and let users skip or delete.</a:t>
            </a:r>
          </a:p>
        </p:txBody>
      </p:sp>
      <p:sp>
        <p:nvSpPr>
          <p:cNvPr id="11" name="Rectangle 10">
            <a:extLst>
              <a:ext uri="{FF2B5EF4-FFF2-40B4-BE49-F238E27FC236}">
                <a16:creationId xmlns:a16="http://schemas.microsoft.com/office/drawing/2014/main" id="{981FF85C-B83F-4617-BEF4-71FB1B9DBEDD}"/>
              </a:ext>
            </a:extLst>
          </p:cNvPr>
          <p:cNvSpPr>
            <a:spLocks noGrp="1"/>
          </p:cNvSpPr>
          <p:nvPr/>
        </p:nvSpPr>
        <p:spPr>
          <a:xfrm>
            <a:off x="685800" y="5238750"/>
            <a:ext cx="10668000" cy="495300"/>
          </a:xfrm>
          <a:prstGeom prst="rect">
            <a:avLst/>
          </a:prstGeom>
          <a:noFill/>
          <a:ln w="0">
            <a:noFill/>
          </a:ln>
        </p:spPr>
        <p:txBody>
          <a:bodyPr anchor="ctr">
            <a:normAutofit/>
          </a:bodyPr>
          <a:lstStyle/>
          <a:p>
            <a:pPr algn="l">
              <a:defRPr sz="2100" b="1" i="0">
                <a:solidFill>
                  <a:srgbClr val="B7C78A"/>
                </a:solidFill>
                <a:latin typeface="Arial"/>
                <a:ea typeface="Arial"/>
                <a:cs typeface="Arial"/>
              </a:defRPr>
            </a:pPr>
            <a:r>
              <a:rPr sz="2100" b="1" i="0">
                <a:solidFill>
                  <a:srgbClr val="B7C78A"/>
                </a:solidFill>
                <a:latin typeface="Arial"/>
                <a:ea typeface="Arial"/>
                <a:cs typeface="Arial"/>
              </a:rPr>
              <a:t>AI supports reflection. It does not decide what people should believe.</a:t>
            </a:r>
          </a:p>
        </p:txBody>
      </p:sp>
    </p:spTree>
    <p:extLst>
      <p:ext uri="{BB962C8B-B14F-4D97-AF65-F5344CB8AC3E}">
        <p14:creationId xmlns:p14="http://schemas.microsoft.com/office/powerpoint/2010/main" val="1101088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C879A99-628E-4402-B2F7-66D021758B68}"/>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DB7B3B32-3540-4114-9D56-4DFE444617D5}"/>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How the complete system works together</a:t>
            </a:r>
          </a:p>
        </p:txBody>
      </p:sp>
      <p:sp>
        <p:nvSpPr>
          <p:cNvPr id="3" name="Rectangle 2">
            <a:extLst>
              <a:ext uri="{FF2B5EF4-FFF2-40B4-BE49-F238E27FC236}">
                <a16:creationId xmlns:a16="http://schemas.microsoft.com/office/drawing/2014/main" id="{E992D03E-D738-4FBF-86FB-AEEAFD96A362}"/>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78857307-806A-406C-A01A-2282C7036ACF}"/>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2F2194CC-B9A1-4844-A00F-9279DC247F42}"/>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11</a:t>
            </a:r>
          </a:p>
        </p:txBody>
      </p:sp>
      <p:sp>
        <p:nvSpPr>
          <p:cNvPr id="6" name="Rectangle 5">
            <a:extLst>
              <a:ext uri="{FF2B5EF4-FFF2-40B4-BE49-F238E27FC236}">
                <a16:creationId xmlns:a16="http://schemas.microsoft.com/office/drawing/2014/main" id="{9563C1EC-1F21-45C1-BB93-FEA7E5313572}"/>
              </a:ext>
            </a:extLst>
          </p:cNvPr>
          <p:cNvSpPr>
            <a:spLocks noGrp="1"/>
          </p:cNvSpPr>
          <p:nvPr/>
        </p:nvSpPr>
        <p:spPr>
          <a:xfrm>
            <a:off x="685800" y="1466850"/>
            <a:ext cx="10477500" cy="552450"/>
          </a:xfrm>
          <a:prstGeom prst="rect">
            <a:avLst/>
          </a:prstGeom>
          <a:noFill/>
          <a:ln w="0">
            <a:noFill/>
          </a:ln>
        </p:spPr>
        <p:txBody>
          <a:bodyPr anchor="ctr">
            <a:normAutofit fontScale="77783"/>
          </a:bodyPr>
          <a:lstStyle/>
          <a:p>
            <a:pPr algn="l">
              <a:defRPr sz="1950" b="0" i="0">
                <a:solidFill>
                  <a:srgbClr val="677572"/>
                </a:solidFill>
                <a:latin typeface="Arial"/>
                <a:ea typeface="Arial"/>
                <a:cs typeface="Arial"/>
              </a:defRPr>
            </a:pPr>
            <a:r>
              <a:rPr sz="1950" b="0" i="0">
                <a:solidFill>
                  <a:srgbClr val="677572"/>
                </a:solidFill>
                <a:latin typeface="Arial"/>
                <a:ea typeface="Arial"/>
                <a:cs typeface="Arial"/>
              </a:rPr>
              <a:t>One platform brings information analysis, emotional reflection, learning, and response support into the same experience.</a:t>
            </a:r>
          </a:p>
        </p:txBody>
      </p:sp>
      <p:sp>
        <p:nvSpPr>
          <p:cNvPr id="7" name="Rectangle 6">
            <a:extLst>
              <a:ext uri="{FF2B5EF4-FFF2-40B4-BE49-F238E27FC236}">
                <a16:creationId xmlns:a16="http://schemas.microsoft.com/office/drawing/2014/main" id="{743EE324-AA12-4698-B166-0CE1FD8EEC87}"/>
              </a:ext>
            </a:extLst>
          </p:cNvPr>
          <p:cNvSpPr>
            <a:spLocks noGrp="1"/>
          </p:cNvSpPr>
          <p:nvPr/>
        </p:nvSpPr>
        <p:spPr>
          <a:xfrm>
            <a:off x="685800" y="2571750"/>
            <a:ext cx="2381250" cy="266700"/>
          </a:xfrm>
          <a:prstGeom prst="rect">
            <a:avLst/>
          </a:prstGeom>
          <a:noFill/>
          <a:ln w="0">
            <a:noFill/>
          </a:ln>
        </p:spPr>
        <p:txBody>
          <a:bodyPr anchor="ctr">
            <a:normAutofit/>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INPUT</a:t>
            </a:r>
          </a:p>
        </p:txBody>
      </p:sp>
      <p:sp>
        <p:nvSpPr>
          <p:cNvPr id="8" name="Rectangle 7">
            <a:extLst>
              <a:ext uri="{FF2B5EF4-FFF2-40B4-BE49-F238E27FC236}">
                <a16:creationId xmlns:a16="http://schemas.microsoft.com/office/drawing/2014/main" id="{D0201792-6736-40F1-B6E6-46E0594EC634}"/>
              </a:ext>
            </a:extLst>
          </p:cNvPr>
          <p:cNvSpPr>
            <a:spLocks noGrp="1"/>
          </p:cNvSpPr>
          <p:nvPr/>
        </p:nvSpPr>
        <p:spPr>
          <a:xfrm>
            <a:off x="685800" y="2962275"/>
            <a:ext cx="2247900" cy="38100"/>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9A2066B8-07F1-46B1-86CE-4890993268A5}"/>
              </a:ext>
            </a:extLst>
          </p:cNvPr>
          <p:cNvSpPr>
            <a:spLocks noGrp="1"/>
          </p:cNvSpPr>
          <p:nvPr/>
        </p:nvSpPr>
        <p:spPr>
          <a:xfrm>
            <a:off x="685800" y="3209925"/>
            <a:ext cx="2286000" cy="1333500"/>
          </a:xfrm>
          <a:prstGeom prst="rect">
            <a:avLst/>
          </a:prstGeom>
          <a:noFill/>
          <a:ln w="0">
            <a:noFill/>
          </a:ln>
        </p:spPr>
        <p:txBody>
          <a:bodyPr anchor="ctr">
            <a:normAutofit/>
          </a:bodyPr>
          <a:lstStyle/>
          <a:p>
            <a:pPr algn="l">
              <a:defRPr sz="1650" b="1" i="0">
                <a:solidFill>
                  <a:srgbClr val="142B2E"/>
                </a:solidFill>
                <a:latin typeface="Arial"/>
                <a:ea typeface="Arial"/>
                <a:cs typeface="Arial"/>
              </a:defRPr>
            </a:pPr>
            <a:r>
              <a:rPr sz="1650" b="1" i="0">
                <a:solidFill>
                  <a:srgbClr val="142B2E"/>
                </a:solidFill>
                <a:latin typeface="Arial"/>
                <a:ea typeface="Arial"/>
                <a:cs typeface="Arial"/>
              </a:rPr>
              <a:t>Posts, links, or practice examples</a:t>
            </a:r>
          </a:p>
        </p:txBody>
      </p:sp>
      <p:sp>
        <p:nvSpPr>
          <p:cNvPr id="10" name="Rectangle 9">
            <a:extLst>
              <a:ext uri="{FF2B5EF4-FFF2-40B4-BE49-F238E27FC236}">
                <a16:creationId xmlns:a16="http://schemas.microsoft.com/office/drawing/2014/main" id="{54131CB5-535D-49B8-AC2F-32ED28AEA07D}"/>
              </a:ext>
            </a:extLst>
          </p:cNvPr>
          <p:cNvSpPr>
            <a:spLocks noGrp="1"/>
          </p:cNvSpPr>
          <p:nvPr/>
        </p:nvSpPr>
        <p:spPr>
          <a:xfrm>
            <a:off x="3429000" y="2571750"/>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AI ANALYSIS</a:t>
            </a:r>
          </a:p>
        </p:txBody>
      </p:sp>
      <p:sp>
        <p:nvSpPr>
          <p:cNvPr id="11" name="Rectangle 10">
            <a:extLst>
              <a:ext uri="{FF2B5EF4-FFF2-40B4-BE49-F238E27FC236}">
                <a16:creationId xmlns:a16="http://schemas.microsoft.com/office/drawing/2014/main" id="{18F7640D-6950-4EA6-AA8E-1DE12C3AA3E0}"/>
              </a:ext>
            </a:extLst>
          </p:cNvPr>
          <p:cNvSpPr>
            <a:spLocks noGrp="1"/>
          </p:cNvSpPr>
          <p:nvPr/>
        </p:nvSpPr>
        <p:spPr>
          <a:xfrm>
            <a:off x="3429000" y="2962275"/>
            <a:ext cx="2247900" cy="38100"/>
          </a:xfrm>
          <a:prstGeom prst="rect">
            <a:avLst/>
          </a:prstGeom>
          <a:solidFill>
            <a:srgbClr val="C75A4A"/>
          </a:solidFill>
          <a:ln w="0">
            <a:noFill/>
          </a:ln>
        </p:spPr>
        <p:txBody>
          <a:bodyPr/>
          <a:lstStyle/>
          <a:p>
            <a:endParaRPr lang="ar-LY"/>
          </a:p>
        </p:txBody>
      </p:sp>
      <p:sp>
        <p:nvSpPr>
          <p:cNvPr id="12" name="Rectangle 11">
            <a:extLst>
              <a:ext uri="{FF2B5EF4-FFF2-40B4-BE49-F238E27FC236}">
                <a16:creationId xmlns:a16="http://schemas.microsoft.com/office/drawing/2014/main" id="{EB41AB1D-3DC6-48A0-A1A1-24F4B3BAC26C}"/>
              </a:ext>
            </a:extLst>
          </p:cNvPr>
          <p:cNvSpPr>
            <a:spLocks noGrp="1"/>
          </p:cNvSpPr>
          <p:nvPr/>
        </p:nvSpPr>
        <p:spPr>
          <a:xfrm>
            <a:off x="3429000" y="3209925"/>
            <a:ext cx="2286000" cy="1333500"/>
          </a:xfrm>
          <a:prstGeom prst="rect">
            <a:avLst/>
          </a:prstGeom>
          <a:noFill/>
          <a:ln w="0">
            <a:noFill/>
          </a:ln>
        </p:spPr>
        <p:txBody>
          <a:bodyPr anchor="ctr">
            <a:normAutofit/>
          </a:bodyPr>
          <a:lstStyle/>
          <a:p>
            <a:pPr algn="l">
              <a:defRPr sz="1650" b="1" i="0">
                <a:solidFill>
                  <a:srgbClr val="142B2E"/>
                </a:solidFill>
                <a:latin typeface="Arial"/>
                <a:ea typeface="Arial"/>
                <a:cs typeface="Arial"/>
              </a:defRPr>
            </a:pPr>
            <a:r>
              <a:rPr sz="1650" b="1" i="0">
                <a:solidFill>
                  <a:srgbClr val="142B2E"/>
                </a:solidFill>
                <a:latin typeface="Arial"/>
                <a:ea typeface="Arial"/>
                <a:cs typeface="Arial"/>
              </a:rPr>
              <a:t>Claim cues, source signals, emotional language, and hate speech</a:t>
            </a:r>
          </a:p>
        </p:txBody>
      </p:sp>
      <p:sp>
        <p:nvSpPr>
          <p:cNvPr id="13" name="Rectangle 12">
            <a:extLst>
              <a:ext uri="{FF2B5EF4-FFF2-40B4-BE49-F238E27FC236}">
                <a16:creationId xmlns:a16="http://schemas.microsoft.com/office/drawing/2014/main" id="{4B2F5E25-5B78-4187-A584-4A69AD654AD0}"/>
              </a:ext>
            </a:extLst>
          </p:cNvPr>
          <p:cNvSpPr>
            <a:spLocks noGrp="1"/>
          </p:cNvSpPr>
          <p:nvPr/>
        </p:nvSpPr>
        <p:spPr>
          <a:xfrm>
            <a:off x="6172200" y="2571750"/>
            <a:ext cx="2381250" cy="266700"/>
          </a:xfrm>
          <a:prstGeom prst="rect">
            <a:avLst/>
          </a:prstGeom>
          <a:noFill/>
          <a:ln w="0">
            <a:noFill/>
          </a:ln>
        </p:spPr>
        <p:txBody>
          <a:bodyPr anchor="ctr">
            <a:normAutofit/>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USER CONTEXT</a:t>
            </a:r>
          </a:p>
        </p:txBody>
      </p:sp>
      <p:sp>
        <p:nvSpPr>
          <p:cNvPr id="14" name="Rectangle 13">
            <a:extLst>
              <a:ext uri="{FF2B5EF4-FFF2-40B4-BE49-F238E27FC236}">
                <a16:creationId xmlns:a16="http://schemas.microsoft.com/office/drawing/2014/main" id="{0E7B71EF-1490-49F8-9885-349AB181AF04}"/>
              </a:ext>
            </a:extLst>
          </p:cNvPr>
          <p:cNvSpPr>
            <a:spLocks noGrp="1"/>
          </p:cNvSpPr>
          <p:nvPr/>
        </p:nvSpPr>
        <p:spPr>
          <a:xfrm>
            <a:off x="6172200" y="2962275"/>
            <a:ext cx="2247900" cy="38100"/>
          </a:xfrm>
          <a:prstGeom prst="rect">
            <a:avLst/>
          </a:prstGeom>
          <a:solidFill>
            <a:srgbClr val="B7C78A"/>
          </a:solidFill>
          <a:ln w="0">
            <a:noFill/>
          </a:ln>
        </p:spPr>
        <p:txBody>
          <a:bodyPr/>
          <a:lstStyle/>
          <a:p>
            <a:endParaRPr lang="ar-LY"/>
          </a:p>
        </p:txBody>
      </p:sp>
      <p:sp>
        <p:nvSpPr>
          <p:cNvPr id="15" name="Rectangle 14">
            <a:extLst>
              <a:ext uri="{FF2B5EF4-FFF2-40B4-BE49-F238E27FC236}">
                <a16:creationId xmlns:a16="http://schemas.microsoft.com/office/drawing/2014/main" id="{0BE2E5F8-3A72-4AC1-80F0-B8E4E4FFFED4}"/>
              </a:ext>
            </a:extLst>
          </p:cNvPr>
          <p:cNvSpPr>
            <a:spLocks noGrp="1"/>
          </p:cNvSpPr>
          <p:nvPr/>
        </p:nvSpPr>
        <p:spPr>
          <a:xfrm>
            <a:off x="6172200" y="3209925"/>
            <a:ext cx="2286000" cy="1333500"/>
          </a:xfrm>
          <a:prstGeom prst="rect">
            <a:avLst/>
          </a:prstGeom>
          <a:noFill/>
          <a:ln w="0">
            <a:noFill/>
          </a:ln>
        </p:spPr>
        <p:txBody>
          <a:bodyPr anchor="ctr">
            <a:normAutofit/>
          </a:bodyPr>
          <a:lstStyle/>
          <a:p>
            <a:pPr algn="l">
              <a:defRPr sz="1650" b="1" i="0">
                <a:solidFill>
                  <a:srgbClr val="142B2E"/>
                </a:solidFill>
                <a:latin typeface="Arial"/>
                <a:ea typeface="Arial"/>
                <a:cs typeface="Arial"/>
              </a:defRPr>
            </a:pPr>
            <a:r>
              <a:rPr sz="1650" b="1" i="0">
                <a:solidFill>
                  <a:srgbClr val="142B2E"/>
                </a:solidFill>
                <a:latin typeface="Arial"/>
                <a:ea typeface="Arial"/>
                <a:cs typeface="Arial"/>
              </a:rPr>
              <a:t>Self-reported feeling and optional mood history</a:t>
            </a:r>
          </a:p>
        </p:txBody>
      </p:sp>
      <p:sp>
        <p:nvSpPr>
          <p:cNvPr id="16" name="Rectangle 15">
            <a:extLst>
              <a:ext uri="{FF2B5EF4-FFF2-40B4-BE49-F238E27FC236}">
                <a16:creationId xmlns:a16="http://schemas.microsoft.com/office/drawing/2014/main" id="{CA78D3AA-B9E8-42E9-860B-0C1C32AA6928}"/>
              </a:ext>
            </a:extLst>
          </p:cNvPr>
          <p:cNvSpPr>
            <a:spLocks noGrp="1"/>
          </p:cNvSpPr>
          <p:nvPr/>
        </p:nvSpPr>
        <p:spPr>
          <a:xfrm>
            <a:off x="8915400" y="2571750"/>
            <a:ext cx="2381250" cy="266700"/>
          </a:xfrm>
          <a:prstGeom prst="rect">
            <a:avLst/>
          </a:prstGeom>
          <a:noFill/>
          <a:ln w="0">
            <a:noFill/>
          </a:ln>
        </p:spPr>
        <p:txBody>
          <a:bodyPr anchor="ctr">
            <a:normAutofit/>
          </a:bodyPr>
          <a:lstStyle/>
          <a:p>
            <a:pPr algn="l">
              <a:defRPr sz="1050" b="1" i="0">
                <a:solidFill>
                  <a:srgbClr val="315B4C"/>
                </a:solidFill>
                <a:latin typeface="Arial"/>
                <a:ea typeface="Arial"/>
                <a:cs typeface="Arial"/>
              </a:defRPr>
            </a:pPr>
            <a:r>
              <a:rPr sz="1050" b="1" i="0">
                <a:solidFill>
                  <a:srgbClr val="315B4C"/>
                </a:solidFill>
                <a:latin typeface="Arial"/>
                <a:ea typeface="Arial"/>
                <a:cs typeface="Arial"/>
              </a:rPr>
              <a:t>SUPPORT</a:t>
            </a:r>
          </a:p>
        </p:txBody>
      </p:sp>
      <p:sp>
        <p:nvSpPr>
          <p:cNvPr id="17" name="Rectangle 16">
            <a:extLst>
              <a:ext uri="{FF2B5EF4-FFF2-40B4-BE49-F238E27FC236}">
                <a16:creationId xmlns:a16="http://schemas.microsoft.com/office/drawing/2014/main" id="{410CD103-DB51-439B-99BA-C5A636C79C68}"/>
              </a:ext>
            </a:extLst>
          </p:cNvPr>
          <p:cNvSpPr>
            <a:spLocks noGrp="1"/>
          </p:cNvSpPr>
          <p:nvPr/>
        </p:nvSpPr>
        <p:spPr>
          <a:xfrm>
            <a:off x="8915400" y="2962275"/>
            <a:ext cx="2247900" cy="38100"/>
          </a:xfrm>
          <a:prstGeom prst="rect">
            <a:avLst/>
          </a:prstGeom>
          <a:solidFill>
            <a:srgbClr val="B7C78A"/>
          </a:solidFill>
          <a:ln w="0">
            <a:noFill/>
          </a:ln>
        </p:spPr>
        <p:txBody>
          <a:bodyPr/>
          <a:lstStyle/>
          <a:p>
            <a:endParaRPr lang="ar-LY"/>
          </a:p>
        </p:txBody>
      </p:sp>
      <p:sp>
        <p:nvSpPr>
          <p:cNvPr id="18" name="Rectangle 17">
            <a:extLst>
              <a:ext uri="{FF2B5EF4-FFF2-40B4-BE49-F238E27FC236}">
                <a16:creationId xmlns:a16="http://schemas.microsoft.com/office/drawing/2014/main" id="{4F34CCD7-DA4A-4141-8989-112A0CC89D0B}"/>
              </a:ext>
            </a:extLst>
          </p:cNvPr>
          <p:cNvSpPr>
            <a:spLocks noGrp="1"/>
          </p:cNvSpPr>
          <p:nvPr/>
        </p:nvSpPr>
        <p:spPr>
          <a:xfrm>
            <a:off x="8915400" y="3209925"/>
            <a:ext cx="2286000" cy="1333500"/>
          </a:xfrm>
          <a:prstGeom prst="rect">
            <a:avLst/>
          </a:prstGeom>
          <a:noFill/>
          <a:ln w="0">
            <a:noFill/>
          </a:ln>
        </p:spPr>
        <p:txBody>
          <a:bodyPr anchor="ctr">
            <a:normAutofit/>
          </a:bodyPr>
          <a:lstStyle/>
          <a:p>
            <a:pPr algn="l">
              <a:defRPr sz="1650" b="1" i="0">
                <a:solidFill>
                  <a:srgbClr val="142B2E"/>
                </a:solidFill>
                <a:latin typeface="Arial"/>
                <a:ea typeface="Arial"/>
                <a:cs typeface="Arial"/>
              </a:defRPr>
            </a:pPr>
            <a:r>
              <a:rPr sz="1650" b="1" i="0">
                <a:solidFill>
                  <a:srgbClr val="142B2E"/>
                </a:solidFill>
                <a:latin typeface="Arial"/>
                <a:ea typeface="Arial"/>
                <a:cs typeface="Arial"/>
              </a:rPr>
              <a:t>Source guidance, calming prompts, practice, stories, or response coaching</a:t>
            </a:r>
          </a:p>
        </p:txBody>
      </p:sp>
      <p:sp>
        <p:nvSpPr>
          <p:cNvPr id="19" name="Rectangle 18">
            <a:extLst>
              <a:ext uri="{FF2B5EF4-FFF2-40B4-BE49-F238E27FC236}">
                <a16:creationId xmlns:a16="http://schemas.microsoft.com/office/drawing/2014/main" id="{35AE8A87-C3BF-499D-ADC1-96EFA2BDDDF6}"/>
              </a:ext>
            </a:extLst>
          </p:cNvPr>
          <p:cNvSpPr>
            <a:spLocks noGrp="1"/>
          </p:cNvSpPr>
          <p:nvPr/>
        </p:nvSpPr>
        <p:spPr>
          <a:xfrm>
            <a:off x="685800" y="4810125"/>
            <a:ext cx="10477500" cy="9525"/>
          </a:xfrm>
          <a:prstGeom prst="rect">
            <a:avLst/>
          </a:prstGeom>
          <a:solidFill>
            <a:srgbClr val="D8DED3"/>
          </a:solidFill>
          <a:ln w="0">
            <a:noFill/>
          </a:ln>
        </p:spPr>
        <p:txBody>
          <a:bodyPr/>
          <a:lstStyle/>
          <a:p>
            <a:endParaRPr lang="ar-LY"/>
          </a:p>
        </p:txBody>
      </p:sp>
      <p:sp>
        <p:nvSpPr>
          <p:cNvPr id="20" name="Rectangle 19">
            <a:extLst>
              <a:ext uri="{FF2B5EF4-FFF2-40B4-BE49-F238E27FC236}">
                <a16:creationId xmlns:a16="http://schemas.microsoft.com/office/drawing/2014/main" id="{AB396220-EA1D-4081-9CAE-B23D9B6ABC63}"/>
              </a:ext>
            </a:extLst>
          </p:cNvPr>
          <p:cNvSpPr>
            <a:spLocks noGrp="1"/>
          </p:cNvSpPr>
          <p:nvPr/>
        </p:nvSpPr>
        <p:spPr>
          <a:xfrm>
            <a:off x="685800" y="5095875"/>
            <a:ext cx="2476500" cy="285750"/>
          </a:xfrm>
          <a:prstGeom prst="rect">
            <a:avLst/>
          </a:prstGeom>
          <a:noFill/>
          <a:ln w="0">
            <a:noFill/>
          </a:ln>
        </p:spPr>
        <p:txBody>
          <a:bodyPr anchor="ctr">
            <a:normAutofit/>
          </a:bodyPr>
          <a:lstStyle/>
          <a:p>
            <a:pPr algn="l">
              <a:defRPr sz="1125" b="1" i="0">
                <a:solidFill>
                  <a:srgbClr val="C75A4A"/>
                </a:solidFill>
                <a:latin typeface="Arial"/>
                <a:ea typeface="Arial"/>
                <a:cs typeface="Arial"/>
              </a:defRPr>
            </a:pPr>
            <a:r>
              <a:rPr sz="1125" b="1" i="0">
                <a:solidFill>
                  <a:srgbClr val="C75A4A"/>
                </a:solidFill>
                <a:latin typeface="Arial"/>
                <a:ea typeface="Arial"/>
                <a:cs typeface="Arial"/>
              </a:rPr>
              <a:t>Designed outcome</a:t>
            </a:r>
          </a:p>
        </p:txBody>
      </p:sp>
      <p:sp>
        <p:nvSpPr>
          <p:cNvPr id="21" name="Rectangle 20">
            <a:extLst>
              <a:ext uri="{FF2B5EF4-FFF2-40B4-BE49-F238E27FC236}">
                <a16:creationId xmlns:a16="http://schemas.microsoft.com/office/drawing/2014/main" id="{605B43CE-8D23-4818-BA3F-5AB4E8CA0E47}"/>
              </a:ext>
            </a:extLst>
          </p:cNvPr>
          <p:cNvSpPr>
            <a:spLocks noGrp="1"/>
          </p:cNvSpPr>
          <p:nvPr/>
        </p:nvSpPr>
        <p:spPr>
          <a:xfrm>
            <a:off x="685800" y="5467350"/>
            <a:ext cx="10334625" cy="514350"/>
          </a:xfrm>
          <a:prstGeom prst="rect">
            <a:avLst/>
          </a:prstGeom>
          <a:noFill/>
          <a:ln w="0">
            <a:noFill/>
          </a:ln>
        </p:spPr>
        <p:txBody>
          <a:bodyPr anchor="ctr">
            <a:normAutofit fontScale="82398"/>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Users can better understand what a post is doing, how it affects them, and which next step they want to take.</a:t>
            </a:r>
          </a:p>
        </p:txBody>
      </p:sp>
    </p:spTree>
    <p:extLst>
      <p:ext uri="{BB962C8B-B14F-4D97-AF65-F5344CB8AC3E}">
        <p14:creationId xmlns:p14="http://schemas.microsoft.com/office/powerpoint/2010/main" val="1535826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8C70CBC-A709-438F-ACB5-96BF929F0712}"/>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8D1C24A8-B1AC-4D34-8AF4-DEFA6EE03D72}"/>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Tawazun implementation architecture</a:t>
            </a:r>
          </a:p>
        </p:txBody>
      </p:sp>
      <p:sp>
        <p:nvSpPr>
          <p:cNvPr id="3" name="Rectangle 2">
            <a:extLst>
              <a:ext uri="{FF2B5EF4-FFF2-40B4-BE49-F238E27FC236}">
                <a16:creationId xmlns:a16="http://schemas.microsoft.com/office/drawing/2014/main" id="{774CD75A-0176-4BB5-9173-AACD7E47374A}"/>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1AA808B3-C97F-4EAB-B6E3-6F133311BF1D}"/>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1E324A1E-3169-4DF2-9F1A-5D011FFB5045}"/>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12</a:t>
            </a:r>
          </a:p>
        </p:txBody>
      </p:sp>
      <p:sp>
        <p:nvSpPr>
          <p:cNvPr id="6" name="Rectangle 5">
            <a:extLst>
              <a:ext uri="{FF2B5EF4-FFF2-40B4-BE49-F238E27FC236}">
                <a16:creationId xmlns:a16="http://schemas.microsoft.com/office/drawing/2014/main" id="{5AAC6275-8C7B-47CC-B449-9EB08F6E452F}"/>
              </a:ext>
            </a:extLst>
          </p:cNvPr>
          <p:cNvSpPr>
            <a:spLocks noGrp="1"/>
          </p:cNvSpPr>
          <p:nvPr/>
        </p:nvSpPr>
        <p:spPr>
          <a:xfrm>
            <a:off x="685800" y="1428750"/>
            <a:ext cx="10477500" cy="476250"/>
          </a:xfrm>
          <a:prstGeom prst="rect">
            <a:avLst/>
          </a:prstGeom>
          <a:noFill/>
          <a:ln w="0">
            <a:noFill/>
          </a:ln>
        </p:spPr>
        <p:txBody>
          <a:bodyPr anchor="ctr">
            <a:normAutofit/>
          </a:bodyPr>
          <a:lstStyle/>
          <a:p>
            <a:pPr algn="l">
              <a:defRPr sz="1875" b="0" i="0">
                <a:solidFill>
                  <a:srgbClr val="677572"/>
                </a:solidFill>
                <a:latin typeface="Arial"/>
                <a:ea typeface="Arial"/>
                <a:cs typeface="Arial"/>
              </a:defRPr>
            </a:pPr>
            <a:r>
              <a:rPr sz="1875" b="0" i="0">
                <a:solidFill>
                  <a:srgbClr val="677572"/>
                </a:solidFill>
                <a:latin typeface="Arial"/>
                <a:ea typeface="Arial"/>
                <a:cs typeface="Arial"/>
              </a:rPr>
              <a:t>One integrated application supports all seven features with a manageable starting stack.</a:t>
            </a:r>
          </a:p>
        </p:txBody>
      </p:sp>
      <p:sp>
        <p:nvSpPr>
          <p:cNvPr id="7" name="Rectangle 6">
            <a:extLst>
              <a:ext uri="{FF2B5EF4-FFF2-40B4-BE49-F238E27FC236}">
                <a16:creationId xmlns:a16="http://schemas.microsoft.com/office/drawing/2014/main" id="{20AC51F4-536A-4100-9AAF-B38072ECE376}"/>
              </a:ext>
            </a:extLst>
          </p:cNvPr>
          <p:cNvSpPr>
            <a:spLocks noGrp="1"/>
          </p:cNvSpPr>
          <p:nvPr/>
        </p:nvSpPr>
        <p:spPr>
          <a:xfrm>
            <a:off x="685800" y="2238375"/>
            <a:ext cx="1885950" cy="361950"/>
          </a:xfrm>
          <a:prstGeom prst="rect">
            <a:avLst/>
          </a:prstGeom>
          <a:noFill/>
          <a:ln w="0">
            <a:noFill/>
          </a:ln>
        </p:spPr>
        <p:txBody>
          <a:bodyPr anchor="ctr">
            <a:normAutofit/>
          </a:bodyPr>
          <a:lstStyle/>
          <a:p>
            <a:pPr algn="l">
              <a:defRPr sz="1200" b="1" i="0">
                <a:solidFill>
                  <a:srgbClr val="315B4C"/>
                </a:solidFill>
                <a:latin typeface="Arial"/>
                <a:ea typeface="Arial"/>
                <a:cs typeface="Arial"/>
              </a:defRPr>
            </a:pPr>
            <a:r>
              <a:rPr sz="1200" b="1" i="0">
                <a:solidFill>
                  <a:srgbClr val="315B4C"/>
                </a:solidFill>
                <a:latin typeface="Arial"/>
                <a:ea typeface="Arial"/>
                <a:cs typeface="Arial"/>
              </a:rPr>
              <a:t>FRONTEND</a:t>
            </a:r>
          </a:p>
        </p:txBody>
      </p:sp>
      <p:sp>
        <p:nvSpPr>
          <p:cNvPr id="8" name="Rectangle 7">
            <a:extLst>
              <a:ext uri="{FF2B5EF4-FFF2-40B4-BE49-F238E27FC236}">
                <a16:creationId xmlns:a16="http://schemas.microsoft.com/office/drawing/2014/main" id="{0A4CA86F-60F1-4763-8977-3AC188800E62}"/>
              </a:ext>
            </a:extLst>
          </p:cNvPr>
          <p:cNvSpPr>
            <a:spLocks noGrp="1"/>
          </p:cNvSpPr>
          <p:nvPr/>
        </p:nvSpPr>
        <p:spPr>
          <a:xfrm>
            <a:off x="685800" y="2743200"/>
            <a:ext cx="1809750" cy="38100"/>
          </a:xfrm>
          <a:prstGeom prst="rect">
            <a:avLst/>
          </a:prstGeom>
          <a:solidFill>
            <a:srgbClr val="B7C78A"/>
          </a:solidFill>
          <a:ln w="0">
            <a:noFill/>
          </a:ln>
        </p:spPr>
        <p:txBody>
          <a:bodyPr/>
          <a:lstStyle/>
          <a:p>
            <a:endParaRPr lang="ar-LY"/>
          </a:p>
        </p:txBody>
      </p:sp>
      <p:sp>
        <p:nvSpPr>
          <p:cNvPr id="9" name="Rectangle 8">
            <a:extLst>
              <a:ext uri="{FF2B5EF4-FFF2-40B4-BE49-F238E27FC236}">
                <a16:creationId xmlns:a16="http://schemas.microsoft.com/office/drawing/2014/main" id="{0CA5FA23-A930-442B-9291-2AA19948D7AC}"/>
              </a:ext>
            </a:extLst>
          </p:cNvPr>
          <p:cNvSpPr>
            <a:spLocks noGrp="1"/>
          </p:cNvSpPr>
          <p:nvPr/>
        </p:nvSpPr>
        <p:spPr>
          <a:xfrm>
            <a:off x="6858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Mobile-first Next.js website</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Arabic RTL layout</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Voice input optional</a:t>
            </a:r>
          </a:p>
        </p:txBody>
      </p:sp>
      <p:sp>
        <p:nvSpPr>
          <p:cNvPr id="10" name="Rectangle 9">
            <a:extLst>
              <a:ext uri="{FF2B5EF4-FFF2-40B4-BE49-F238E27FC236}">
                <a16:creationId xmlns:a16="http://schemas.microsoft.com/office/drawing/2014/main" id="{B83EFC0A-98C3-48CA-B5C5-7143E3D24C13}"/>
              </a:ext>
            </a:extLst>
          </p:cNvPr>
          <p:cNvSpPr>
            <a:spLocks noGrp="1"/>
          </p:cNvSpPr>
          <p:nvPr/>
        </p:nvSpPr>
        <p:spPr>
          <a:xfrm>
            <a:off x="2857500" y="2238375"/>
            <a:ext cx="1885950" cy="361950"/>
          </a:xfrm>
          <a:prstGeom prst="rect">
            <a:avLst/>
          </a:prstGeom>
          <a:noFill/>
          <a:ln w="0">
            <a:noFill/>
          </a:ln>
        </p:spPr>
        <p:txBody>
          <a:bodyPr anchor="ctr">
            <a:normAutofit/>
          </a:bodyPr>
          <a:lstStyle/>
          <a:p>
            <a:pPr algn="l">
              <a:defRPr sz="1200" b="1" i="0">
                <a:solidFill>
                  <a:srgbClr val="315B4C"/>
                </a:solidFill>
                <a:latin typeface="Arial"/>
                <a:ea typeface="Arial"/>
                <a:cs typeface="Arial"/>
              </a:defRPr>
            </a:pPr>
            <a:r>
              <a:rPr sz="1200" b="1" i="0">
                <a:solidFill>
                  <a:srgbClr val="315B4C"/>
                </a:solidFill>
                <a:latin typeface="Arial"/>
                <a:ea typeface="Arial"/>
                <a:cs typeface="Arial"/>
              </a:rPr>
              <a:t>BACKEND</a:t>
            </a:r>
          </a:p>
        </p:txBody>
      </p:sp>
      <p:sp>
        <p:nvSpPr>
          <p:cNvPr id="11" name="Rectangle 10">
            <a:extLst>
              <a:ext uri="{FF2B5EF4-FFF2-40B4-BE49-F238E27FC236}">
                <a16:creationId xmlns:a16="http://schemas.microsoft.com/office/drawing/2014/main" id="{20AB4B56-D937-49A6-B783-044DAD95C6F3}"/>
              </a:ext>
            </a:extLst>
          </p:cNvPr>
          <p:cNvSpPr>
            <a:spLocks noGrp="1"/>
          </p:cNvSpPr>
          <p:nvPr/>
        </p:nvSpPr>
        <p:spPr>
          <a:xfrm>
            <a:off x="2857500" y="2743200"/>
            <a:ext cx="1809750" cy="38100"/>
          </a:xfrm>
          <a:prstGeom prst="rect">
            <a:avLst/>
          </a:prstGeom>
          <a:solidFill>
            <a:srgbClr val="B7C78A"/>
          </a:solidFill>
          <a:ln w="0">
            <a:noFill/>
          </a:ln>
        </p:spPr>
        <p:txBody>
          <a:bodyPr/>
          <a:lstStyle/>
          <a:p>
            <a:endParaRPr lang="ar-LY"/>
          </a:p>
        </p:txBody>
      </p:sp>
      <p:sp>
        <p:nvSpPr>
          <p:cNvPr id="12" name="Rectangle 11">
            <a:extLst>
              <a:ext uri="{FF2B5EF4-FFF2-40B4-BE49-F238E27FC236}">
                <a16:creationId xmlns:a16="http://schemas.microsoft.com/office/drawing/2014/main" id="{10E54F3A-9FE3-4975-A9F2-4506D8359122}"/>
              </a:ext>
            </a:extLst>
          </p:cNvPr>
          <p:cNvSpPr>
            <a:spLocks noGrp="1"/>
          </p:cNvSpPr>
          <p:nvPr/>
        </p:nvSpPr>
        <p:spPr>
          <a:xfrm>
            <a:off x="28575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FastAPI modular API</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All seven features in one deployable app</a:t>
            </a:r>
          </a:p>
        </p:txBody>
      </p:sp>
      <p:sp>
        <p:nvSpPr>
          <p:cNvPr id="13" name="Rectangle 12">
            <a:extLst>
              <a:ext uri="{FF2B5EF4-FFF2-40B4-BE49-F238E27FC236}">
                <a16:creationId xmlns:a16="http://schemas.microsoft.com/office/drawing/2014/main" id="{C934469F-6666-4061-899E-69269C6632C9}"/>
              </a:ext>
            </a:extLst>
          </p:cNvPr>
          <p:cNvSpPr>
            <a:spLocks noGrp="1"/>
          </p:cNvSpPr>
          <p:nvPr/>
        </p:nvSpPr>
        <p:spPr>
          <a:xfrm>
            <a:off x="5029200" y="2238375"/>
            <a:ext cx="1885950" cy="361950"/>
          </a:xfrm>
          <a:prstGeom prst="rect">
            <a:avLst/>
          </a:prstGeom>
          <a:noFill/>
          <a:ln w="0">
            <a:noFill/>
          </a:ln>
        </p:spPr>
        <p:txBody>
          <a:bodyPr anchor="ctr">
            <a:normAutofit/>
          </a:bodyPr>
          <a:lstStyle/>
          <a:p>
            <a:pPr algn="l">
              <a:defRPr sz="1200" b="1" i="0">
                <a:solidFill>
                  <a:srgbClr val="C75A4A"/>
                </a:solidFill>
                <a:latin typeface="Arial"/>
                <a:ea typeface="Arial"/>
                <a:cs typeface="Arial"/>
              </a:defRPr>
            </a:pPr>
            <a:r>
              <a:rPr sz="1200" b="1" i="0">
                <a:solidFill>
                  <a:srgbClr val="C75A4A"/>
                </a:solidFill>
                <a:latin typeface="Arial"/>
                <a:ea typeface="Arial"/>
                <a:cs typeface="Arial"/>
              </a:rPr>
              <a:t>AI + SAFETY</a:t>
            </a:r>
          </a:p>
        </p:txBody>
      </p:sp>
      <p:sp>
        <p:nvSpPr>
          <p:cNvPr id="14" name="Rectangle 13">
            <a:extLst>
              <a:ext uri="{FF2B5EF4-FFF2-40B4-BE49-F238E27FC236}">
                <a16:creationId xmlns:a16="http://schemas.microsoft.com/office/drawing/2014/main" id="{375DE279-AD4C-45C3-BE48-1613EC43F935}"/>
              </a:ext>
            </a:extLst>
          </p:cNvPr>
          <p:cNvSpPr>
            <a:spLocks noGrp="1"/>
          </p:cNvSpPr>
          <p:nvPr/>
        </p:nvSpPr>
        <p:spPr>
          <a:xfrm>
            <a:off x="5029200" y="2743200"/>
            <a:ext cx="1809750" cy="38100"/>
          </a:xfrm>
          <a:prstGeom prst="rect">
            <a:avLst/>
          </a:prstGeom>
          <a:solidFill>
            <a:srgbClr val="C75A4A"/>
          </a:solidFill>
          <a:ln w="0">
            <a:noFill/>
          </a:ln>
        </p:spPr>
        <p:txBody>
          <a:bodyPr/>
          <a:lstStyle/>
          <a:p>
            <a:endParaRPr lang="ar-LY"/>
          </a:p>
        </p:txBody>
      </p:sp>
      <p:sp>
        <p:nvSpPr>
          <p:cNvPr id="15" name="Rectangle 14">
            <a:extLst>
              <a:ext uri="{FF2B5EF4-FFF2-40B4-BE49-F238E27FC236}">
                <a16:creationId xmlns:a16="http://schemas.microsoft.com/office/drawing/2014/main" id="{838E5C2B-8394-4374-8CFB-A7BA3DFA8998}"/>
              </a:ext>
            </a:extLst>
          </p:cNvPr>
          <p:cNvSpPr>
            <a:spLocks noGrp="1"/>
          </p:cNvSpPr>
          <p:nvPr/>
        </p:nvSpPr>
        <p:spPr>
          <a:xfrm>
            <a:off x="50292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One Arabic-capable model</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Reviewed safety rules</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Explanations, not truth scores</a:t>
            </a:r>
          </a:p>
        </p:txBody>
      </p:sp>
      <p:sp>
        <p:nvSpPr>
          <p:cNvPr id="16" name="Rectangle 15">
            <a:extLst>
              <a:ext uri="{FF2B5EF4-FFF2-40B4-BE49-F238E27FC236}">
                <a16:creationId xmlns:a16="http://schemas.microsoft.com/office/drawing/2014/main" id="{BFC7AF88-58DC-4259-8B4B-9F48ABFEABB1}"/>
              </a:ext>
            </a:extLst>
          </p:cNvPr>
          <p:cNvSpPr>
            <a:spLocks noGrp="1"/>
          </p:cNvSpPr>
          <p:nvPr/>
        </p:nvSpPr>
        <p:spPr>
          <a:xfrm>
            <a:off x="7200900" y="2238375"/>
            <a:ext cx="1885950" cy="361950"/>
          </a:xfrm>
          <a:prstGeom prst="rect">
            <a:avLst/>
          </a:prstGeom>
          <a:noFill/>
          <a:ln w="0">
            <a:noFill/>
          </a:ln>
        </p:spPr>
        <p:txBody>
          <a:bodyPr anchor="ctr">
            <a:normAutofit/>
          </a:bodyPr>
          <a:lstStyle/>
          <a:p>
            <a:pPr algn="l">
              <a:defRPr sz="1200" b="1" i="0">
                <a:solidFill>
                  <a:srgbClr val="315B4C"/>
                </a:solidFill>
                <a:latin typeface="Arial"/>
                <a:ea typeface="Arial"/>
                <a:cs typeface="Arial"/>
              </a:defRPr>
            </a:pPr>
            <a:r>
              <a:rPr sz="1200" b="1" i="0">
                <a:solidFill>
                  <a:srgbClr val="315B4C"/>
                </a:solidFill>
                <a:latin typeface="Arial"/>
                <a:ea typeface="Arial"/>
                <a:cs typeface="Arial"/>
              </a:rPr>
              <a:t>DATA</a:t>
            </a:r>
          </a:p>
        </p:txBody>
      </p:sp>
      <p:sp>
        <p:nvSpPr>
          <p:cNvPr id="17" name="Rectangle 16">
            <a:extLst>
              <a:ext uri="{FF2B5EF4-FFF2-40B4-BE49-F238E27FC236}">
                <a16:creationId xmlns:a16="http://schemas.microsoft.com/office/drawing/2014/main" id="{B72FDE2B-BA6B-48F9-B4AC-B9757C0CEFA3}"/>
              </a:ext>
            </a:extLst>
          </p:cNvPr>
          <p:cNvSpPr>
            <a:spLocks noGrp="1"/>
          </p:cNvSpPr>
          <p:nvPr/>
        </p:nvSpPr>
        <p:spPr>
          <a:xfrm>
            <a:off x="7200900" y="2743200"/>
            <a:ext cx="1809750" cy="38100"/>
          </a:xfrm>
          <a:prstGeom prst="rect">
            <a:avLst/>
          </a:prstGeom>
          <a:solidFill>
            <a:srgbClr val="B7C78A"/>
          </a:solidFill>
          <a:ln w="0">
            <a:noFill/>
          </a:ln>
        </p:spPr>
        <p:txBody>
          <a:bodyPr/>
          <a:lstStyle/>
          <a:p>
            <a:endParaRPr lang="ar-LY"/>
          </a:p>
        </p:txBody>
      </p:sp>
      <p:sp>
        <p:nvSpPr>
          <p:cNvPr id="18" name="Rectangle 17">
            <a:extLst>
              <a:ext uri="{FF2B5EF4-FFF2-40B4-BE49-F238E27FC236}">
                <a16:creationId xmlns:a16="http://schemas.microsoft.com/office/drawing/2014/main" id="{EFEE2DE5-7DAA-4096-A836-910D899C7EF0}"/>
              </a:ext>
            </a:extLst>
          </p:cNvPr>
          <p:cNvSpPr>
            <a:spLocks noGrp="1"/>
          </p:cNvSpPr>
          <p:nvPr/>
        </p:nvSpPr>
        <p:spPr>
          <a:xfrm>
            <a:off x="72009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PostgreSQL for app data</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Reviewed sources, posts, and stories</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Mood tracking is opt-in</a:t>
            </a:r>
          </a:p>
        </p:txBody>
      </p:sp>
      <p:sp>
        <p:nvSpPr>
          <p:cNvPr id="19" name="Rectangle 18">
            <a:extLst>
              <a:ext uri="{FF2B5EF4-FFF2-40B4-BE49-F238E27FC236}">
                <a16:creationId xmlns:a16="http://schemas.microsoft.com/office/drawing/2014/main" id="{EAD00B0A-8D5A-4E56-837C-2081DFDB1A28}"/>
              </a:ext>
            </a:extLst>
          </p:cNvPr>
          <p:cNvSpPr>
            <a:spLocks noGrp="1"/>
          </p:cNvSpPr>
          <p:nvPr/>
        </p:nvSpPr>
        <p:spPr>
          <a:xfrm>
            <a:off x="9372600" y="2238375"/>
            <a:ext cx="1885950" cy="361950"/>
          </a:xfrm>
          <a:prstGeom prst="rect">
            <a:avLst/>
          </a:prstGeom>
          <a:noFill/>
          <a:ln w="0">
            <a:noFill/>
          </a:ln>
        </p:spPr>
        <p:txBody>
          <a:bodyPr anchor="ctr">
            <a:normAutofit/>
          </a:bodyPr>
          <a:lstStyle/>
          <a:p>
            <a:pPr algn="l">
              <a:defRPr sz="1200" b="1" i="0">
                <a:solidFill>
                  <a:srgbClr val="315B4C"/>
                </a:solidFill>
                <a:latin typeface="Arial"/>
                <a:ea typeface="Arial"/>
                <a:cs typeface="Arial"/>
              </a:defRPr>
            </a:pPr>
            <a:r>
              <a:rPr sz="1200" b="1" i="0">
                <a:solidFill>
                  <a:srgbClr val="315B4C"/>
                </a:solidFill>
                <a:latin typeface="Arial"/>
                <a:ea typeface="Arial"/>
                <a:cs typeface="Arial"/>
              </a:rPr>
              <a:t>DEPLOYMENT</a:t>
            </a:r>
          </a:p>
        </p:txBody>
      </p:sp>
      <p:sp>
        <p:nvSpPr>
          <p:cNvPr id="20" name="Rectangle 19">
            <a:extLst>
              <a:ext uri="{FF2B5EF4-FFF2-40B4-BE49-F238E27FC236}">
                <a16:creationId xmlns:a16="http://schemas.microsoft.com/office/drawing/2014/main" id="{1C7BB4FD-AE32-47B6-BF0B-3C553005AF08}"/>
              </a:ext>
            </a:extLst>
          </p:cNvPr>
          <p:cNvSpPr>
            <a:spLocks noGrp="1"/>
          </p:cNvSpPr>
          <p:nvPr/>
        </p:nvSpPr>
        <p:spPr>
          <a:xfrm>
            <a:off x="9372600" y="2743200"/>
            <a:ext cx="1809750" cy="38100"/>
          </a:xfrm>
          <a:prstGeom prst="rect">
            <a:avLst/>
          </a:prstGeom>
          <a:solidFill>
            <a:srgbClr val="B7C78A"/>
          </a:solidFill>
          <a:ln w="0">
            <a:noFill/>
          </a:ln>
        </p:spPr>
        <p:txBody>
          <a:bodyPr/>
          <a:lstStyle/>
          <a:p>
            <a:endParaRPr lang="ar-LY"/>
          </a:p>
        </p:txBody>
      </p:sp>
      <p:sp>
        <p:nvSpPr>
          <p:cNvPr id="21" name="Rectangle 20">
            <a:extLst>
              <a:ext uri="{FF2B5EF4-FFF2-40B4-BE49-F238E27FC236}">
                <a16:creationId xmlns:a16="http://schemas.microsoft.com/office/drawing/2014/main" id="{82AF5E24-E8D6-4C0B-840D-283EA016D682}"/>
              </a:ext>
            </a:extLst>
          </p:cNvPr>
          <p:cNvSpPr>
            <a:spLocks noGrp="1"/>
          </p:cNvSpPr>
          <p:nvPr/>
        </p:nvSpPr>
        <p:spPr>
          <a:xfrm>
            <a:off x="9372600" y="3048000"/>
            <a:ext cx="1885950" cy="1714500"/>
          </a:xfrm>
          <a:prstGeom prst="rect">
            <a:avLst/>
          </a:prstGeom>
          <a:noFill/>
          <a:ln w="0">
            <a:noFill/>
          </a:ln>
        </p:spPr>
        <p:txBody>
          <a:bodyPr anchor="ctr">
            <a:normAutofit/>
          </a:bodyPr>
          <a:lstStyle/>
          <a:p>
            <a:pPr algn="l">
              <a:defRPr sz="1350" b="0" i="0">
                <a:solidFill>
                  <a:srgbClr val="142B2E"/>
                </a:solidFill>
                <a:latin typeface="Arial"/>
                <a:ea typeface="Arial"/>
                <a:cs typeface="Arial"/>
              </a:defRPr>
            </a:pPr>
            <a:r>
              <a:rPr sz="1350" b="0" i="0">
                <a:solidFill>
                  <a:srgbClr val="142B2E"/>
                </a:solidFill>
                <a:latin typeface="Arial"/>
                <a:ea typeface="Arial"/>
                <a:cs typeface="Arial"/>
              </a:rPr>
              <a:t>One cloud provider</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CI/CD and monitoring</a:t>
            </a:r>
          </a:p>
          <a:p>
            <a:pPr algn="l">
              <a:defRPr sz="1350" b="0" i="0">
                <a:solidFill>
                  <a:srgbClr val="142B2E"/>
                </a:solidFill>
                <a:latin typeface="Arial"/>
                <a:ea typeface="Arial"/>
                <a:cs typeface="Arial"/>
              </a:defRPr>
            </a:pPr>
            <a:r>
              <a:rPr sz="1350" b="0" i="0">
                <a:solidFill>
                  <a:srgbClr val="142B2E"/>
                </a:solidFill>
                <a:latin typeface="Arial"/>
                <a:ea typeface="Arial"/>
                <a:cs typeface="Arial"/>
              </a:rPr>
              <a:t>Encryption and access controls</a:t>
            </a:r>
          </a:p>
        </p:txBody>
      </p:sp>
      <p:sp>
        <p:nvSpPr>
          <p:cNvPr id="22" name="Rectangle 21">
            <a:extLst>
              <a:ext uri="{FF2B5EF4-FFF2-40B4-BE49-F238E27FC236}">
                <a16:creationId xmlns:a16="http://schemas.microsoft.com/office/drawing/2014/main" id="{57EB6B2B-E828-41C7-88B9-6D25F34B42C7}"/>
              </a:ext>
            </a:extLst>
          </p:cNvPr>
          <p:cNvSpPr>
            <a:spLocks noGrp="1"/>
          </p:cNvSpPr>
          <p:nvPr/>
        </p:nvSpPr>
        <p:spPr>
          <a:xfrm>
            <a:off x="685800" y="5238750"/>
            <a:ext cx="10477500" cy="438150"/>
          </a:xfrm>
          <a:prstGeom prst="rect">
            <a:avLst/>
          </a:prstGeom>
          <a:noFill/>
          <a:ln w="0">
            <a:noFill/>
          </a:ln>
        </p:spPr>
        <p:txBody>
          <a:bodyPr anchor="ctr">
            <a:normAutofit/>
          </a:bodyPr>
          <a:lstStyle/>
          <a:p>
            <a:pPr algn="l">
              <a:defRPr sz="1425" b="1" i="0">
                <a:solidFill>
                  <a:srgbClr val="315B4C"/>
                </a:solidFill>
                <a:latin typeface="Arial"/>
                <a:ea typeface="Arial"/>
                <a:cs typeface="Arial"/>
              </a:defRPr>
            </a:pPr>
            <a:r>
              <a:rPr sz="1425" b="1" i="0">
                <a:solidFill>
                  <a:srgbClr val="315B4C"/>
                </a:solidFill>
                <a:latin typeface="Arial"/>
                <a:ea typeface="Arial"/>
                <a:cs typeface="Arial"/>
              </a:rPr>
              <a:t>Add Redis, vector search, WhatsApp, or model fine-tuning only when user needs and evidence justify them.</a:t>
            </a:r>
          </a:p>
        </p:txBody>
      </p:sp>
    </p:spTree>
    <p:extLst>
      <p:ext uri="{BB962C8B-B14F-4D97-AF65-F5344CB8AC3E}">
        <p14:creationId xmlns:p14="http://schemas.microsoft.com/office/powerpoint/2010/main" val="1455202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9BBBBA2-5B3C-4BAC-9FA4-7C4E885D8BA0}"/>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700514CC-4435-44A7-A8A3-AB754CA46262}"/>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Support the complete Tawazun project</a:t>
            </a:r>
          </a:p>
        </p:txBody>
      </p:sp>
      <p:sp>
        <p:nvSpPr>
          <p:cNvPr id="3" name="Rectangle 2">
            <a:extLst>
              <a:ext uri="{FF2B5EF4-FFF2-40B4-BE49-F238E27FC236}">
                <a16:creationId xmlns:a16="http://schemas.microsoft.com/office/drawing/2014/main" id="{C0A6B9C9-B6D0-4772-B872-FAF753E96722}"/>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A38828EA-97D9-4A84-A79D-0607F3E3A091}"/>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8C44ADAF-F952-4197-8046-9208B983F430}"/>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13</a:t>
            </a:r>
          </a:p>
        </p:txBody>
      </p:sp>
      <p:sp>
        <p:nvSpPr>
          <p:cNvPr id="6" name="Rectangle 5">
            <a:extLst>
              <a:ext uri="{FF2B5EF4-FFF2-40B4-BE49-F238E27FC236}">
                <a16:creationId xmlns:a16="http://schemas.microsoft.com/office/drawing/2014/main" id="{427DD25F-743C-4EE7-84BE-3BDB312D37E3}"/>
              </a:ext>
            </a:extLst>
          </p:cNvPr>
          <p:cNvSpPr>
            <a:spLocks noGrp="1"/>
          </p:cNvSpPr>
          <p:nvPr/>
        </p:nvSpPr>
        <p:spPr>
          <a:xfrm>
            <a:off x="685800" y="1638300"/>
            <a:ext cx="4714875" cy="514350"/>
          </a:xfrm>
          <a:prstGeom prst="rect">
            <a:avLst/>
          </a:prstGeom>
          <a:noFill/>
          <a:ln w="0">
            <a:noFill/>
          </a:ln>
        </p:spPr>
        <p:txBody>
          <a:bodyPr anchor="ctr">
            <a:normAutofit/>
          </a:bodyPr>
          <a:lstStyle/>
          <a:p>
            <a:pPr algn="l">
              <a:defRPr sz="2550" b="1" i="0">
                <a:solidFill>
                  <a:srgbClr val="315B4C"/>
                </a:solidFill>
                <a:latin typeface="Arial"/>
                <a:ea typeface="Arial"/>
                <a:cs typeface="Arial"/>
              </a:defRPr>
            </a:pPr>
            <a:r>
              <a:rPr sz="2550" b="1" i="0">
                <a:solidFill>
                  <a:srgbClr val="315B4C"/>
                </a:solidFill>
                <a:latin typeface="Arial"/>
                <a:ea typeface="Arial"/>
                <a:cs typeface="Arial"/>
              </a:rPr>
              <a:t>One integrated platform</a:t>
            </a:r>
          </a:p>
        </p:txBody>
      </p:sp>
      <p:sp>
        <p:nvSpPr>
          <p:cNvPr id="7" name="Rectangle 6">
            <a:extLst>
              <a:ext uri="{FF2B5EF4-FFF2-40B4-BE49-F238E27FC236}">
                <a16:creationId xmlns:a16="http://schemas.microsoft.com/office/drawing/2014/main" id="{AE80BA39-45BE-4A71-B747-3EEF41AAA7CA}"/>
              </a:ext>
            </a:extLst>
          </p:cNvPr>
          <p:cNvSpPr>
            <a:spLocks noGrp="1"/>
          </p:cNvSpPr>
          <p:nvPr/>
        </p:nvSpPr>
        <p:spPr>
          <a:xfrm>
            <a:off x="685800" y="2362200"/>
            <a:ext cx="4905375" cy="1581150"/>
          </a:xfrm>
          <a:prstGeom prst="rect">
            <a:avLst/>
          </a:prstGeom>
          <a:noFill/>
          <a:ln w="0">
            <a:noFill/>
          </a:ln>
        </p:spPr>
        <p:txBody>
          <a:bodyPr anchor="ctr">
            <a:normAutofit/>
          </a:bodyPr>
          <a:lstStyle/>
          <a:p>
            <a:pPr algn="l">
              <a:defRPr sz="2025" b="0" i="0">
                <a:solidFill>
                  <a:srgbClr val="142B2E"/>
                </a:solidFill>
                <a:latin typeface="Arial"/>
                <a:ea typeface="Arial"/>
                <a:cs typeface="Arial"/>
              </a:defRPr>
            </a:pPr>
            <a:r>
              <a:rPr sz="2025" b="0" i="0">
                <a:solidFill>
                  <a:srgbClr val="142B2E"/>
                </a:solidFill>
                <a:latin typeface="Arial"/>
                <a:ea typeface="Arial"/>
                <a:cs typeface="Arial"/>
              </a:rPr>
              <a:t>We are proposing a complete media wellbeing service that brings all seven features together for people in Libya.</a:t>
            </a:r>
          </a:p>
        </p:txBody>
      </p:sp>
      <p:sp>
        <p:nvSpPr>
          <p:cNvPr id="8" name="Rectangle 7">
            <a:extLst>
              <a:ext uri="{FF2B5EF4-FFF2-40B4-BE49-F238E27FC236}">
                <a16:creationId xmlns:a16="http://schemas.microsoft.com/office/drawing/2014/main" id="{8A840EED-F8F6-447A-9C03-A6CEE29BA9EE}"/>
              </a:ext>
            </a:extLst>
          </p:cNvPr>
          <p:cNvSpPr>
            <a:spLocks noGrp="1"/>
          </p:cNvSpPr>
          <p:nvPr/>
        </p:nvSpPr>
        <p:spPr>
          <a:xfrm>
            <a:off x="6238875" y="1666875"/>
            <a:ext cx="38100" cy="2667000"/>
          </a:xfrm>
          <a:prstGeom prst="rect">
            <a:avLst/>
          </a:prstGeom>
          <a:solidFill>
            <a:srgbClr val="C75A4A"/>
          </a:solidFill>
          <a:ln w="0">
            <a:noFill/>
          </a:ln>
        </p:spPr>
        <p:txBody>
          <a:bodyPr/>
          <a:lstStyle/>
          <a:p>
            <a:endParaRPr lang="ar-LY"/>
          </a:p>
        </p:txBody>
      </p:sp>
      <p:sp>
        <p:nvSpPr>
          <p:cNvPr id="9" name="Rectangle 8">
            <a:extLst>
              <a:ext uri="{FF2B5EF4-FFF2-40B4-BE49-F238E27FC236}">
                <a16:creationId xmlns:a16="http://schemas.microsoft.com/office/drawing/2014/main" id="{CB4BE027-F3B4-411D-ACA3-5352F398E438}"/>
              </a:ext>
            </a:extLst>
          </p:cNvPr>
          <p:cNvSpPr>
            <a:spLocks noGrp="1"/>
          </p:cNvSpPr>
          <p:nvPr/>
        </p:nvSpPr>
        <p:spPr>
          <a:xfrm>
            <a:off x="6762750" y="1657350"/>
            <a:ext cx="4191000" cy="323850"/>
          </a:xfrm>
          <a:prstGeom prst="rect">
            <a:avLst/>
          </a:prstGeom>
          <a:noFill/>
          <a:ln w="0">
            <a:noFill/>
          </a:ln>
        </p:spPr>
        <p:txBody>
          <a:bodyPr anchor="ctr">
            <a:normAutofit/>
          </a:bodyPr>
          <a:lstStyle/>
          <a:p>
            <a:pPr algn="l">
              <a:defRPr sz="1275" b="1" i="0">
                <a:solidFill>
                  <a:srgbClr val="C75A4A"/>
                </a:solidFill>
                <a:latin typeface="Arial"/>
                <a:ea typeface="Arial"/>
                <a:cs typeface="Arial"/>
              </a:defRPr>
            </a:pPr>
            <a:r>
              <a:rPr sz="1275" b="1" i="0">
                <a:solidFill>
                  <a:srgbClr val="C75A4A"/>
                </a:solidFill>
                <a:latin typeface="Arial"/>
                <a:ea typeface="Arial"/>
                <a:cs typeface="Arial"/>
              </a:rPr>
              <a:t>We are looking for</a:t>
            </a:r>
          </a:p>
        </p:txBody>
      </p:sp>
      <p:sp>
        <p:nvSpPr>
          <p:cNvPr id="10" name="Rectangle 9">
            <a:extLst>
              <a:ext uri="{FF2B5EF4-FFF2-40B4-BE49-F238E27FC236}">
                <a16:creationId xmlns:a16="http://schemas.microsoft.com/office/drawing/2014/main" id="{2860900B-9542-495A-8A77-D7C9BFABDAD6}"/>
              </a:ext>
            </a:extLst>
          </p:cNvPr>
          <p:cNvSpPr>
            <a:spLocks noGrp="1"/>
          </p:cNvSpPr>
          <p:nvPr/>
        </p:nvSpPr>
        <p:spPr>
          <a:xfrm>
            <a:off x="6762750" y="2228850"/>
            <a:ext cx="4286250" cy="1952625"/>
          </a:xfrm>
          <a:prstGeom prst="rect">
            <a:avLst/>
          </a:prstGeom>
          <a:noFill/>
          <a:ln w="0">
            <a:noFill/>
          </a:ln>
        </p:spPr>
        <p:txBody>
          <a:bodyPr anchor="ctr">
            <a:normAutofit/>
          </a:bodyPr>
          <a:lstStyle/>
          <a:p>
            <a:pPr algn="l">
              <a:defRPr sz="1875" b="1" i="0">
                <a:solidFill>
                  <a:srgbClr val="142B2E"/>
                </a:solidFill>
                <a:latin typeface="Arial"/>
                <a:ea typeface="Arial"/>
                <a:cs typeface="Arial"/>
              </a:defRPr>
            </a:pPr>
            <a:r>
              <a:rPr sz="1875" b="1" i="0">
                <a:solidFill>
                  <a:srgbClr val="142B2E"/>
                </a:solidFill>
                <a:latin typeface="Arial"/>
                <a:ea typeface="Arial"/>
                <a:cs typeface="Arial"/>
              </a:rPr>
              <a:t>Support for the full project</a:t>
            </a:r>
          </a:p>
          <a:p>
            <a:pPr algn="l">
              <a:defRPr sz="1875" b="1" i="0">
                <a:solidFill>
                  <a:srgbClr val="142B2E"/>
                </a:solidFill>
                <a:latin typeface="Arial"/>
                <a:ea typeface="Arial"/>
                <a:cs typeface="Arial"/>
              </a:defRPr>
            </a:pPr>
            <a:r>
              <a:rPr sz="1875" b="1" i="0">
                <a:solidFill>
                  <a:srgbClr val="142B2E"/>
                </a:solidFill>
                <a:latin typeface="Arial"/>
                <a:ea typeface="Arial"/>
                <a:cs typeface="Arial"/>
              </a:rPr>
              <a:t>Libyan users and community reviewers</a:t>
            </a:r>
          </a:p>
          <a:p>
            <a:pPr algn="l">
              <a:defRPr sz="1875" b="1" i="0">
                <a:solidFill>
                  <a:srgbClr val="142B2E"/>
                </a:solidFill>
                <a:latin typeface="Arial"/>
                <a:ea typeface="Arial"/>
                <a:cs typeface="Arial"/>
              </a:defRPr>
            </a:pPr>
            <a:r>
              <a:rPr sz="1875" b="1" i="0">
                <a:solidFill>
                  <a:srgbClr val="142B2E"/>
                </a:solidFill>
                <a:latin typeface="Arial"/>
                <a:ea typeface="Arial"/>
                <a:cs typeface="Arial"/>
              </a:rPr>
              <a:t>Media-literacy and mental-health expertise</a:t>
            </a:r>
          </a:p>
        </p:txBody>
      </p:sp>
      <p:sp>
        <p:nvSpPr>
          <p:cNvPr id="11" name="Rectangle 10">
            <a:extLst>
              <a:ext uri="{FF2B5EF4-FFF2-40B4-BE49-F238E27FC236}">
                <a16:creationId xmlns:a16="http://schemas.microsoft.com/office/drawing/2014/main" id="{C8EEF5BD-28F9-4180-BF84-DDBD98030938}"/>
              </a:ext>
            </a:extLst>
          </p:cNvPr>
          <p:cNvSpPr>
            <a:spLocks noGrp="1"/>
          </p:cNvSpPr>
          <p:nvPr/>
        </p:nvSpPr>
        <p:spPr>
          <a:xfrm>
            <a:off x="685800" y="4933950"/>
            <a:ext cx="10477500" cy="742950"/>
          </a:xfrm>
          <a:prstGeom prst="rect">
            <a:avLst/>
          </a:prstGeom>
          <a:noFill/>
          <a:ln w="0">
            <a:noFill/>
          </a:ln>
        </p:spPr>
        <p:txBody>
          <a:bodyPr anchor="ctr">
            <a:normAutofit fontScale="95000"/>
          </a:bodyPr>
          <a:lstStyle/>
          <a:p>
            <a:pPr algn="l">
              <a:defRPr sz="2250" b="1" i="0">
                <a:solidFill>
                  <a:srgbClr val="142B2E"/>
                </a:solidFill>
                <a:latin typeface="Arial"/>
                <a:ea typeface="Arial"/>
                <a:cs typeface="Arial"/>
              </a:defRPr>
            </a:pPr>
            <a:r>
              <a:rPr sz="2250" b="1" i="0">
                <a:solidFill>
                  <a:srgbClr val="142B2E"/>
                </a:solidFill>
                <a:latin typeface="Arial"/>
                <a:ea typeface="Arial"/>
                <a:cs typeface="Arial"/>
              </a:rPr>
              <a:t>Tawazun connects content understanding with emotional wellbeing, in a form designed for Libya.</a:t>
            </a:r>
          </a:p>
        </p:txBody>
      </p:sp>
    </p:spTree>
    <p:extLst>
      <p:ext uri="{BB962C8B-B14F-4D97-AF65-F5344CB8AC3E}">
        <p14:creationId xmlns:p14="http://schemas.microsoft.com/office/powerpoint/2010/main" val="114762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61F28D-375A-4816-99B4-628A8E49FA8C}"/>
              </a:ext>
            </a:extLst>
          </p:cNvPr>
          <p:cNvSpPr>
            <a:spLocks noGrp="1"/>
          </p:cNvSpPr>
          <p:nvPr/>
        </p:nvSpPr>
        <p:spPr>
          <a:xfrm>
            <a:off x="609600" y="228600"/>
            <a:ext cx="6191250" cy="228600"/>
          </a:xfrm>
          <a:prstGeom prst="rect">
            <a:avLst/>
          </a:prstGeom>
          <a:noFill/>
          <a:ln w="0">
            <a:noFill/>
          </a:ln>
        </p:spPr>
        <p:txBody>
          <a:bodyPr anchor="ctr">
            <a:normAutofit fontScale="92308"/>
          </a:bodyPr>
          <a:lstStyle/>
          <a:p>
            <a:pPr algn="l">
              <a:defRPr sz="975" b="1" i="0">
                <a:solidFill>
                  <a:srgbClr val="315B4C"/>
                </a:solidFill>
                <a:latin typeface="Arial"/>
                <a:ea typeface="Arial"/>
                <a:cs typeface="Arial"/>
              </a:defRPr>
            </a:pPr>
            <a:r>
              <a:rPr sz="975" b="1" i="0">
                <a:solidFill>
                  <a:srgbClr val="315B4C"/>
                </a:solidFill>
                <a:latin typeface="Arial"/>
                <a:ea typeface="Arial"/>
                <a:cs typeface="Arial"/>
              </a:rPr>
              <a:t>TAWAZUN  /  MEDIA WELLBEING</a:t>
            </a:r>
          </a:p>
        </p:txBody>
      </p:sp>
      <p:sp>
        <p:nvSpPr>
          <p:cNvPr id="2" name="Rectangle 1">
            <a:extLst>
              <a:ext uri="{FF2B5EF4-FFF2-40B4-BE49-F238E27FC236}">
                <a16:creationId xmlns:a16="http://schemas.microsoft.com/office/drawing/2014/main" id="{10FE7EC8-4C62-4AD3-8582-989B313ED80F}"/>
              </a:ext>
            </a:extLst>
          </p:cNvPr>
          <p:cNvSpPr>
            <a:spLocks noGrp="1"/>
          </p:cNvSpPr>
          <p:nvPr/>
        </p:nvSpPr>
        <p:spPr>
          <a:xfrm>
            <a:off x="609600" y="609600"/>
            <a:ext cx="10858500" cy="685800"/>
          </a:xfrm>
          <a:prstGeom prst="rect">
            <a:avLst/>
          </a:prstGeom>
          <a:noFill/>
          <a:ln w="0">
            <a:noFill/>
          </a:ln>
        </p:spPr>
        <p:txBody>
          <a:bodyPr anchor="ctr">
            <a:normAutofit/>
          </a:bodyPr>
          <a:lstStyle/>
          <a:p>
            <a:pPr algn="l">
              <a:defRPr sz="2850" b="1" i="0">
                <a:solidFill>
                  <a:srgbClr val="142B2E"/>
                </a:solidFill>
                <a:latin typeface="Arial"/>
                <a:ea typeface="Arial"/>
                <a:cs typeface="Arial"/>
              </a:defRPr>
            </a:pPr>
            <a:r>
              <a:rPr sz="2850" b="1" i="0">
                <a:solidFill>
                  <a:srgbClr val="142B2E"/>
                </a:solidFill>
                <a:latin typeface="Arial"/>
                <a:ea typeface="Arial"/>
                <a:cs typeface="Arial"/>
              </a:rPr>
              <a:t>Sources and evidence notes</a:t>
            </a:r>
          </a:p>
        </p:txBody>
      </p:sp>
      <p:sp>
        <p:nvSpPr>
          <p:cNvPr id="3" name="Rectangle 2">
            <a:extLst>
              <a:ext uri="{FF2B5EF4-FFF2-40B4-BE49-F238E27FC236}">
                <a16:creationId xmlns:a16="http://schemas.microsoft.com/office/drawing/2014/main" id="{3681B274-9D2B-4406-A391-E26871755FB8}"/>
              </a:ext>
            </a:extLst>
          </p:cNvPr>
          <p:cNvSpPr>
            <a:spLocks noGrp="1"/>
          </p:cNvSpPr>
          <p:nvPr/>
        </p:nvSpPr>
        <p:spPr>
          <a:xfrm>
            <a:off x="609600" y="6334125"/>
            <a:ext cx="10972800" cy="9525"/>
          </a:xfrm>
          <a:prstGeom prst="rect">
            <a:avLst/>
          </a:prstGeom>
          <a:solidFill>
            <a:srgbClr val="D8DED3"/>
          </a:solidFill>
          <a:ln w="0">
            <a:noFill/>
          </a:ln>
        </p:spPr>
        <p:txBody>
          <a:bodyPr/>
          <a:lstStyle/>
          <a:p>
            <a:endParaRPr lang="ar-LY"/>
          </a:p>
        </p:txBody>
      </p:sp>
      <p:sp>
        <p:nvSpPr>
          <p:cNvPr id="4" name="Rectangle 3">
            <a:extLst>
              <a:ext uri="{FF2B5EF4-FFF2-40B4-BE49-F238E27FC236}">
                <a16:creationId xmlns:a16="http://schemas.microsoft.com/office/drawing/2014/main" id="{CC1C3E79-F14F-4A86-91B4-13088E1C5230}"/>
              </a:ext>
            </a:extLst>
          </p:cNvPr>
          <p:cNvSpPr>
            <a:spLocks noGrp="1"/>
          </p:cNvSpPr>
          <p:nvPr/>
        </p:nvSpPr>
        <p:spPr>
          <a:xfrm>
            <a:off x="609600" y="6429375"/>
            <a:ext cx="6858000" cy="190500"/>
          </a:xfrm>
          <a:prstGeom prst="rect">
            <a:avLst/>
          </a:prstGeom>
          <a:noFill/>
          <a:ln w="0">
            <a:noFill/>
          </a:ln>
        </p:spPr>
        <p:txBody>
          <a:bodyPr anchor="ctr">
            <a:normAutofit fontScale="72222"/>
          </a:bodyPr>
          <a:lstStyle/>
          <a:p>
            <a:pPr algn="l">
              <a:defRPr sz="900" b="1" i="0">
                <a:solidFill>
                  <a:srgbClr val="677572"/>
                </a:solidFill>
                <a:latin typeface="Arial"/>
                <a:ea typeface="Arial"/>
                <a:cs typeface="Arial"/>
              </a:defRPr>
            </a:pPr>
            <a:r>
              <a:rPr sz="900" b="1" i="0">
                <a:solidFill>
                  <a:srgbClr val="677572"/>
                </a:solidFill>
                <a:latin typeface="Arial"/>
                <a:ea typeface="Arial"/>
                <a:cs typeface="Arial"/>
              </a:rPr>
              <a:t>LIBYA  •  AI MEDIA WELLBEING PLATFORM</a:t>
            </a:r>
          </a:p>
        </p:txBody>
      </p:sp>
      <p:sp>
        <p:nvSpPr>
          <p:cNvPr id="5" name="Rectangle 4">
            <a:extLst>
              <a:ext uri="{FF2B5EF4-FFF2-40B4-BE49-F238E27FC236}">
                <a16:creationId xmlns:a16="http://schemas.microsoft.com/office/drawing/2014/main" id="{456BF47A-FB03-4866-9BC9-075C80B4AACB}"/>
              </a:ext>
            </a:extLst>
          </p:cNvPr>
          <p:cNvSpPr>
            <a:spLocks noGrp="1"/>
          </p:cNvSpPr>
          <p:nvPr/>
        </p:nvSpPr>
        <p:spPr>
          <a:xfrm>
            <a:off x="10953750" y="6429375"/>
            <a:ext cx="628650" cy="190500"/>
          </a:xfrm>
          <a:prstGeom prst="rect">
            <a:avLst/>
          </a:prstGeom>
          <a:noFill/>
          <a:ln w="0">
            <a:noFill/>
          </a:ln>
        </p:spPr>
        <p:txBody>
          <a:bodyPr anchor="ctr">
            <a:normAutofit fontScale="72222"/>
          </a:bodyPr>
          <a:lstStyle/>
          <a:p>
            <a:pPr algn="r">
              <a:defRPr sz="900" b="1" i="0">
                <a:solidFill>
                  <a:srgbClr val="677572"/>
                </a:solidFill>
                <a:latin typeface="Arial"/>
                <a:ea typeface="Arial"/>
                <a:cs typeface="Arial"/>
              </a:defRPr>
            </a:pPr>
            <a:r>
              <a:rPr sz="900" b="1" i="0">
                <a:solidFill>
                  <a:srgbClr val="677572"/>
                </a:solidFill>
                <a:latin typeface="Arial"/>
                <a:ea typeface="Arial"/>
                <a:cs typeface="Arial"/>
              </a:rPr>
              <a:t>14</a:t>
            </a:r>
          </a:p>
        </p:txBody>
      </p:sp>
      <p:sp>
        <p:nvSpPr>
          <p:cNvPr id="6" name="Rectangle 5">
            <a:extLst>
              <a:ext uri="{FF2B5EF4-FFF2-40B4-BE49-F238E27FC236}">
                <a16:creationId xmlns:a16="http://schemas.microsoft.com/office/drawing/2014/main" id="{E8C846BC-B3FB-455D-AC18-5E4B224C49FD}"/>
              </a:ext>
            </a:extLst>
          </p:cNvPr>
          <p:cNvSpPr>
            <a:spLocks noGrp="1"/>
          </p:cNvSpPr>
          <p:nvPr/>
        </p:nvSpPr>
        <p:spPr>
          <a:xfrm>
            <a:off x="685800" y="1476375"/>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DIGITAL ACCESS</a:t>
            </a:r>
          </a:p>
        </p:txBody>
      </p:sp>
      <p:sp>
        <p:nvSpPr>
          <p:cNvPr id="7" name="Rectangle 6">
            <a:extLst>
              <a:ext uri="{FF2B5EF4-FFF2-40B4-BE49-F238E27FC236}">
                <a16:creationId xmlns:a16="http://schemas.microsoft.com/office/drawing/2014/main" id="{4320D7C1-E51C-4515-AF08-E51E1B49FBF3}"/>
              </a:ext>
            </a:extLst>
          </p:cNvPr>
          <p:cNvSpPr>
            <a:spLocks noGrp="1"/>
          </p:cNvSpPr>
          <p:nvPr/>
        </p:nvSpPr>
        <p:spPr>
          <a:xfrm>
            <a:off x="685800" y="1781175"/>
            <a:ext cx="10477500" cy="419100"/>
          </a:xfrm>
          <a:prstGeom prst="rect">
            <a:avLst/>
          </a:prstGeom>
          <a:noFill/>
          <a:ln w="0">
            <a:noFill/>
          </a:ln>
        </p:spPr>
        <p:txBody>
          <a:bodyPr anchor="ctr">
            <a:normAutofit/>
          </a:bodyPr>
          <a:lstStyle/>
          <a:p>
            <a:pPr algn="l">
              <a:defRPr sz="1275" b="0" i="0">
                <a:solidFill>
                  <a:srgbClr val="142B2E"/>
                </a:solidFill>
                <a:latin typeface="Arial"/>
                <a:ea typeface="Arial"/>
                <a:cs typeface="Arial"/>
              </a:defRPr>
            </a:pPr>
            <a:r>
              <a:rPr sz="1275" b="0" i="0">
                <a:solidFill>
                  <a:srgbClr val="142B2E"/>
                </a:solidFill>
                <a:latin typeface="Arial"/>
                <a:ea typeface="Arial"/>
                <a:cs typeface="Arial"/>
              </a:rPr>
              <a:t>DataReportal, Digital 2026: Libya (published Nov 2025; underlying internet figures late 2025).</a:t>
            </a:r>
          </a:p>
        </p:txBody>
      </p:sp>
      <p:sp>
        <p:nvSpPr>
          <p:cNvPr id="8" name="Rectangle 7">
            <a:extLst>
              <a:ext uri="{FF2B5EF4-FFF2-40B4-BE49-F238E27FC236}">
                <a16:creationId xmlns:a16="http://schemas.microsoft.com/office/drawing/2014/main" id="{D9EEB26E-730E-47FE-A93A-129CE791E8DC}"/>
              </a:ext>
            </a:extLst>
          </p:cNvPr>
          <p:cNvSpPr>
            <a:spLocks noGrp="1"/>
          </p:cNvSpPr>
          <p:nvPr/>
        </p:nvSpPr>
        <p:spPr>
          <a:xfrm>
            <a:off x="685800" y="2219325"/>
            <a:ext cx="10572750" cy="238125"/>
          </a:xfrm>
          <a:prstGeom prst="rect">
            <a:avLst/>
          </a:prstGeom>
          <a:noFill/>
          <a:ln w="0">
            <a:noFill/>
          </a:ln>
        </p:spPr>
        <p:txBody>
          <a:bodyPr anchor="ctr">
            <a:normAutofit fontScale="98718"/>
          </a:bodyPr>
          <a:lstStyle/>
          <a:p>
            <a:pPr algn="l">
              <a:defRPr sz="975" b="0" i="0">
                <a:solidFill>
                  <a:srgbClr val="315B4C"/>
                </a:solidFill>
                <a:latin typeface="Arial"/>
                <a:ea typeface="Arial"/>
                <a:cs typeface="Arial"/>
              </a:defRPr>
            </a:pPr>
            <a:r>
              <a:rPr sz="975" b="0" i="0">
                <a:solidFill>
                  <a:srgbClr val="315B4C"/>
                </a:solidFill>
                <a:latin typeface="Arial"/>
                <a:ea typeface="Arial"/>
                <a:cs typeface="Arial"/>
              </a:rPr>
              <a:t>https://datareportal.com/reports/digital-2026-libya</a:t>
            </a:r>
          </a:p>
        </p:txBody>
      </p:sp>
      <p:sp>
        <p:nvSpPr>
          <p:cNvPr id="9" name="Rectangle 8">
            <a:extLst>
              <a:ext uri="{FF2B5EF4-FFF2-40B4-BE49-F238E27FC236}">
                <a16:creationId xmlns:a16="http://schemas.microsoft.com/office/drawing/2014/main" id="{BF69BC04-BA22-4703-B11A-1D22A1F59493}"/>
              </a:ext>
            </a:extLst>
          </p:cNvPr>
          <p:cNvSpPr>
            <a:spLocks noGrp="1"/>
          </p:cNvSpPr>
          <p:nvPr/>
        </p:nvSpPr>
        <p:spPr>
          <a:xfrm>
            <a:off x="685800" y="2638425"/>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MISINFORMATION CONTEXT</a:t>
            </a:r>
          </a:p>
        </p:txBody>
      </p:sp>
      <p:sp>
        <p:nvSpPr>
          <p:cNvPr id="10" name="Rectangle 9">
            <a:extLst>
              <a:ext uri="{FF2B5EF4-FFF2-40B4-BE49-F238E27FC236}">
                <a16:creationId xmlns:a16="http://schemas.microsoft.com/office/drawing/2014/main" id="{EEFB6AFF-6ECB-482E-9993-395CF93589F8}"/>
              </a:ext>
            </a:extLst>
          </p:cNvPr>
          <p:cNvSpPr>
            <a:spLocks noGrp="1"/>
          </p:cNvSpPr>
          <p:nvPr/>
        </p:nvSpPr>
        <p:spPr>
          <a:xfrm>
            <a:off x="685800" y="2943225"/>
            <a:ext cx="10477500" cy="419100"/>
          </a:xfrm>
          <a:prstGeom prst="rect">
            <a:avLst/>
          </a:prstGeom>
          <a:noFill/>
          <a:ln w="0">
            <a:noFill/>
          </a:ln>
        </p:spPr>
        <p:txBody>
          <a:bodyPr anchor="ctr">
            <a:normAutofit/>
          </a:bodyPr>
          <a:lstStyle/>
          <a:p>
            <a:pPr algn="l">
              <a:defRPr sz="1275" b="0" i="0">
                <a:solidFill>
                  <a:srgbClr val="142B2E"/>
                </a:solidFill>
                <a:latin typeface="Arial"/>
                <a:ea typeface="Arial"/>
                <a:cs typeface="Arial"/>
              </a:defRPr>
            </a:pPr>
            <a:r>
              <a:rPr sz="1275" b="0" i="0">
                <a:solidFill>
                  <a:srgbClr val="142B2E"/>
                </a:solidFill>
                <a:latin typeface="Arial"/>
                <a:ea typeface="Arial"/>
                <a:cs typeface="Arial"/>
              </a:rPr>
              <a:t>United Nations in Libya, statement on misinformation and inflammatory rhetoric, 1 June 2026.</a:t>
            </a:r>
          </a:p>
        </p:txBody>
      </p:sp>
      <p:sp>
        <p:nvSpPr>
          <p:cNvPr id="11" name="Rectangle 10">
            <a:extLst>
              <a:ext uri="{FF2B5EF4-FFF2-40B4-BE49-F238E27FC236}">
                <a16:creationId xmlns:a16="http://schemas.microsoft.com/office/drawing/2014/main" id="{1A0C9E5A-CC2B-4B65-8928-11E070E48E0C}"/>
              </a:ext>
            </a:extLst>
          </p:cNvPr>
          <p:cNvSpPr>
            <a:spLocks noGrp="1"/>
          </p:cNvSpPr>
          <p:nvPr/>
        </p:nvSpPr>
        <p:spPr>
          <a:xfrm>
            <a:off x="685800" y="3381375"/>
            <a:ext cx="10572750" cy="238125"/>
          </a:xfrm>
          <a:prstGeom prst="rect">
            <a:avLst/>
          </a:prstGeom>
          <a:noFill/>
          <a:ln w="0">
            <a:noFill/>
          </a:ln>
        </p:spPr>
        <p:txBody>
          <a:bodyPr anchor="ctr">
            <a:normAutofit fontScale="98718"/>
          </a:bodyPr>
          <a:lstStyle/>
          <a:p>
            <a:pPr algn="l">
              <a:defRPr sz="975" b="0" i="0">
                <a:solidFill>
                  <a:srgbClr val="315B4C"/>
                </a:solidFill>
                <a:latin typeface="Arial"/>
                <a:ea typeface="Arial"/>
                <a:cs typeface="Arial"/>
              </a:defRPr>
            </a:pPr>
            <a:r>
              <a:rPr sz="975" b="0" i="0">
                <a:solidFill>
                  <a:srgbClr val="315B4C"/>
                </a:solidFill>
                <a:latin typeface="Arial"/>
                <a:ea typeface="Arial"/>
                <a:cs typeface="Arial"/>
              </a:rPr>
              <a:t>https://libya.un.org/en/316507-un-libya-expresses-concern-over-spread-misinformation-and-inflammatory-rhetoric</a:t>
            </a:r>
          </a:p>
        </p:txBody>
      </p:sp>
      <p:sp>
        <p:nvSpPr>
          <p:cNvPr id="12" name="Rectangle 11">
            <a:extLst>
              <a:ext uri="{FF2B5EF4-FFF2-40B4-BE49-F238E27FC236}">
                <a16:creationId xmlns:a16="http://schemas.microsoft.com/office/drawing/2014/main" id="{C75B2D95-4071-4E2A-A049-C7E074FFDBE0}"/>
              </a:ext>
            </a:extLst>
          </p:cNvPr>
          <p:cNvSpPr>
            <a:spLocks noGrp="1"/>
          </p:cNvSpPr>
          <p:nvPr/>
        </p:nvSpPr>
        <p:spPr>
          <a:xfrm>
            <a:off x="685800" y="3800475"/>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MENTAL-HEALTH CONTEXT</a:t>
            </a:r>
          </a:p>
        </p:txBody>
      </p:sp>
      <p:sp>
        <p:nvSpPr>
          <p:cNvPr id="13" name="Rectangle 12">
            <a:extLst>
              <a:ext uri="{FF2B5EF4-FFF2-40B4-BE49-F238E27FC236}">
                <a16:creationId xmlns:a16="http://schemas.microsoft.com/office/drawing/2014/main" id="{ED5C7DC2-B1C7-4E8C-9CF9-3260C242AA30}"/>
              </a:ext>
            </a:extLst>
          </p:cNvPr>
          <p:cNvSpPr>
            <a:spLocks noGrp="1"/>
          </p:cNvSpPr>
          <p:nvPr/>
        </p:nvSpPr>
        <p:spPr>
          <a:xfrm>
            <a:off x="685800" y="4105275"/>
            <a:ext cx="10477500" cy="419100"/>
          </a:xfrm>
          <a:prstGeom prst="rect">
            <a:avLst/>
          </a:prstGeom>
          <a:noFill/>
          <a:ln w="0">
            <a:noFill/>
          </a:ln>
        </p:spPr>
        <p:txBody>
          <a:bodyPr anchor="ctr">
            <a:normAutofit fontScale="87232"/>
          </a:bodyPr>
          <a:lstStyle/>
          <a:p>
            <a:pPr algn="l">
              <a:defRPr sz="1275" b="0" i="0">
                <a:solidFill>
                  <a:srgbClr val="142B2E"/>
                </a:solidFill>
                <a:latin typeface="Arial"/>
                <a:ea typeface="Arial"/>
                <a:cs typeface="Arial"/>
              </a:defRPr>
            </a:pPr>
            <a:r>
              <a:rPr sz="1275" b="0" i="0">
                <a:solidFill>
                  <a:srgbClr val="142B2E"/>
                </a:solidFill>
                <a:latin typeface="Arial"/>
                <a:ea typeface="Arial"/>
                <a:cs typeface="Arial"/>
              </a:rPr>
              <a:t>WHO EMRO, Mental health and psychosocial support (2024 report). The 22.1% figure refers to conflict-affected populations, not a Libya-specific prevalence survey.</a:t>
            </a:r>
          </a:p>
        </p:txBody>
      </p:sp>
      <p:sp>
        <p:nvSpPr>
          <p:cNvPr id="14" name="Rectangle 13">
            <a:extLst>
              <a:ext uri="{FF2B5EF4-FFF2-40B4-BE49-F238E27FC236}">
                <a16:creationId xmlns:a16="http://schemas.microsoft.com/office/drawing/2014/main" id="{F4EAC8BF-21C2-4D16-BD61-BFD3AB9B30F2}"/>
              </a:ext>
            </a:extLst>
          </p:cNvPr>
          <p:cNvSpPr>
            <a:spLocks noGrp="1"/>
          </p:cNvSpPr>
          <p:nvPr/>
        </p:nvSpPr>
        <p:spPr>
          <a:xfrm>
            <a:off x="685800" y="4543425"/>
            <a:ext cx="10572750" cy="238125"/>
          </a:xfrm>
          <a:prstGeom prst="rect">
            <a:avLst/>
          </a:prstGeom>
          <a:noFill/>
          <a:ln w="0">
            <a:noFill/>
          </a:ln>
        </p:spPr>
        <p:txBody>
          <a:bodyPr anchor="ctr">
            <a:normAutofit fontScale="98718"/>
          </a:bodyPr>
          <a:lstStyle/>
          <a:p>
            <a:pPr algn="l">
              <a:defRPr sz="975" b="0" i="0">
                <a:solidFill>
                  <a:srgbClr val="315B4C"/>
                </a:solidFill>
                <a:latin typeface="Arial"/>
                <a:ea typeface="Arial"/>
                <a:cs typeface="Arial"/>
              </a:defRPr>
            </a:pPr>
            <a:r>
              <a:rPr sz="975" b="0" i="0">
                <a:solidFill>
                  <a:srgbClr val="315B4C"/>
                </a:solidFill>
                <a:latin typeface="Arial"/>
                <a:ea typeface="Arial"/>
                <a:cs typeface="Arial"/>
              </a:rPr>
              <a:t>https://applications.emro.who.int/docs/9789292741716-eng.pdf</a:t>
            </a:r>
          </a:p>
        </p:txBody>
      </p:sp>
      <p:sp>
        <p:nvSpPr>
          <p:cNvPr id="15" name="Rectangle 14">
            <a:extLst>
              <a:ext uri="{FF2B5EF4-FFF2-40B4-BE49-F238E27FC236}">
                <a16:creationId xmlns:a16="http://schemas.microsoft.com/office/drawing/2014/main" id="{138574A4-2D30-495A-8C28-3AFCD7DD5930}"/>
              </a:ext>
            </a:extLst>
          </p:cNvPr>
          <p:cNvSpPr>
            <a:spLocks noGrp="1"/>
          </p:cNvSpPr>
          <p:nvPr/>
        </p:nvSpPr>
        <p:spPr>
          <a:xfrm>
            <a:off x="685800" y="4962525"/>
            <a:ext cx="2381250" cy="266700"/>
          </a:xfrm>
          <a:prstGeom prst="rect">
            <a:avLst/>
          </a:prstGeom>
          <a:noFill/>
          <a:ln w="0">
            <a:noFill/>
          </a:ln>
        </p:spPr>
        <p:txBody>
          <a:bodyPr anchor="ctr">
            <a:normAutofit/>
          </a:bodyPr>
          <a:lstStyle/>
          <a:p>
            <a:pPr algn="l">
              <a:defRPr sz="1050" b="1" i="0">
                <a:solidFill>
                  <a:srgbClr val="C75A4A"/>
                </a:solidFill>
                <a:latin typeface="Arial"/>
                <a:ea typeface="Arial"/>
                <a:cs typeface="Arial"/>
              </a:defRPr>
            </a:pPr>
            <a:r>
              <a:rPr sz="1050" b="1" i="0">
                <a:solidFill>
                  <a:srgbClr val="C75A4A"/>
                </a:solidFill>
                <a:latin typeface="Arial"/>
                <a:ea typeface="Arial"/>
                <a:cs typeface="Arial"/>
              </a:rPr>
              <a:t>NATIONAL DATA LIMITATION</a:t>
            </a:r>
          </a:p>
        </p:txBody>
      </p:sp>
      <p:sp>
        <p:nvSpPr>
          <p:cNvPr id="16" name="Rectangle 15">
            <a:extLst>
              <a:ext uri="{FF2B5EF4-FFF2-40B4-BE49-F238E27FC236}">
                <a16:creationId xmlns:a16="http://schemas.microsoft.com/office/drawing/2014/main" id="{0CA0C0DA-817B-42A0-B194-FFE5DCC287CE}"/>
              </a:ext>
            </a:extLst>
          </p:cNvPr>
          <p:cNvSpPr>
            <a:spLocks noGrp="1"/>
          </p:cNvSpPr>
          <p:nvPr/>
        </p:nvSpPr>
        <p:spPr>
          <a:xfrm>
            <a:off x="685800" y="5267325"/>
            <a:ext cx="10477500" cy="419100"/>
          </a:xfrm>
          <a:prstGeom prst="rect">
            <a:avLst/>
          </a:prstGeom>
          <a:noFill/>
          <a:ln w="0">
            <a:noFill/>
          </a:ln>
        </p:spPr>
        <p:txBody>
          <a:bodyPr anchor="ctr">
            <a:normAutofit fontScale="94315"/>
          </a:bodyPr>
          <a:lstStyle/>
          <a:p>
            <a:pPr algn="l">
              <a:defRPr sz="1275" b="0" i="0">
                <a:solidFill>
                  <a:srgbClr val="142B2E"/>
                </a:solidFill>
                <a:latin typeface="Arial"/>
                <a:ea typeface="Arial"/>
                <a:cs typeface="Arial"/>
              </a:defRPr>
            </a:pPr>
            <a:r>
              <a:rPr sz="1275" b="0" i="0">
                <a:solidFill>
                  <a:srgbClr val="142B2E"/>
                </a:solidFill>
                <a:latin typeface="Arial"/>
                <a:ea typeface="Arial"/>
                <a:cs typeface="Arial"/>
              </a:rPr>
              <a:t>WHO Libya country profile: public mental-health research is limited; mental-health data are not routinely collected in national health information systems.</a:t>
            </a:r>
          </a:p>
        </p:txBody>
      </p:sp>
      <p:sp>
        <p:nvSpPr>
          <p:cNvPr id="17" name="Rectangle 16">
            <a:extLst>
              <a:ext uri="{FF2B5EF4-FFF2-40B4-BE49-F238E27FC236}">
                <a16:creationId xmlns:a16="http://schemas.microsoft.com/office/drawing/2014/main" id="{0972E2D1-EB11-4904-81CA-7EEC20736F4B}"/>
              </a:ext>
            </a:extLst>
          </p:cNvPr>
          <p:cNvSpPr>
            <a:spLocks noGrp="1"/>
          </p:cNvSpPr>
          <p:nvPr/>
        </p:nvSpPr>
        <p:spPr>
          <a:xfrm>
            <a:off x="685800" y="5705475"/>
            <a:ext cx="10572750" cy="238125"/>
          </a:xfrm>
          <a:prstGeom prst="rect">
            <a:avLst/>
          </a:prstGeom>
          <a:noFill/>
          <a:ln w="0">
            <a:noFill/>
          </a:ln>
        </p:spPr>
        <p:txBody>
          <a:bodyPr anchor="ctr">
            <a:normAutofit fontScale="98718"/>
          </a:bodyPr>
          <a:lstStyle/>
          <a:p>
            <a:pPr algn="l">
              <a:defRPr sz="975" b="0" i="0">
                <a:solidFill>
                  <a:srgbClr val="315B4C"/>
                </a:solidFill>
                <a:latin typeface="Arial"/>
                <a:ea typeface="Arial"/>
                <a:cs typeface="Arial"/>
              </a:defRPr>
            </a:pPr>
            <a:r>
              <a:rPr sz="975" b="0" i="0">
                <a:solidFill>
                  <a:srgbClr val="315B4C"/>
                </a:solidFill>
                <a:latin typeface="Arial"/>
                <a:ea typeface="Arial"/>
                <a:cs typeface="Arial"/>
              </a:rPr>
              <a:t>https://www.who.int/about/accountability/results/who-results-report-2024-2025/region-EMRO/2024/libya</a:t>
            </a:r>
          </a:p>
        </p:txBody>
      </p:sp>
    </p:spTree>
    <p:extLst>
      <p:ext uri="{BB962C8B-B14F-4D97-AF65-F5344CB8AC3E}">
        <p14:creationId xmlns:p14="http://schemas.microsoft.com/office/powerpoint/2010/main" val="20714761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1999</Words>
  <Application>Microsoft Office PowerPoint</Application>
  <DocSecurity>0</DocSecurity>
  <PresentationFormat>Widescreen</PresentationFormat>
  <Paragraphs>209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Suliman Hashem</cp:lastModifiedBy>
  <cp:revision>1</cp:revision>
  <dcterms:created xsi:type="dcterms:W3CDTF">2026-10-07T22:18:14Z</dcterms:created>
  <dcterms:modified xsi:type="dcterms:W3CDTF">2026-10-07T22:21:49Z</dcterms:modified>
</cp:coreProperties>
</file>